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206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863C5"/>
                </a:solidFill>
                <a:latin typeface="Open Sans"/>
              </a:rPr>
              <a:t>PRODUCT PROPOSAL ·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>
                <a:solidFill>
                  <a:srgbClr val="0F172A"/>
                </a:solidFill>
                <a:latin typeface="Open Sans"/>
              </a:rPr>
              <a:t>GetMyMoney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334155"/>
                </a:solidFill>
                <a:latin typeface="Open Sans"/>
              </a:rPr>
              <a:t>Find money the state owes our members.
Automatically.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3276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en Sans"/>
              </a:rPr>
              <a:t>Ahmed Yassine  ·  Consumer Direct, Inc.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IS UNCLAIMED PROPERTY?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Open Sans"/>
              </a:rPr>
              <a:t>Money owed to you that the company holding it lost track 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30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Open Sans"/>
              </a:rPr>
              <a:t>When a bank, employer, insurer, or utility can't reach the owner of an account or balance for a set period (typically 1–3 years), state law requires them to turn it over to the state. It sits there — in the owner's name — until someone claims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COMMON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2743200" cy="7315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Bank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Dormant savings, checking, CDs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402336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4023360"/>
            <a:ext cx="2743200" cy="7315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4224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Uncashed paychecks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59028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Final wages, commissions, bonuses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402336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4023360"/>
            <a:ext cx="2743200" cy="7315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4224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Refunds &amp; deposits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59028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Utility, rent, insurance, retail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402336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4023360"/>
            <a:ext cx="2743200" cy="7315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42245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Investments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459028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Stock dividends, matured bonds, IRAs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04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Nationwide: $70B+ sitting with state treasurers · ~33M Americans have property waiting (NAUPA, FY2024)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Open Sans"/>
              </a:rPr>
              <a:t>GetMyMoney is a free SmartCredit feature
that finds unclaimed money owed to our 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WHAT THE MEMBER EXPERIENCES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3756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844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564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We notify them inside SmartCredit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"Possible match found. The state may be holding property in your name."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544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165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They review the possible 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548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Holder, type, amount range — laid out as cards. The state determines eligibility.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5780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5046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766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We hand them off to the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7150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Deep-link to the official state claim portal with step-by-step instructions for filing.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WHAT IT FEELS LIKE · THE PROTOTYPE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Open Sans"/>
              </a:rPr>
              <a:t>1 potential match — about $842.40 reported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0273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1 claimable record that may match your name. The state determines eligibility.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530352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4133087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2863C5"/>
                </a:solidFill>
                <a:latin typeface="Open Sans"/>
              </a:rPr>
              <a:t>$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0782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Open Sans"/>
              </a:rPr>
              <a:t>Credit Balance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411480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B352"/>
                </a:solidFill>
                <a:latin typeface="Open Sans"/>
              </a:rPr>
              <a:t>✦ 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36168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Citibank N.A.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709159"/>
            <a:ext cx="960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Open Sans"/>
              </a:rPr>
              <a:t>Reported 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690872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Open Sans"/>
              </a:rPr>
              <a:t>Dunshea Williams 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956048"/>
            <a:ext cx="960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Open Sans"/>
              </a:rPr>
              <a:t>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93776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059669"/>
                </a:solidFill>
                <a:latin typeface="Open Sans"/>
              </a:rPr>
              <a:t>California State Controller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078224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C4C0B"/>
                </a:solidFill>
                <a:latin typeface="Open Sans"/>
              </a:rPr>
              <a:t>$842.40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443983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Open Sans"/>
              </a:rPr>
              <a:t>ESTIMATED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61320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Claim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5248656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Not me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85216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Open Sans"/>
              </a:rPr>
              <a:t>Not affiliated with or endorsed by any government agency. We never hold your funds and never charge a finder's fee. The state determines eligibility — claiming directly with the state is always 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THE PII MATCHING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Open Sans"/>
              </a:rPr>
              <a:t>Same engine members already trust. New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SmartCredit's PII matching engine already auto-scans data brokers, businesses, and government sites for member info. Members get an alert and choose Remove or Keep. GetMyMoney points the same engine at state unclaimed-property records — same auto-scan, same alert, same trust envelope.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51206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5120640" cy="1645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5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TODAY · DATA-BROKER SCRUB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0712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Open Sans"/>
              </a:rPr>
              <a:t>Find data brokers exposing the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114800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SmartCredit member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439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443984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Fuzzy + phonetic name match (PII)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773168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Hundreds of broker, business, gov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02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102352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Auto-scan → alert → member chooses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315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Member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431536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Remove  /  Keep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715000" y="4069080"/>
            <a:ext cx="365759" cy="548640"/>
          </a:xfrm>
          <a:prstGeom prst="rightArrow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59" y="46634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4C0B"/>
                </a:solidFill>
                <a:latin typeface="Open Sans"/>
              </a:rPr>
              <a:t>same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697480"/>
            <a:ext cx="51206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286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97480"/>
            <a:ext cx="5120640" cy="1645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475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TOMORROW · GetMyMoney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10712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Open Sans"/>
              </a:rPr>
              <a:t>Find unclaimed money owed to the member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114800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Same SmartCredit member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439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443984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Same PII matcher — no rebuild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73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Corpus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4773168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State unclaimed-property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02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Pattern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5102352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Auto-scan → alert → member chooses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315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Member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431536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Claim  /  Not 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80760"/>
            <a:ext cx="11247120" cy="45720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14476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GetMyMoney is not a new product surface — it's a different outcome from the same security envelope members already opted into.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SERVICEABLE MEMBER BASE · BULK-DATA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We can service ~74% of our member base — bulk owner data is obtainable in 22 states.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Open Sans"/>
              </a:rPr>
              <a:t>Tile size = % of total members. Every jurisdiction verified against primary sources (Jun 2026). CA is live today; some YES states are fee- or registration-gated (GA CDR; NV ≥$5k; MI ≥$10k records only).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83566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59669"/>
                </a:solidFill>
                <a:latin typeface="Open Sans"/>
              </a:rPr>
              <a:t>YES — bulk data obtainable · 22 states · 74.3% of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3538" y="2212848"/>
            <a:ext cx="278078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Open Sans"/>
              </a:rPr>
              <a:t>NO — 34 jurisdictions · 25.7%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42032"/>
            <a:ext cx="1821399" cy="3364992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FL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16.2%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78599" y="2542032"/>
            <a:ext cx="1750523" cy="3364992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TX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15.6%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9122" y="2542032"/>
            <a:ext cx="1896775" cy="2109606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10.6%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9122" y="4651638"/>
            <a:ext cx="1896775" cy="1255385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687" b="1">
                <a:solidFill>
                  <a:srgbClr val="FFFFFF"/>
                </a:solidFill>
              </a:rPr>
              <a:t>GA</a:t>
            </a:r>
          </a:p>
          <a:p>
            <a:pPr algn="ctr"/>
            <a:r>
              <a:rPr sz="1181">
                <a:solidFill>
                  <a:srgbClr val="FFFFFF"/>
                </a:solidFill>
              </a:rPr>
              <a:t>6.3%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5897" y="2542032"/>
            <a:ext cx="1764835" cy="1085396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513" b="1">
                <a:solidFill>
                  <a:srgbClr val="FFFFFF"/>
                </a:solidFill>
              </a:rPr>
              <a:t>NY</a:t>
            </a:r>
          </a:p>
          <a:p>
            <a:pPr algn="ctr"/>
            <a:r>
              <a:rPr sz="1059">
                <a:solidFill>
                  <a:srgbClr val="FFFFFF"/>
                </a:solidFill>
              </a:rPr>
              <a:t>5.1%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0732" y="2542032"/>
            <a:ext cx="1123077" cy="1085396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207" b="1">
                <a:solidFill>
                  <a:srgbClr val="FFFFFF"/>
                </a:solidFill>
              </a:rPr>
              <a:t>NC</a:t>
            </a:r>
          </a:p>
          <a:p>
            <a:pPr algn="ctr"/>
            <a:r>
              <a:rPr sz="845">
                <a:solidFill>
                  <a:srgbClr val="FFFFFF"/>
                </a:solidFill>
              </a:rPr>
              <a:t>3.2%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5897" y="3627428"/>
            <a:ext cx="815391" cy="1341757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143" b="1">
                <a:solidFill>
                  <a:srgbClr val="FFFFFF"/>
                </a:solidFill>
              </a:rPr>
              <a:t>NJ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2.9%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897" y="4969186"/>
            <a:ext cx="815391" cy="937837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956" b="1">
                <a:solidFill>
                  <a:srgbClr val="FFFFFF"/>
                </a:solidFill>
              </a:rPr>
              <a:t>LA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2.0%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41288" y="3627428"/>
            <a:ext cx="731703" cy="988189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MD 1.9%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2991" y="3627428"/>
            <a:ext cx="693394" cy="988189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OH 1.8%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6386" y="3627428"/>
            <a:ext cx="647423" cy="988189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MI 1.7%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41288" y="4615618"/>
            <a:ext cx="747514" cy="668492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NV 1.3%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1288" y="5284110"/>
            <a:ext cx="747514" cy="622913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MO 1.2%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803" y="4615618"/>
            <a:ext cx="533520" cy="652798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88803" y="5268416"/>
            <a:ext cx="533520" cy="638607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2323" y="4615618"/>
            <a:ext cx="403711" cy="712664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26034" y="4615618"/>
            <a:ext cx="387775" cy="712664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WI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22323" y="5328283"/>
            <a:ext cx="405555" cy="578740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27878" y="5328283"/>
            <a:ext cx="385931" cy="343320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27878" y="5671603"/>
            <a:ext cx="385931" cy="235420"/>
          </a:xfrm>
          <a:prstGeom prst="rect">
            <a:avLst/>
          </a:prstGeom>
          <a:solidFill>
            <a:srgbClr val="05966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+3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3538" y="2542032"/>
            <a:ext cx="1197465" cy="1092478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IL</a:t>
            </a:r>
          </a:p>
          <a:p>
            <a:pPr algn="ctr"/>
            <a:r>
              <a:rPr sz="875">
                <a:solidFill>
                  <a:srgbClr val="FFFFFF"/>
                </a:solidFill>
              </a:rPr>
              <a:t>3.6%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21004" y="2542032"/>
            <a:ext cx="911404" cy="1092478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1091" b="1">
                <a:solidFill>
                  <a:srgbClr val="FFFFFF"/>
                </a:solidFill>
              </a:rPr>
              <a:t>PA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2.7%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32408" y="2542032"/>
            <a:ext cx="671911" cy="1092478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SC 2.0%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23538" y="3634510"/>
            <a:ext cx="903474" cy="796385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927" b="1">
                <a:solidFill>
                  <a:srgbClr val="FFFFFF"/>
                </a:solidFill>
              </a:rPr>
              <a:t>AZ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2.0%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23538" y="4430896"/>
            <a:ext cx="903474" cy="748119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VA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1.9%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23538" y="5179015"/>
            <a:ext cx="903474" cy="728008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1.8%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7012" y="3634510"/>
            <a:ext cx="976432" cy="625231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AL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1.7%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3444" y="3634510"/>
            <a:ext cx="900875" cy="625231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TN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1.6%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7012" y="4259742"/>
            <a:ext cx="577972" cy="836215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MS 1.3%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7012" y="5095957"/>
            <a:ext cx="577972" cy="811066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MA 1.3%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04984" y="4259742"/>
            <a:ext cx="582055" cy="618080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WA 1.0%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87039" y="4259742"/>
            <a:ext cx="364519" cy="618080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351559" y="4259742"/>
            <a:ext cx="352760" cy="618080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04984" y="4877822"/>
            <a:ext cx="353080" cy="524892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KY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04984" y="5402715"/>
            <a:ext cx="353080" cy="504308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MN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58065" y="4877822"/>
            <a:ext cx="321921" cy="372509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079986" y="4877822"/>
            <a:ext cx="312166" cy="372509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NM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392153" y="4877822"/>
            <a:ext cx="312166" cy="372509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58065" y="5250332"/>
            <a:ext cx="276682" cy="341479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58065" y="5591811"/>
            <a:ext cx="276682" cy="315212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34747" y="5250332"/>
            <a:ext cx="254548" cy="328345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034747" y="5578678"/>
            <a:ext cx="254548" cy="328345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289295" y="5250332"/>
            <a:ext cx="219040" cy="315212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508336" y="5250332"/>
            <a:ext cx="195983" cy="315212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289295" y="5565544"/>
            <a:ext cx="415024" cy="341479"/>
          </a:xfrm>
          <a:prstGeom prst="rect">
            <a:avLst/>
          </a:prstGeom>
          <a:solidFill>
            <a:srgbClr val="64748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+10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053328"/>
            <a:ext cx="11247120" cy="36576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10819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Open Sans"/>
              </a:rPr>
              <a:t>The 26% in no-bulk states still get the guide-to-file handoff on day one — no member ever sees a blank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DATA INGESTION × LEGAL · ONE PASS PER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No data feed = no alert. Bulk data is possible in 7 of our top 10 states.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Open Sans"/>
              </a:rPr>
              <a:t>Top 10 = ~68% of 297,096 net actives. CA · TX · NY · FL · GA · NC · NJ → 177,129 members (~60% of base); the full 50-state sweep reaches 22 states = ~74%. Precedent: Credit Karma obtained bulk files from 14 states in 2017 — states mailed CDs/DVDs. v1 needs DATA, not filing rights.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77439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377439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NET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39"/>
            <a:ext cx="960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BULK?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77439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377439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DATA PATH + LEGAL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06039"/>
            <a:ext cx="11247120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79191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60903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FL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679191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48,436 · 16.2%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670047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88335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Per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688335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PRR → names, no $ amounts; pull after May 1 wave. Counsel: §717.1322(1)(j) bundle posture.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44368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17520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99923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TX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017520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45,670 · 15.6%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008375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026663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Monthly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026663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Email request → SIFT delivery; monthly refresh. Counsel: §1702.324(b)(5) exemption w/ Texas DPS.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82696"/>
            <a:ext cx="11247120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355848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33756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35584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31,110 · 10.6%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3346703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364991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Weekly (Thu)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3364991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Free CSV, Thursdays — already live (92.4M rows) ✓ Counsel: caching/redisplay sign-off. Lowest friction.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21024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94176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3675887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GA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3694176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18,837 · 6.3%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3685032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GATED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3703320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Weekly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3703320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Weekly file but CDR-gated ($1,200/4 yr, SB 103). Counsel: register-or-deep-link decision.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59352"/>
            <a:ext cx="11247120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03250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4014215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NY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403250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15,001 · 5.1%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74720" y="4023360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4041648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On demand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4041648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OSC secure FTP, re-pull anytime (cadence TBC); no amounts. Counsel: APL §1416 'service for a fee'.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297680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37083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4352544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3080" y="437083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10,536 · 3.6%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74720" y="4361688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4379976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60" y="4379976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No bulk path — DB is FOIA-exempt (765 ILCS 1026/15-1401). Deep-link only.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636008"/>
            <a:ext cx="11247120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709160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" y="469087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NC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4709160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9,549 · 3.2%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74720" y="4700016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YES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26280" y="4718304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Annual (Jul)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3560" y="4718304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Statutory public name list each July (G.S. 116B-62) — names only, non-cumulative.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974336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047488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" y="50292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NJ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83080" y="504748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8,526 · 2.9%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74720" y="5038344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YES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26280" y="5056632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On demand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23560" y="5056632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OPRA request → name + address; commercial-purpose certification + fee (2024 rev).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12664"/>
            <a:ext cx="11247120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5385816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" y="5367528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PA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3080" y="5385816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8,172 · 2.7%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474720" y="5376672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NO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394960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23560" y="5394960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Anti-bot/anti-AI policy + no feed. Deep-link only.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650992"/>
            <a:ext cx="112471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724144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" y="5705856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Open Sans"/>
              </a:rPr>
              <a:t>SC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83080" y="5724144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5,992 · 2.0%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474720" y="5715000"/>
            <a:ext cx="914400" cy="21031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NO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6280" y="5733288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23560" y="5733288"/>
            <a:ext cx="6080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§30-2-50 commercial-solicitation bar + no feed. Deep-link only.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6035040"/>
            <a:ext cx="11247120" cy="384048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062472"/>
            <a:ext cx="10972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Owner: Legal — written data-use approval per state in 30 days. Output: go/no-go matrix for the next ingest tier.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236208"/>
            <a:ext cx="10972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CCDDFF"/>
                </a:solidFill>
                <a:latin typeface="Open Sans"/>
              </a:rPr>
              <a:t>One shared counsel question across FL · NY · GA · OH: is a free alert inside a paid subscription 'compensation for notifying'? CA/TX don't pose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WE'D FIND TODAY · CA MATCH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Open Sans"/>
              </a:rPr>
              <a:t>We matched 31,110 CA net actives against all four CA unclaimed tiers (92.4M records).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Open Sans"/>
              </a:rPr>
              <a:t>Left: name only — the upper bound, inflated by common names. Right: adding city — the defensible floor before production PII (DOB, SSN-last-4, full address).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5321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532120" cy="128016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86000"/>
            <a:ext cx="5202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C4C0B"/>
                </a:solidFill>
                <a:latin typeface="Open Sans"/>
              </a:rPr>
              <a:t>NAME ONLY · UPPER BOUND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6060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1" y="2679192"/>
            <a:ext cx="15179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C4C0B"/>
                </a:solidFill>
                <a:latin typeface="Open Sans"/>
              </a:rPr>
              <a:t>23,166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" y="3108960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matched · 74.5% of cohort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4016" y="26060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2679192"/>
            <a:ext cx="15179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C4C0B"/>
                </a:solidFill>
                <a:latin typeface="Open Sans"/>
              </a:rPr>
              <a:t>2.3M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3108960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property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6060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679192"/>
            <a:ext cx="15179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C4C0B"/>
                </a:solidFill>
                <a:latin typeface="Open Sans"/>
              </a:rPr>
              <a:t>$172M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108960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estimated 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703320"/>
            <a:ext cx="5202936" cy="23774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739896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Total owed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73989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Net actives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73989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Bucket 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73989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$ / member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3941063"/>
            <a:ext cx="5202936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995927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$0–$9.99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3995927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2,774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995927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$9K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995927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$3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4233672"/>
            <a:ext cx="520293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28853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Open Sans"/>
              </a:rPr>
              <a:t>$10–$99.99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28853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4,526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288536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Open Sans"/>
              </a:rPr>
              <a:t>$198K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2885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Open Sans"/>
              </a:rPr>
              <a:t>$44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4526280"/>
            <a:ext cx="5202936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581144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352"/>
                </a:solidFill>
                <a:latin typeface="Open Sans"/>
              </a:rPr>
              <a:t>$100–$499.99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4581144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4,317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581144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352"/>
                </a:solidFill>
                <a:latin typeface="Open Sans"/>
              </a:rPr>
              <a:t>$1.06M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58114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B352"/>
                </a:solidFill>
                <a:latin typeface="Open Sans"/>
              </a:rPr>
              <a:t>$245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818888"/>
            <a:ext cx="520293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87375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$500+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4873752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11,549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873752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$171M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87375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863C5"/>
                </a:solidFill>
                <a:latin typeface="Open Sans"/>
              </a:rPr>
              <a:t>$14,814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5157216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Open Sans"/>
              </a:rPr>
              <a:t>Each net active bucketed by the SUM of their matches; sums to 23,166.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2103120"/>
            <a:ext cx="55321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9632" y="2103120"/>
            <a:ext cx="5532120" cy="12801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2286000"/>
            <a:ext cx="5202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59669"/>
                </a:solidFill>
                <a:latin typeface="Open Sans"/>
              </a:rPr>
              <a:t>NAME + CITY · DEFENSIBLE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64224" y="26060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55664" y="2679192"/>
            <a:ext cx="15179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59669"/>
                </a:solidFill>
                <a:latin typeface="Open Sans"/>
              </a:rPr>
              <a:t>11,958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5664" y="3108960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matched · 38.4% of cohort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56448" y="26060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7888" y="2679192"/>
            <a:ext cx="15179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59669"/>
                </a:solidFill>
                <a:latin typeface="Open Sans"/>
              </a:rPr>
              <a:t>69K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3108960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property records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48672" y="2606040"/>
            <a:ext cx="1700784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40112" y="2679192"/>
            <a:ext cx="15179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59669"/>
                </a:solidFill>
                <a:latin typeface="Open Sans"/>
              </a:rPr>
              <a:t>$5.04M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0112" y="3108960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estimated value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64224" y="3703320"/>
            <a:ext cx="5202936" cy="23774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55664" y="3739896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Total owed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373989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Net actives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712" y="3739896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Bucket $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05872" y="373989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$ / member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64224" y="3941063"/>
            <a:ext cx="5202936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3995927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$0–$9.99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91272" y="3995927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3,684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25712" y="3995927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$11K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05872" y="3995927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$3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64224" y="4233672"/>
            <a:ext cx="520293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55664" y="428853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Open Sans"/>
              </a:rPr>
              <a:t>$10–$99.99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91272" y="428853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4,395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25712" y="4288536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Open Sans"/>
              </a:rPr>
              <a:t>$174K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05872" y="42885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Open Sans"/>
              </a:rPr>
              <a:t>$40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64224" y="4526280"/>
            <a:ext cx="5202936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55664" y="4581144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352"/>
                </a:solidFill>
                <a:latin typeface="Open Sans"/>
              </a:rPr>
              <a:t>$100–$499.99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91272" y="4581144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2,368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25712" y="4581144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352"/>
                </a:solidFill>
                <a:latin typeface="Open Sans"/>
              </a:rPr>
              <a:t>$534K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05872" y="4581144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B352"/>
                </a:solidFill>
                <a:latin typeface="Open Sans"/>
              </a:rPr>
              <a:t>$225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64224" y="4818888"/>
            <a:ext cx="5202936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55664" y="487375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$500+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91272" y="4873752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1,511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25712" y="4873752"/>
            <a:ext cx="1234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$4.32M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05872" y="4873752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863C5"/>
                </a:solidFill>
                <a:latin typeface="Open Sans"/>
              </a:rPr>
              <a:t>$2,859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157216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Open Sans"/>
              </a:rPr>
              <a:t>Each net active bucketed by the SUM of their matches; sums to 11,958.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6035040"/>
            <a:ext cx="11247120" cy="36576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6089904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Adding city collapses 23,166 → 11,958 matched and $172M → $5.04M — the defensible floor before production PII tightens it further.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COVERAGE-GAP UX · GUIDE-TO-FILE HANDOFF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No state left blank — unsupported states get a guided handoff, day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Open Sans"/>
              </a:rPr>
              <a:t>Built in the prototype today: pick any state we don't index yet and the app returns its official portal + researched filing steps — all 50 states + DC, display-only, no fee, no affiliation.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40"/>
            <a:ext cx="6126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6126480" cy="713232"/>
          </a:xfrm>
          <a:prstGeom prst="rect">
            <a:avLst/>
          </a:prstGeom>
          <a:solidFill>
            <a:srgbClr val="E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2863C5"/>
                </a:solidFill>
                <a:latin typeface="Open Sans"/>
              </a:rPr>
              <a:t>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49424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863C5"/>
                </a:solidFill>
                <a:latin typeface="Open Sans"/>
              </a:rPr>
              <a:t>COVERAGE 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5059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We're not searching Texas just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9923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Open Sans"/>
              </a:rPr>
              <a:t>OFFICIAL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63824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Texas Comptroller (ClaimItTexas)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054096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Open Sans"/>
              </a:rPr>
              <a:t>Open the Texas portal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47872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HOW TO FILE IN TEXAS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1304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2863C5"/>
                </a:solidFill>
                <a:latin typeface="Open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3803904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Search ClaimItTexas by entering your 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056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2863C5"/>
                </a:solidFill>
                <a:latin typeface="Open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096512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Select the properties from the results that are yours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9826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2863C5"/>
                </a:solidFill>
                <a:latin typeface="Open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389120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Start the claim and complete the claimant information 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908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2863C5"/>
                </a:solidFill>
                <a:latin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681728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Upload proof of identity + address, submit, and track your claim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5760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Open Sans"/>
              </a:rPr>
              <a:t>⏱ Typical processing: 30–90 days      ✓ ClaimItTexas is free — the Comptroller never charges owners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40096"/>
            <a:ext cx="2606040" cy="329184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2863C5"/>
                </a:solidFill>
                <a:latin typeface="Open Sans"/>
              </a:rPr>
              <a:t>🔔 Notify me when Texas is supported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7900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Open Sans"/>
              </a:rPr>
              <a:t>SmartCredit is not affiliated with Texas or the Texas Comptroller. You can always search and claim free directly with the state. We never charge a finder's fee and never hold your funds.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1488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WHY IT'S BUILT THIS WAY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2514600"/>
            <a:ext cx="484632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2514600"/>
            <a:ext cx="64008" cy="80467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8" y="2587752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Open Sans"/>
              </a:rPr>
              <a:t>Day-one national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2843784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Every state + DC deep-links to its official portal with researched, state-specific filing steps.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410712"/>
            <a:ext cx="484632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3410712"/>
            <a:ext cx="64008" cy="80467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3483864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Open Sans"/>
              </a:rPr>
              <a:t>Compliant by construction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3739896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Display-only handoff: no fee, no claim handling, explicit non-affiliation — nothing for finder statutes to hook.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306824"/>
            <a:ext cx="484632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4306824"/>
            <a:ext cx="64008" cy="804672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4379976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Open Sans"/>
              </a:rPr>
              <a:t>Demand signal for rollout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636008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"Notify me" builds a per-state waitlist — members tell us which data integration to unlock next.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5202936"/>
            <a:ext cx="484632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0" y="5202936"/>
            <a:ext cx="64008" cy="80467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59168" y="52760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Open Sans"/>
              </a:rPr>
              <a:t>Cross-state matching still runs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5532120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Unclaimed money follows past addresses — members in guided states still get auto-matches from all 22 monitored states.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053328"/>
            <a:ext cx="11247120" cy="36576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10819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Open Sans"/>
              </a:rPr>
              <a:t>50 of 51 jurisdictions render this handoff today; each converts to the full match experience the moment its data lands (see the state-by-state plan).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PRODUCT FRAMING · TWO TIERS, ONE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Auto-Monitored where we have data. Guided Filing everywhere. One opt-in.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Open Sans"/>
              </a:rPr>
              <a:t>Members never see a blank state — and the UI itself is the coverage map, so marketing never has to over-claim.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OPT-IN AT SIGNUP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0604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Search unclaimed money in my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89504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SmartCredit checks official state unclaimed-property records for potential matches — free, no finder's fee, no claim filing. You decide what to do with any match. You can turn this off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440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64008" cy="7132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95928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059669"/>
                </a:solidFill>
                <a:latin typeface="Open Sans"/>
              </a:rPr>
              <a:t>MONITORED STATE (e.g. CA)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"We'll monitor California's records automatically and alert you to new potential matches."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5440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736592"/>
            <a:ext cx="64008" cy="71323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B352"/>
                </a:solidFill>
                <a:latin typeface="Open Sans"/>
              </a:rPr>
              <a:t>GUIDED STATE (e.g. PA)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10912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"We'll watch the 22 covered states for your name — including past addresses — and show you exactly how to file in Pennsylvania."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59551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Open Sans"/>
              </a:rPr>
              <a:t>Default off · never a condition of signup · alert SMS/email is a separate per-channel consent (TCPA).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4884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THE STATE FILTER IS THE COVERAGE 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46888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468880"/>
            <a:ext cx="5440680" cy="31089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514600"/>
            <a:ext cx="5074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Open Sans"/>
              </a:rPr>
              <a:t>State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852928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059669"/>
                </a:solidFill>
                <a:latin typeface="Open Sans"/>
              </a:rPr>
              <a:t>AUTO-MONITORED (22)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054096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● California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273552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● Texas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493008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● Florida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712463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● New York  ·  +18 more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950208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Open Sans"/>
              </a:rPr>
              <a:t>GUIDED FILING (29)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51376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Open Sans"/>
              </a:rPr>
              <a:t>○ Pennsylvania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370832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Open Sans"/>
              </a:rPr>
              <a:t>○ Illinois  ·  +27 more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84632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Open Sans"/>
              </a:rPr>
              <a:t>Monitored state → live match results.  Guided state → filing steps + waitlist.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138928"/>
            <a:ext cx="5440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The guided screen is never empty: 1) official portal + researched steps  2) "Notify me" waitlist  3) cross-state auto-matches from all monitored states (past addresses) shown below.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053328"/>
            <a:ext cx="11247120" cy="36576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10819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Open Sans"/>
              </a:rPr>
              <a:t>Expectations set at signup, 'automatic' never claimed where it isn't, and every gap converts into waitlist demand for the next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GO-TO-MARKET · EXAMPLE LANDING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Open Sans"/>
              </a:rPr>
              <a:t>Drop-in for the existing smartcredit.com funnel — same hero formula, same trust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430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Open Sans"/>
              </a:rPr>
              <a:t>Launch: members first (real matches → testimonials) · every new state unlock = a waitlist email + press moment · waitlist counts pick the next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471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47120" cy="274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9656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Open Sans"/>
              </a:rPr>
              <a:t>● ● ●     smartcredit.com/getmymoney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Open Sans"/>
              </a:rPr>
              <a:t>The fastest way to check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70048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863C5"/>
                </a:solidFill>
                <a:latin typeface="Open Sans"/>
              </a:rPr>
              <a:t>unclaimed money in your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2724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Open Sans"/>
              </a:rPr>
              <a:t>More than $70 billion is sitting with state treasurers. Is any of it yours?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SmartCredit automatically checks official state records and alerts you to potential matches. Free for members — no finder's fee, ever. The state pays you directly.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22191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Open Sans"/>
              </a:rPr>
              <a:t>Run my free check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904487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Included with your membership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07408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50" b="1">
                <a:solidFill>
                  <a:srgbClr val="2863C5"/>
                </a:solidFill>
                <a:latin typeface="Open Sans"/>
              </a:rPr>
              <a:t>✓ 50 states covered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02636" y="4407408"/>
            <a:ext cx="2061972" cy="274320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50" b="1">
                <a:solidFill>
                  <a:srgbClr val="2863C5"/>
                </a:solidFill>
                <a:latin typeface="Open Sans"/>
              </a:rPr>
              <a:t>✓ Auto-monitoring in 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4407408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50" b="1">
                <a:solidFill>
                  <a:srgbClr val="2863C5"/>
                </a:solidFill>
                <a:latin typeface="Open Sans"/>
              </a:rPr>
              <a:t>✓ You decide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240280"/>
            <a:ext cx="3108960" cy="25146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21031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Open Sans"/>
              </a:rPr>
              <a:t>✦ Potential match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6060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269748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Open Sans"/>
              </a:rPr>
              <a:t>Credit Balance  ·  Citibank N.A.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92608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C4C0B"/>
                </a:solidFill>
                <a:latin typeface="Open Sans"/>
              </a:rPr>
              <a:t>$842.40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323697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Open Sans"/>
              </a:rPr>
              <a:t>ESTIMATED — state-reported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349300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Open Sans"/>
              </a:rPr>
              <a:t>Claim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538728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863C5"/>
                </a:solidFill>
                <a:latin typeface="Open Sans"/>
              </a:rPr>
              <a:t>Not me 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443484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Open Sans"/>
              </a:rPr>
              <a:t>22 states watched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920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2863C5"/>
                </a:solidFill>
                <a:latin typeface="Open San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87375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We watch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1206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Official state records, checked automatically — including past addresses.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8920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2863C5"/>
                </a:solidFill>
                <a:latin typeface="Open San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87375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You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1206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Potential matches only — mark "Not me" on anything that isn't yours.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48920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100" b="1">
                <a:solidFill>
                  <a:srgbClr val="2863C5"/>
                </a:solidFill>
                <a:latin typeface="Open Sa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59" y="487375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You claim, free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51206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Deep link to the state's own portal. The state pays you directly.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5099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Open Sans"/>
              </a:rPr>
              <a:t>Potential matches are estimates from official state records; results vary and are not guaranteed. SmartCredit is not affiliated with or endorsed by any government agency. Claiming directly with your state is always free.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11247120" cy="36576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10819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smartcredit.com's visual system + Credit Karma's proven hook ("Is any of it yours?") — but where CK's page now just links out to state sites, ours runs the 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GetMyMoney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COMPLIANCE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Open Sans"/>
              </a:rPr>
              <a:t>v1 is a notification feature, not a recovery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Three architectural decisions clear the bulk of the legal surface. The remaining constraint is data acquisition — without a feed, we can't alert a member because we don't know they have a match. Full compliance memo available from Legal.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3703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703320" cy="14630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14015"/>
            <a:ext cx="3374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ALERT + DEEP LINK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24912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Surface the match. Embed a deep link. The member files on the state's official portal.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218688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Kills false-claim and tort exposure; TSR advance-fee rule never applies (no fee, no telemarketing). Finder fee caps hook on fees we don't charge.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2194560"/>
            <a:ext cx="3703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194560"/>
            <a:ext cx="3703320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1" y="2414015"/>
            <a:ext cx="3374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Open Sans"/>
              </a:rPr>
              <a:t>BUNDLE, DON'T SURCHARGE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1" y="2724912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No %-of-recovery, no upfront fee, no affiliate or success bonus. UP alerts are free in SmartCredit.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3218688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Removes any "fee for locating" hook in state finder statutes. Avoids ROSCA negative-option stack.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194560"/>
            <a:ext cx="370332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2194560"/>
            <a:ext cx="3703320" cy="146304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2414015"/>
            <a:ext cx="33741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C4C0B"/>
                </a:solidFill>
                <a:latin typeface="Open Sans"/>
              </a:rPr>
              <a:t>NEVER HOLD FUNDS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1" y="2724912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State pays the consumer direct. SmartCredit is never in the money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3218688"/>
            <a:ext cx="33741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Avoids 49-state money-transmitter licensure. Funds always flow through the state (GA §44-12-220) — never through 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6400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6400800" cy="16459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Open Sans"/>
              </a:rPr>
              <a:t>STATE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43400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43708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36168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Ingested today — 92.4M records, refreshed every Thursday.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36008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FL·TX·NY·GA·NC·NJ +15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66344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465429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Bulk obtainable via request / fee / registration — 22 states = 74% of members.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28616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WA · VA · AL · TN · 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495604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BARRED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94690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Statute bars commercial release of owner lists (e.g. RCW 42.56.070(8)).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22122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Open Sans"/>
              </a:rPr>
              <a:t>IL·PA·SC·MS·MA·AZ·PR 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524865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NO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523951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Open Sans"/>
              </a:rPr>
              <a:t>No program — FOIA-exempt DBs, anti-bot policies, or search-only portals.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95160" y="3840480"/>
            <a:ext cx="427939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95160" y="3840480"/>
            <a:ext cx="4279392" cy="164592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4078224"/>
            <a:ext cx="39136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C4C0B"/>
                </a:solidFill>
                <a:latin typeface="Open Sans"/>
              </a:rPr>
              <a:t>LOAD-BEARING OPEN QUESTION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389120"/>
            <a:ext cx="39136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Open Sans"/>
              </a:rPr>
              <a:t>Is a free UP alert inside a flat paid subscription "compensation for notifying"? (FL §717.1322(1)(j) · NY APL §1416 · GA §44-12-239.2 · OH §169.13)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047488"/>
            <a:ext cx="3913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No case law on point. One outside-counsel opinion covers all four states; CA and TX don't pose the question.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8040" y="5486400"/>
            <a:ext cx="3913631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5559552"/>
            <a:ext cx="39136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Open Sans"/>
              </a:rPr>
              <a:t>Top HIGH risks: definitive-$$$ claims (FTC Act §5) · implied gov't affiliation · unsubstantiated "you may have $X" · TCPA on found-money SMS.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035040"/>
            <a:ext cx="11247120" cy="36576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08990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30 risk-rated findings · 18 open questions · 50-state paid-finder table · ~80 source links. Owner: Legal. Decision: ratify v1 (alert + deep-link / bundle / no-funds) + outside-counsel opinion on subscription characterization.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