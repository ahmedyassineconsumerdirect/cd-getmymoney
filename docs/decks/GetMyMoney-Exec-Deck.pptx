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0" r:id="rId21"/>
    <p:sldId id="257" r:id="rId8"/>
    <p:sldId id="258" r:id="rId9"/>
    <p:sldId id="259" r:id="rId10"/>
    <p:sldId id="260" r:id="rId11"/>
    <p:sldId id="261" r:id="rId12"/>
    <p:sldId id="262" r:id="rId13"/>
    <p:sldId id="263" r:id="rId14"/>
    <p:sldId id="264" r:id="rId15"/>
    <p:sldId id="265" r:id="rId16"/>
    <p:sldId id="266" r:id="rId17"/>
    <p:sldId id="268" r:id="rId19"/>
    <p:sldId id="269" r:id="rId20"/>
    <p:sldId id="272" r:id="rId23"/>
  </p:sldIdLst>
  <p:sldSz cx="12188952"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2.xml"/><Relationship Id="rId23"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88952" cy="6858000"/>
          </a:xfrm>
          <a:prstGeom prst="rect">
            <a:avLst/>
          </a:prstGeom>
          <a:solidFill>
            <a:srgbClr val="3058A3"/>
          </a:solidFill>
          <a:ln>
            <a:noFill/>
          </a:ln>
        </p:spPr>
        <p:txBody>
          <a:bodyPr/>
          <a:lstStyle/>
          <a:p/>
        </p:txBody>
      </p:sp>
      <p:sp>
        <p:nvSpPr>
          <p:cNvPr id="3" name="AmberBar"/>
          <p:cNvSpPr/>
          <p:nvPr/>
        </p:nvSpPr>
        <p:spPr>
          <a:xfrm>
            <a:off x="0" y="1645920"/>
            <a:ext cx="152400" cy="2743200"/>
          </a:xfrm>
          <a:prstGeom prst="roundRect">
            <a:avLst>
              <a:gd name="adj" fmla="val 50000"/>
            </a:avLst>
          </a:prstGeom>
          <a:solidFill>
            <a:srgbClr val="FCC062"/>
          </a:solidFill>
          <a:ln>
            <a:noFill/>
          </a:ln>
        </p:spPr>
        <p:txBody>
          <a:bodyPr/>
          <a:lstStyle/>
          <a:p/>
        </p:txBody>
      </p:sp>
      <p:sp>
        <p:nvSpPr>
          <p:cNvPr id="4" name="Tab0"/>
          <p:cNvSpPr/>
          <p:nvPr/>
        </p:nvSpPr>
        <p:spPr>
          <a:xfrm>
            <a:off x="4953000" y="228600"/>
            <a:ext cx="190500" cy="548640"/>
          </a:xfrm>
          <a:prstGeom prst="roundRect">
            <a:avLst>
              <a:gd name="adj" fmla="val 50000"/>
            </a:avLst>
          </a:prstGeom>
          <a:solidFill>
            <a:srgbClr val="7E9BD0"/>
          </a:solidFill>
          <a:ln>
            <a:noFill/>
          </a:ln>
        </p:spPr>
        <p:txBody>
          <a:bodyPr/>
          <a:lstStyle/>
          <a:p/>
        </p:txBody>
      </p:sp>
      <p:sp>
        <p:nvSpPr>
          <p:cNvPr id="5" name="Tab1"/>
          <p:cNvSpPr/>
          <p:nvPr/>
        </p:nvSpPr>
        <p:spPr>
          <a:xfrm>
            <a:off x="5219700" y="228600"/>
            <a:ext cx="190500" cy="548640"/>
          </a:xfrm>
          <a:prstGeom prst="roundRect">
            <a:avLst>
              <a:gd name="adj" fmla="val 50000"/>
            </a:avLst>
          </a:prstGeom>
          <a:solidFill>
            <a:srgbClr val="7E9BD0"/>
          </a:solidFill>
          <a:ln>
            <a:noFill/>
          </a:ln>
        </p:spPr>
        <p:txBody>
          <a:bodyPr/>
          <a:lstStyle/>
          <a:p/>
        </p:txBody>
      </p:sp>
      <p:sp>
        <p:nvSpPr>
          <p:cNvPr id="6" name="Tab2"/>
          <p:cNvSpPr/>
          <p:nvPr/>
        </p:nvSpPr>
        <p:spPr>
          <a:xfrm>
            <a:off x="5486400" y="228600"/>
            <a:ext cx="190500" cy="548640"/>
          </a:xfrm>
          <a:prstGeom prst="roundRect">
            <a:avLst>
              <a:gd name="adj" fmla="val 50000"/>
            </a:avLst>
          </a:prstGeom>
          <a:solidFill>
            <a:srgbClr val="7E9BD0"/>
          </a:solidFill>
          <a:ln>
            <a:noFill/>
          </a:ln>
        </p:spPr>
        <p:txBody>
          <a:bodyPr/>
          <a:lstStyle/>
          <a:p/>
        </p:txBody>
      </p:sp>
      <p:sp>
        <p:nvSpPr>
          <p:cNvPr id="7" name="d00"/>
          <p:cNvSpPr/>
          <p:nvPr/>
        </p:nvSpPr>
        <p:spPr>
          <a:xfrm>
            <a:off x="10287000" y="5090160"/>
            <a:ext cx="53340" cy="53340"/>
          </a:xfrm>
          <a:prstGeom prst="ellipse">
            <a:avLst/>
          </a:prstGeom>
          <a:solidFill>
            <a:srgbClr val="6E8FCB"/>
          </a:solidFill>
          <a:ln>
            <a:noFill/>
          </a:ln>
        </p:spPr>
        <p:txBody>
          <a:bodyPr/>
          <a:lstStyle/>
          <a:p/>
        </p:txBody>
      </p:sp>
      <p:sp>
        <p:nvSpPr>
          <p:cNvPr id="8" name="d01"/>
          <p:cNvSpPr/>
          <p:nvPr/>
        </p:nvSpPr>
        <p:spPr>
          <a:xfrm>
            <a:off x="10454640" y="5090160"/>
            <a:ext cx="53340" cy="53340"/>
          </a:xfrm>
          <a:prstGeom prst="ellipse">
            <a:avLst/>
          </a:prstGeom>
          <a:solidFill>
            <a:srgbClr val="6E8FCB"/>
          </a:solidFill>
          <a:ln>
            <a:noFill/>
          </a:ln>
        </p:spPr>
        <p:txBody>
          <a:bodyPr/>
          <a:lstStyle/>
          <a:p/>
        </p:txBody>
      </p:sp>
      <p:sp>
        <p:nvSpPr>
          <p:cNvPr id="9" name="d02"/>
          <p:cNvSpPr/>
          <p:nvPr/>
        </p:nvSpPr>
        <p:spPr>
          <a:xfrm>
            <a:off x="10622280" y="5090160"/>
            <a:ext cx="53340" cy="53340"/>
          </a:xfrm>
          <a:prstGeom prst="ellipse">
            <a:avLst/>
          </a:prstGeom>
          <a:solidFill>
            <a:srgbClr val="6E8FCB"/>
          </a:solidFill>
          <a:ln>
            <a:noFill/>
          </a:ln>
        </p:spPr>
        <p:txBody>
          <a:bodyPr/>
          <a:lstStyle/>
          <a:p/>
        </p:txBody>
      </p:sp>
      <p:sp>
        <p:nvSpPr>
          <p:cNvPr id="10" name="d03"/>
          <p:cNvSpPr/>
          <p:nvPr/>
        </p:nvSpPr>
        <p:spPr>
          <a:xfrm>
            <a:off x="10789920" y="5090160"/>
            <a:ext cx="53340" cy="53340"/>
          </a:xfrm>
          <a:prstGeom prst="ellipse">
            <a:avLst/>
          </a:prstGeom>
          <a:solidFill>
            <a:srgbClr val="6E8FCB"/>
          </a:solidFill>
          <a:ln>
            <a:noFill/>
          </a:ln>
        </p:spPr>
        <p:txBody>
          <a:bodyPr/>
          <a:lstStyle/>
          <a:p/>
        </p:txBody>
      </p:sp>
      <p:sp>
        <p:nvSpPr>
          <p:cNvPr id="11" name="d04"/>
          <p:cNvSpPr/>
          <p:nvPr/>
        </p:nvSpPr>
        <p:spPr>
          <a:xfrm>
            <a:off x="10957560" y="5090160"/>
            <a:ext cx="53340" cy="53340"/>
          </a:xfrm>
          <a:prstGeom prst="ellipse">
            <a:avLst/>
          </a:prstGeom>
          <a:solidFill>
            <a:srgbClr val="6E8FCB"/>
          </a:solidFill>
          <a:ln>
            <a:noFill/>
          </a:ln>
        </p:spPr>
        <p:txBody>
          <a:bodyPr/>
          <a:lstStyle/>
          <a:p/>
        </p:txBody>
      </p:sp>
      <p:sp>
        <p:nvSpPr>
          <p:cNvPr id="12" name="d05"/>
          <p:cNvSpPr/>
          <p:nvPr/>
        </p:nvSpPr>
        <p:spPr>
          <a:xfrm>
            <a:off x="11125200" y="5090160"/>
            <a:ext cx="53340" cy="53340"/>
          </a:xfrm>
          <a:prstGeom prst="ellipse">
            <a:avLst/>
          </a:prstGeom>
          <a:solidFill>
            <a:srgbClr val="6E8FCB"/>
          </a:solidFill>
          <a:ln>
            <a:noFill/>
          </a:ln>
        </p:spPr>
        <p:txBody>
          <a:bodyPr/>
          <a:lstStyle/>
          <a:p/>
        </p:txBody>
      </p:sp>
      <p:sp>
        <p:nvSpPr>
          <p:cNvPr id="13" name="d10"/>
          <p:cNvSpPr/>
          <p:nvPr/>
        </p:nvSpPr>
        <p:spPr>
          <a:xfrm>
            <a:off x="10287000" y="5257800"/>
            <a:ext cx="53340" cy="53340"/>
          </a:xfrm>
          <a:prstGeom prst="ellipse">
            <a:avLst/>
          </a:prstGeom>
          <a:solidFill>
            <a:srgbClr val="6E8FCB"/>
          </a:solidFill>
          <a:ln>
            <a:noFill/>
          </a:ln>
        </p:spPr>
        <p:txBody>
          <a:bodyPr/>
          <a:lstStyle/>
          <a:p/>
        </p:txBody>
      </p:sp>
      <p:sp>
        <p:nvSpPr>
          <p:cNvPr id="14" name="d11"/>
          <p:cNvSpPr/>
          <p:nvPr/>
        </p:nvSpPr>
        <p:spPr>
          <a:xfrm>
            <a:off x="10454640" y="5257800"/>
            <a:ext cx="53340" cy="53340"/>
          </a:xfrm>
          <a:prstGeom prst="ellipse">
            <a:avLst/>
          </a:prstGeom>
          <a:solidFill>
            <a:srgbClr val="6E8FCB"/>
          </a:solidFill>
          <a:ln>
            <a:noFill/>
          </a:ln>
        </p:spPr>
        <p:txBody>
          <a:bodyPr/>
          <a:lstStyle/>
          <a:p/>
        </p:txBody>
      </p:sp>
      <p:sp>
        <p:nvSpPr>
          <p:cNvPr id="15" name="d12"/>
          <p:cNvSpPr/>
          <p:nvPr/>
        </p:nvSpPr>
        <p:spPr>
          <a:xfrm>
            <a:off x="10622280" y="5257800"/>
            <a:ext cx="53340" cy="53340"/>
          </a:xfrm>
          <a:prstGeom prst="ellipse">
            <a:avLst/>
          </a:prstGeom>
          <a:solidFill>
            <a:srgbClr val="6E8FCB"/>
          </a:solidFill>
          <a:ln>
            <a:noFill/>
          </a:ln>
        </p:spPr>
        <p:txBody>
          <a:bodyPr/>
          <a:lstStyle/>
          <a:p/>
        </p:txBody>
      </p:sp>
      <p:sp>
        <p:nvSpPr>
          <p:cNvPr id="16" name="d13"/>
          <p:cNvSpPr/>
          <p:nvPr/>
        </p:nvSpPr>
        <p:spPr>
          <a:xfrm>
            <a:off x="10789920" y="5257800"/>
            <a:ext cx="53340" cy="53340"/>
          </a:xfrm>
          <a:prstGeom prst="ellipse">
            <a:avLst/>
          </a:prstGeom>
          <a:solidFill>
            <a:srgbClr val="6E8FCB"/>
          </a:solidFill>
          <a:ln>
            <a:noFill/>
          </a:ln>
        </p:spPr>
        <p:txBody>
          <a:bodyPr/>
          <a:lstStyle/>
          <a:p/>
        </p:txBody>
      </p:sp>
      <p:sp>
        <p:nvSpPr>
          <p:cNvPr id="17" name="d14"/>
          <p:cNvSpPr/>
          <p:nvPr/>
        </p:nvSpPr>
        <p:spPr>
          <a:xfrm>
            <a:off x="10957560" y="5257800"/>
            <a:ext cx="53340" cy="53340"/>
          </a:xfrm>
          <a:prstGeom prst="ellipse">
            <a:avLst/>
          </a:prstGeom>
          <a:solidFill>
            <a:srgbClr val="6E8FCB"/>
          </a:solidFill>
          <a:ln>
            <a:noFill/>
          </a:ln>
        </p:spPr>
        <p:txBody>
          <a:bodyPr/>
          <a:lstStyle/>
          <a:p/>
        </p:txBody>
      </p:sp>
      <p:sp>
        <p:nvSpPr>
          <p:cNvPr id="18" name="d15"/>
          <p:cNvSpPr/>
          <p:nvPr/>
        </p:nvSpPr>
        <p:spPr>
          <a:xfrm>
            <a:off x="11125200" y="5257800"/>
            <a:ext cx="53340" cy="53340"/>
          </a:xfrm>
          <a:prstGeom prst="ellipse">
            <a:avLst/>
          </a:prstGeom>
          <a:solidFill>
            <a:srgbClr val="6E8FCB"/>
          </a:solidFill>
          <a:ln>
            <a:noFill/>
          </a:ln>
        </p:spPr>
        <p:txBody>
          <a:bodyPr/>
          <a:lstStyle/>
          <a:p/>
        </p:txBody>
      </p:sp>
      <p:sp>
        <p:nvSpPr>
          <p:cNvPr id="19" name="d20"/>
          <p:cNvSpPr/>
          <p:nvPr/>
        </p:nvSpPr>
        <p:spPr>
          <a:xfrm>
            <a:off x="10287000" y="5425440"/>
            <a:ext cx="53340" cy="53340"/>
          </a:xfrm>
          <a:prstGeom prst="ellipse">
            <a:avLst/>
          </a:prstGeom>
          <a:solidFill>
            <a:srgbClr val="6E8FCB"/>
          </a:solidFill>
          <a:ln>
            <a:noFill/>
          </a:ln>
        </p:spPr>
        <p:txBody>
          <a:bodyPr/>
          <a:lstStyle/>
          <a:p/>
        </p:txBody>
      </p:sp>
      <p:sp>
        <p:nvSpPr>
          <p:cNvPr id="20" name="d21"/>
          <p:cNvSpPr/>
          <p:nvPr/>
        </p:nvSpPr>
        <p:spPr>
          <a:xfrm>
            <a:off x="10454640" y="5425440"/>
            <a:ext cx="53340" cy="53340"/>
          </a:xfrm>
          <a:prstGeom prst="ellipse">
            <a:avLst/>
          </a:prstGeom>
          <a:solidFill>
            <a:srgbClr val="6E8FCB"/>
          </a:solidFill>
          <a:ln>
            <a:noFill/>
          </a:ln>
        </p:spPr>
        <p:txBody>
          <a:bodyPr/>
          <a:lstStyle/>
          <a:p/>
        </p:txBody>
      </p:sp>
      <p:sp>
        <p:nvSpPr>
          <p:cNvPr id="21" name="d22"/>
          <p:cNvSpPr/>
          <p:nvPr/>
        </p:nvSpPr>
        <p:spPr>
          <a:xfrm>
            <a:off x="10622280" y="5425440"/>
            <a:ext cx="53340" cy="53340"/>
          </a:xfrm>
          <a:prstGeom prst="ellipse">
            <a:avLst/>
          </a:prstGeom>
          <a:solidFill>
            <a:srgbClr val="6E8FCB"/>
          </a:solidFill>
          <a:ln>
            <a:noFill/>
          </a:ln>
        </p:spPr>
        <p:txBody>
          <a:bodyPr/>
          <a:lstStyle/>
          <a:p/>
        </p:txBody>
      </p:sp>
      <p:sp>
        <p:nvSpPr>
          <p:cNvPr id="22" name="d23"/>
          <p:cNvSpPr/>
          <p:nvPr/>
        </p:nvSpPr>
        <p:spPr>
          <a:xfrm>
            <a:off x="10789920" y="5425440"/>
            <a:ext cx="53340" cy="53340"/>
          </a:xfrm>
          <a:prstGeom prst="ellipse">
            <a:avLst/>
          </a:prstGeom>
          <a:solidFill>
            <a:srgbClr val="6E8FCB"/>
          </a:solidFill>
          <a:ln>
            <a:noFill/>
          </a:ln>
        </p:spPr>
        <p:txBody>
          <a:bodyPr/>
          <a:lstStyle/>
          <a:p/>
        </p:txBody>
      </p:sp>
      <p:sp>
        <p:nvSpPr>
          <p:cNvPr id="23" name="d24"/>
          <p:cNvSpPr/>
          <p:nvPr/>
        </p:nvSpPr>
        <p:spPr>
          <a:xfrm>
            <a:off x="10957560" y="5425440"/>
            <a:ext cx="53340" cy="53340"/>
          </a:xfrm>
          <a:prstGeom prst="ellipse">
            <a:avLst/>
          </a:prstGeom>
          <a:solidFill>
            <a:srgbClr val="6E8FCB"/>
          </a:solidFill>
          <a:ln>
            <a:noFill/>
          </a:ln>
        </p:spPr>
        <p:txBody>
          <a:bodyPr/>
          <a:lstStyle/>
          <a:p/>
        </p:txBody>
      </p:sp>
      <p:sp>
        <p:nvSpPr>
          <p:cNvPr id="24" name="d25"/>
          <p:cNvSpPr/>
          <p:nvPr/>
        </p:nvSpPr>
        <p:spPr>
          <a:xfrm>
            <a:off x="11125200" y="5425440"/>
            <a:ext cx="53340" cy="53340"/>
          </a:xfrm>
          <a:prstGeom prst="ellipse">
            <a:avLst/>
          </a:prstGeom>
          <a:solidFill>
            <a:srgbClr val="6E8FCB"/>
          </a:solidFill>
          <a:ln>
            <a:noFill/>
          </a:ln>
        </p:spPr>
        <p:txBody>
          <a:bodyPr/>
          <a:lstStyle/>
          <a:p/>
        </p:txBody>
      </p:sp>
      <p:sp>
        <p:nvSpPr>
          <p:cNvPr id="25" name="d30"/>
          <p:cNvSpPr/>
          <p:nvPr/>
        </p:nvSpPr>
        <p:spPr>
          <a:xfrm>
            <a:off x="10287000" y="5593080"/>
            <a:ext cx="53340" cy="53340"/>
          </a:xfrm>
          <a:prstGeom prst="ellipse">
            <a:avLst/>
          </a:prstGeom>
          <a:solidFill>
            <a:srgbClr val="6E8FCB"/>
          </a:solidFill>
          <a:ln>
            <a:noFill/>
          </a:ln>
        </p:spPr>
        <p:txBody>
          <a:bodyPr/>
          <a:lstStyle/>
          <a:p/>
        </p:txBody>
      </p:sp>
      <p:sp>
        <p:nvSpPr>
          <p:cNvPr id="26" name="d31"/>
          <p:cNvSpPr/>
          <p:nvPr/>
        </p:nvSpPr>
        <p:spPr>
          <a:xfrm>
            <a:off x="10454640" y="5593080"/>
            <a:ext cx="53340" cy="53340"/>
          </a:xfrm>
          <a:prstGeom prst="ellipse">
            <a:avLst/>
          </a:prstGeom>
          <a:solidFill>
            <a:srgbClr val="6E8FCB"/>
          </a:solidFill>
          <a:ln>
            <a:noFill/>
          </a:ln>
        </p:spPr>
        <p:txBody>
          <a:bodyPr/>
          <a:lstStyle/>
          <a:p/>
        </p:txBody>
      </p:sp>
      <p:sp>
        <p:nvSpPr>
          <p:cNvPr id="27" name="d32"/>
          <p:cNvSpPr/>
          <p:nvPr/>
        </p:nvSpPr>
        <p:spPr>
          <a:xfrm>
            <a:off x="10622280" y="5593080"/>
            <a:ext cx="53340" cy="53340"/>
          </a:xfrm>
          <a:prstGeom prst="ellipse">
            <a:avLst/>
          </a:prstGeom>
          <a:solidFill>
            <a:srgbClr val="6E8FCB"/>
          </a:solidFill>
          <a:ln>
            <a:noFill/>
          </a:ln>
        </p:spPr>
        <p:txBody>
          <a:bodyPr/>
          <a:lstStyle/>
          <a:p/>
        </p:txBody>
      </p:sp>
      <p:sp>
        <p:nvSpPr>
          <p:cNvPr id="28" name="d33"/>
          <p:cNvSpPr/>
          <p:nvPr/>
        </p:nvSpPr>
        <p:spPr>
          <a:xfrm>
            <a:off x="10789920" y="5593080"/>
            <a:ext cx="53340" cy="53340"/>
          </a:xfrm>
          <a:prstGeom prst="ellipse">
            <a:avLst/>
          </a:prstGeom>
          <a:solidFill>
            <a:srgbClr val="6E8FCB"/>
          </a:solidFill>
          <a:ln>
            <a:noFill/>
          </a:ln>
        </p:spPr>
        <p:txBody>
          <a:bodyPr/>
          <a:lstStyle/>
          <a:p/>
        </p:txBody>
      </p:sp>
      <p:sp>
        <p:nvSpPr>
          <p:cNvPr id="29" name="d34"/>
          <p:cNvSpPr/>
          <p:nvPr/>
        </p:nvSpPr>
        <p:spPr>
          <a:xfrm>
            <a:off x="10957560" y="5593080"/>
            <a:ext cx="53340" cy="53340"/>
          </a:xfrm>
          <a:prstGeom prst="ellipse">
            <a:avLst/>
          </a:prstGeom>
          <a:solidFill>
            <a:srgbClr val="6E8FCB"/>
          </a:solidFill>
          <a:ln>
            <a:noFill/>
          </a:ln>
        </p:spPr>
        <p:txBody>
          <a:bodyPr/>
          <a:lstStyle/>
          <a:p/>
        </p:txBody>
      </p:sp>
      <p:sp>
        <p:nvSpPr>
          <p:cNvPr id="30" name="d35"/>
          <p:cNvSpPr/>
          <p:nvPr/>
        </p:nvSpPr>
        <p:spPr>
          <a:xfrm>
            <a:off x="11125200" y="5593080"/>
            <a:ext cx="53340" cy="53340"/>
          </a:xfrm>
          <a:prstGeom prst="ellipse">
            <a:avLst/>
          </a:prstGeom>
          <a:solidFill>
            <a:srgbClr val="6E8FCB"/>
          </a:solidFill>
          <a:ln>
            <a:noFill/>
          </a:ln>
        </p:spPr>
        <p:txBody>
          <a:bodyPr/>
          <a:lstStyle/>
          <a:p/>
        </p:txBody>
      </p:sp>
      <p:sp>
        <p:nvSpPr>
          <p:cNvPr id="31" name="d40"/>
          <p:cNvSpPr/>
          <p:nvPr/>
        </p:nvSpPr>
        <p:spPr>
          <a:xfrm>
            <a:off x="10287000" y="5760720"/>
            <a:ext cx="53340" cy="53340"/>
          </a:xfrm>
          <a:prstGeom prst="ellipse">
            <a:avLst/>
          </a:prstGeom>
          <a:solidFill>
            <a:srgbClr val="6E8FCB"/>
          </a:solidFill>
          <a:ln>
            <a:noFill/>
          </a:ln>
        </p:spPr>
        <p:txBody>
          <a:bodyPr/>
          <a:lstStyle/>
          <a:p/>
        </p:txBody>
      </p:sp>
      <p:sp>
        <p:nvSpPr>
          <p:cNvPr id="32" name="d41"/>
          <p:cNvSpPr/>
          <p:nvPr/>
        </p:nvSpPr>
        <p:spPr>
          <a:xfrm>
            <a:off x="10454640" y="5760720"/>
            <a:ext cx="53340" cy="53340"/>
          </a:xfrm>
          <a:prstGeom prst="ellipse">
            <a:avLst/>
          </a:prstGeom>
          <a:solidFill>
            <a:srgbClr val="6E8FCB"/>
          </a:solidFill>
          <a:ln>
            <a:noFill/>
          </a:ln>
        </p:spPr>
        <p:txBody>
          <a:bodyPr/>
          <a:lstStyle/>
          <a:p/>
        </p:txBody>
      </p:sp>
      <p:sp>
        <p:nvSpPr>
          <p:cNvPr id="33" name="d42"/>
          <p:cNvSpPr/>
          <p:nvPr/>
        </p:nvSpPr>
        <p:spPr>
          <a:xfrm>
            <a:off x="10622280" y="5760720"/>
            <a:ext cx="53340" cy="53340"/>
          </a:xfrm>
          <a:prstGeom prst="ellipse">
            <a:avLst/>
          </a:prstGeom>
          <a:solidFill>
            <a:srgbClr val="6E8FCB"/>
          </a:solidFill>
          <a:ln>
            <a:noFill/>
          </a:ln>
        </p:spPr>
        <p:txBody>
          <a:bodyPr/>
          <a:lstStyle/>
          <a:p/>
        </p:txBody>
      </p:sp>
      <p:sp>
        <p:nvSpPr>
          <p:cNvPr id="34" name="d43"/>
          <p:cNvSpPr/>
          <p:nvPr/>
        </p:nvSpPr>
        <p:spPr>
          <a:xfrm>
            <a:off x="10789920" y="5760720"/>
            <a:ext cx="53340" cy="53340"/>
          </a:xfrm>
          <a:prstGeom prst="ellipse">
            <a:avLst/>
          </a:prstGeom>
          <a:solidFill>
            <a:srgbClr val="6E8FCB"/>
          </a:solidFill>
          <a:ln>
            <a:noFill/>
          </a:ln>
        </p:spPr>
        <p:txBody>
          <a:bodyPr/>
          <a:lstStyle/>
          <a:p/>
        </p:txBody>
      </p:sp>
      <p:sp>
        <p:nvSpPr>
          <p:cNvPr id="35" name="d44"/>
          <p:cNvSpPr/>
          <p:nvPr/>
        </p:nvSpPr>
        <p:spPr>
          <a:xfrm>
            <a:off x="10957560" y="5760720"/>
            <a:ext cx="53340" cy="53340"/>
          </a:xfrm>
          <a:prstGeom prst="ellipse">
            <a:avLst/>
          </a:prstGeom>
          <a:solidFill>
            <a:srgbClr val="6E8FCB"/>
          </a:solidFill>
          <a:ln>
            <a:noFill/>
          </a:ln>
        </p:spPr>
        <p:txBody>
          <a:bodyPr/>
          <a:lstStyle/>
          <a:p/>
        </p:txBody>
      </p:sp>
      <p:sp>
        <p:nvSpPr>
          <p:cNvPr id="36" name="d45"/>
          <p:cNvSpPr/>
          <p:nvPr/>
        </p:nvSpPr>
        <p:spPr>
          <a:xfrm>
            <a:off x="11125200" y="5760720"/>
            <a:ext cx="53340" cy="53340"/>
          </a:xfrm>
          <a:prstGeom prst="ellipse">
            <a:avLst/>
          </a:prstGeom>
          <a:solidFill>
            <a:srgbClr val="6E8FCB"/>
          </a:solidFill>
          <a:ln>
            <a:noFill/>
          </a:ln>
        </p:spPr>
        <p:txBody>
          <a:bodyPr/>
          <a:lstStyle/>
          <a:p/>
        </p:txBody>
      </p:sp>
      <p:sp>
        <p:nvSpPr>
          <p:cNvPr id="37" name="Eyebrow"/>
          <p:cNvSpPr txBox="1"/>
          <p:nvPr/>
        </p:nvSpPr>
        <p:spPr>
          <a:xfrm>
            <a:off x="914400" y="2011680"/>
            <a:ext cx="9000000" cy="300000"/>
          </a:xfrm>
          <a:prstGeom prst="rect">
            <a:avLst/>
          </a:prstGeom>
          <a:noFill/>
        </p:spPr>
        <p:txBody>
          <a:bodyPr wrap="square" anchor="t" lIns="0" rIns="0" tIns="0" bIns="0"/>
          <a:lstStyle/>
          <a:p>
            <a:pPr algn="l"/>
            <a:r>
              <a:rPr sz="1400" b="1" spc="200">
                <a:solidFill>
                  <a:srgbClr val="FCC062"/>
                </a:solidFill>
                <a:latin typeface="Calibri"/>
              </a:rPr>
              <a:t>PRODUCT PROPOSAL · MONEY</a:t>
            </a:r>
          </a:p>
        </p:txBody>
      </p:sp>
      <p:sp>
        <p:nvSpPr>
          <p:cNvPr id="38" name="Title"/>
          <p:cNvSpPr txBox="1"/>
          <p:nvPr/>
        </p:nvSpPr>
        <p:spPr>
          <a:xfrm>
            <a:off x="895000" y="2316480"/>
            <a:ext cx="11000000" cy="1500000"/>
          </a:xfrm>
          <a:prstGeom prst="rect">
            <a:avLst/>
          </a:prstGeom>
          <a:noFill/>
        </p:spPr>
        <p:txBody>
          <a:bodyPr wrap="square" anchor="t" lIns="0" rIns="0" tIns="0" bIns="0"/>
          <a:lstStyle/>
          <a:p>
            <a:pPr algn="l"/>
            <a:r>
              <a:rPr sz="8000" b="1">
                <a:solidFill>
                  <a:srgbClr val="FFFFFF"/>
                </a:solidFill>
                <a:latin typeface="Calibri Light"/>
              </a:rPr>
              <a:t>GetMyMoney</a:t>
            </a:r>
          </a:p>
        </p:txBody>
      </p:sp>
      <p:sp>
        <p:nvSpPr>
          <p:cNvPr id="40" name="Byline"/>
          <p:cNvSpPr txBox="1"/>
          <p:nvPr/>
        </p:nvSpPr>
        <p:spPr>
          <a:xfrm>
            <a:off x="914400" y="5120640"/>
            <a:ext cx="10000000" cy="300000"/>
          </a:xfrm>
          <a:prstGeom prst="rect">
            <a:avLst/>
          </a:prstGeom>
          <a:noFill/>
        </p:spPr>
        <p:txBody>
          <a:bodyPr wrap="square" anchor="t" lIns="0" rIns="0" tIns="0" bIns="0"/>
          <a:lstStyle/>
          <a:p>
            <a:pPr algn="l"/>
            <a:r>
              <a:rPr sz="1300" b="0">
                <a:solidFill>
                  <a:srgbClr val="CADCFC"/>
                </a:solidFill>
                <a:latin typeface="Calibri"/>
              </a:rPr>
              <a:t>Ahmed Yassine  ·  Consumer Direct, Inc.  ·  June 2026</a:t>
            </a:r>
          </a:p>
        </p:txBody>
      </p:sp>
      <p:sp>
        <p:nvSpPr>
          <p:cNvPr id="41" name="Logo"/>
          <p:cNvSpPr txBox="1"/>
          <p:nvPr/>
        </p:nvSpPr>
        <p:spPr>
          <a:xfrm>
            <a:off x="914400" y="6300000"/>
            <a:ext cx="4000000" cy="330000"/>
          </a:xfrm>
          <a:prstGeom prst="rect">
            <a:avLst/>
          </a:prstGeom>
          <a:noFill/>
        </p:spPr>
        <p:txBody>
          <a:bodyPr wrap="square" anchor="t" lIns="0" rIns="0" tIns="0" bIns="0"/>
          <a:lstStyle/>
          <a:p>
            <a:pPr algn="l"/>
            <a:r>
              <a:rPr sz="1500" b="0">
                <a:solidFill>
                  <a:srgbClr val="FFFFFF"/>
                </a:solidFill>
                <a:latin typeface="Calibri"/>
              </a:rPr>
              <a:t>CONSUMER</a:t>
            </a:r>
            <a:r>
              <a:rPr sz="1500" b="1">
                <a:solidFill>
                  <a:srgbClr val="FFFFFF"/>
                </a:solidFill>
                <a:latin typeface="Calibri"/>
              </a:rPr>
              <a:t>DIRECT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88952" cy="6858000"/>
          </a:xfrm>
          <a:prstGeom prst="rect">
            <a:avLst/>
          </a:prstGeom>
          <a:solidFill>
            <a:srgbClr val="F5F4F7"/>
          </a:solidFill>
          <a:ln>
            <a:noFill/>
          </a:ln>
        </p:spPr>
        <p:txBody>
          <a:bodyPr/>
          <a:lstStyle/>
          <a:p/>
        </p:txBody>
      </p:sp>
      <p:sp>
        <p:nvSpPr>
          <p:cNvPr id="3" name="TopBar"/>
          <p:cNvSpPr/>
          <p:nvPr/>
        </p:nvSpPr>
        <p:spPr>
          <a:xfrm>
            <a:off x="0" y="0"/>
            <a:ext cx="12188952" cy="54864"/>
          </a:xfrm>
          <a:prstGeom prst="rect">
            <a:avLst/>
          </a:prstGeom>
          <a:solidFill>
            <a:srgbClr val="3058A3"/>
          </a:solidFill>
          <a:ln>
            <a:noFill/>
          </a:ln>
        </p:spPr>
        <p:txBody>
          <a:bodyPr/>
          <a:lstStyle/>
          <a:p/>
        </p:txBody>
      </p:sp>
      <p:sp>
        <p:nvSpPr>
          <p:cNvPr id="4" name="Logo"/>
          <p:cNvSpPr txBox="1"/>
          <p:nvPr/>
        </p:nvSpPr>
        <p:spPr>
          <a:xfrm>
            <a:off x="457200" y="164592"/>
            <a:ext cx="2286000" cy="329184"/>
          </a:xfrm>
          <a:prstGeom prst="rect">
            <a:avLst/>
          </a:prstGeom>
          <a:noFill/>
        </p:spPr>
        <p:txBody>
          <a:bodyPr wrap="square" anchor="t" lIns="0" rIns="0" tIns="0" bIns="0"/>
          <a:lstStyle/>
          <a:p>
            <a:pPr algn="l"/>
            <a:r>
              <a:rPr sz="1600" b="1">
                <a:solidFill>
                  <a:srgbClr val="493356"/>
                </a:solidFill>
                <a:latin typeface="Calibri"/>
              </a:rPr>
              <a:t>CONSUMER</a:t>
            </a:r>
            <a:r>
              <a:rPr sz="1600" b="1">
                <a:solidFill>
                  <a:srgbClr val="3058A3"/>
                </a:solidFill>
                <a:latin typeface="Calibri"/>
              </a:rPr>
              <a:t>DIRECT</a:t>
            </a:r>
          </a:p>
        </p:txBody>
      </p:sp>
      <p:sp>
        <p:nvSpPr>
          <p:cNvPr id="5" name="tx"/>
          <p:cNvSpPr txBox="1"/>
          <p:nvPr/>
        </p:nvSpPr>
        <p:spPr>
          <a:xfrm>
            <a:off x="457200" y="749808"/>
            <a:ext cx="11430000" cy="560000"/>
          </a:xfrm>
          <a:prstGeom prst="rect">
            <a:avLst/>
          </a:prstGeom>
          <a:noFill/>
        </p:spPr>
        <p:txBody>
          <a:bodyPr wrap="square" anchor="t" lIns="0" rIns="0" tIns="0" bIns="0"/>
          <a:lstStyle/>
          <a:p>
            <a:pPr algn="l"/>
            <a:r>
              <a:rPr sz="2800" b="1">
                <a:solidFill>
                  <a:srgbClr val="493356"/>
                </a:solidFill>
                <a:latin typeface="Calibri"/>
              </a:rPr>
              <a:t>Agenda</a:t>
            </a:r>
          </a:p>
        </p:txBody>
      </p:sp>
      <p:sp>
        <p:nvSpPr>
          <p:cNvPr id="6" name="tx"/>
          <p:cNvSpPr txBox="1"/>
          <p:nvPr/>
        </p:nvSpPr>
        <p:spPr>
          <a:xfrm>
            <a:off x="457200" y="1372000"/>
            <a:ext cx="11430000" cy="420000"/>
          </a:xfrm>
          <a:prstGeom prst="rect">
            <a:avLst/>
          </a:prstGeom>
          <a:noFill/>
        </p:spPr>
        <p:txBody>
          <a:bodyPr wrap="square" anchor="t" lIns="0" rIns="0" tIns="0" bIns="0"/>
          <a:lstStyle/>
          <a:p>
            <a:pPr algn="l"/>
            <a:r>
              <a:rPr sz="1500" b="0">
                <a:solidFill>
                  <a:srgbClr val="414141"/>
                </a:solidFill>
                <a:latin typeface="Calibri"/>
              </a:rPr>
              <a:t>What we’ll cover today.</a:t>
            </a:r>
          </a:p>
        </p:txBody>
      </p:sp>
      <p:sp>
        <p:nvSpPr>
          <p:cNvPr id="7" name="tx"/>
          <p:cNvSpPr txBox="1"/>
          <p:nvPr/>
        </p:nvSpPr>
        <p:spPr>
          <a:xfrm>
            <a:off x="457200" y="6446520"/>
            <a:ext cx="7315200" cy="274320"/>
          </a:xfrm>
          <a:prstGeom prst="rect">
            <a:avLst/>
          </a:prstGeom>
          <a:noFill/>
        </p:spPr>
        <p:txBody>
          <a:bodyPr wrap="square" anchor="t" lIns="0" rIns="0" tIns="0" bIns="0"/>
          <a:lstStyle/>
          <a:p>
            <a:pPr algn="l"/>
            <a:r>
              <a:rPr sz="900" b="0">
                <a:solidFill>
                  <a:srgbClr val="8A8A8A"/>
                </a:solidFill>
                <a:latin typeface="Calibri"/>
              </a:rPr>
              <a:t>GetMyMoney · Confidential — Consumer Direct, Inc.</a:t>
            </a:r>
          </a:p>
        </p:txBody>
      </p:sp>
      <p:sp>
        <p:nvSpPr>
          <p:cNvPr id="8" name="tx"/>
          <p:cNvSpPr txBox="1"/>
          <p:nvPr/>
        </p:nvSpPr>
        <p:spPr>
          <a:xfrm>
            <a:off x="11338560" y="6446520"/>
            <a:ext cx="731520" cy="274320"/>
          </a:xfrm>
          <a:prstGeom prst="rect">
            <a:avLst/>
          </a:prstGeom>
          <a:noFill/>
        </p:spPr>
        <p:txBody>
          <a:bodyPr wrap="square" anchor="t" lIns="0" rIns="0" tIns="0" bIns="0"/>
          <a:lstStyle/>
          <a:p>
            <a:pPr algn="r"/>
            <a:r>
              <a:rPr sz="900" b="0">
                <a:solidFill>
                  <a:srgbClr val="8A8A8A"/>
                </a:solidFill>
                <a:latin typeface="Calibri"/>
              </a:rPr>
              <a:t>2 / 15</a:t>
            </a:r>
          </a:p>
        </p:txBody>
      </p:sp>
      <p:sp>
        <p:nvSpPr>
          <p:cNvPr id="9" name="an"/>
          <p:cNvSpPr/>
          <p:nvPr/>
        </p:nvSpPr>
        <p:spPr>
          <a:xfrm>
            <a:off x="457200" y="2280000"/>
            <a:ext cx="440000" cy="440000"/>
          </a:xfrm>
          <a:prstGeom prst="ellipse">
            <a:avLst/>
          </a:prstGeom>
          <a:solidFill>
            <a:srgbClr val="3058A3"/>
          </a:solidFill>
          <a:ln>
            <a:noFill/>
          </a:ln>
        </p:spPr>
        <p:txBody>
          <a:bodyPr/>
          <a:lstStyle/>
          <a:p/>
        </p:txBody>
      </p:sp>
      <p:sp>
        <p:nvSpPr>
          <p:cNvPr id="10" name="tx"/>
          <p:cNvSpPr txBox="1"/>
          <p:nvPr/>
        </p:nvSpPr>
        <p:spPr>
          <a:xfrm>
            <a:off x="457200" y="2365000"/>
            <a:ext cx="440000" cy="300000"/>
          </a:xfrm>
          <a:prstGeom prst="rect">
            <a:avLst/>
          </a:prstGeom>
          <a:noFill/>
        </p:spPr>
        <p:txBody>
          <a:bodyPr wrap="square" anchor="t" lIns="0" rIns="0" tIns="0" bIns="0"/>
          <a:lstStyle/>
          <a:p>
            <a:pPr algn="ctr"/>
            <a:r>
              <a:rPr sz="1600" b="1">
                <a:solidFill>
                  <a:srgbClr val="FFFFFF"/>
                </a:solidFill>
                <a:latin typeface="Calibri"/>
              </a:rPr>
              <a:t>1</a:t>
            </a:r>
          </a:p>
        </p:txBody>
      </p:sp>
      <p:sp>
        <p:nvSpPr>
          <p:cNvPr id="11" name="tx"/>
          <p:cNvSpPr txBox="1"/>
          <p:nvPr/>
        </p:nvSpPr>
        <p:spPr>
          <a:xfrm>
            <a:off x="1097200" y="2290000"/>
            <a:ext cx="10000000" cy="300000"/>
          </a:xfrm>
          <a:prstGeom prst="rect">
            <a:avLst/>
          </a:prstGeom>
          <a:noFill/>
        </p:spPr>
        <p:txBody>
          <a:bodyPr wrap="square" anchor="t" lIns="0" rIns="0" tIns="0" bIns="0"/>
          <a:lstStyle/>
          <a:p>
            <a:pPr algn="l"/>
            <a:r>
              <a:rPr sz="1600" b="1">
                <a:solidFill>
                  <a:srgbClr val="493356"/>
                </a:solidFill>
                <a:latin typeface="Calibri"/>
              </a:rPr>
              <a:t>The Opportunity</a:t>
            </a:r>
          </a:p>
        </p:txBody>
      </p:sp>
      <p:sp>
        <p:nvSpPr>
          <p:cNvPr id="12" name="tx"/>
          <p:cNvSpPr txBox="1"/>
          <p:nvPr/>
        </p:nvSpPr>
        <p:spPr>
          <a:xfrm>
            <a:off x="1097200" y="2620000"/>
            <a:ext cx="10400000" cy="300000"/>
          </a:xfrm>
          <a:prstGeom prst="rect">
            <a:avLst/>
          </a:prstGeom>
          <a:noFill/>
        </p:spPr>
        <p:txBody>
          <a:bodyPr wrap="square" anchor="t" lIns="0" rIns="0" tIns="0" bIns="0"/>
          <a:lstStyle/>
          <a:p>
            <a:pPr algn="l"/>
            <a:r>
              <a:rPr sz="1200" b="0">
                <a:solidFill>
                  <a:srgbClr val="414141"/>
                </a:solidFill>
                <a:latin typeface="Calibri"/>
              </a:rPr>
              <a:t>What unclaimed property is, and how big it is.</a:t>
            </a:r>
          </a:p>
        </p:txBody>
      </p:sp>
      <p:sp>
        <p:nvSpPr>
          <p:cNvPr id="13" name="an"/>
          <p:cNvSpPr/>
          <p:nvPr/>
        </p:nvSpPr>
        <p:spPr>
          <a:xfrm>
            <a:off x="457200" y="3000000"/>
            <a:ext cx="440000" cy="440000"/>
          </a:xfrm>
          <a:prstGeom prst="ellipse">
            <a:avLst/>
          </a:prstGeom>
          <a:solidFill>
            <a:srgbClr val="3058A3"/>
          </a:solidFill>
          <a:ln>
            <a:noFill/>
          </a:ln>
        </p:spPr>
        <p:txBody>
          <a:bodyPr/>
          <a:lstStyle/>
          <a:p/>
        </p:txBody>
      </p:sp>
      <p:sp>
        <p:nvSpPr>
          <p:cNvPr id="14" name="tx"/>
          <p:cNvSpPr txBox="1"/>
          <p:nvPr/>
        </p:nvSpPr>
        <p:spPr>
          <a:xfrm>
            <a:off x="457200" y="3085000"/>
            <a:ext cx="440000" cy="300000"/>
          </a:xfrm>
          <a:prstGeom prst="rect">
            <a:avLst/>
          </a:prstGeom>
          <a:noFill/>
        </p:spPr>
        <p:txBody>
          <a:bodyPr wrap="square" anchor="t" lIns="0" rIns="0" tIns="0" bIns="0"/>
          <a:lstStyle/>
          <a:p>
            <a:pPr algn="ctr"/>
            <a:r>
              <a:rPr sz="1600" b="1">
                <a:solidFill>
                  <a:srgbClr val="FFFFFF"/>
                </a:solidFill>
                <a:latin typeface="Calibri"/>
              </a:rPr>
              <a:t>2</a:t>
            </a:r>
          </a:p>
        </p:txBody>
      </p:sp>
      <p:sp>
        <p:nvSpPr>
          <p:cNvPr id="15" name="tx"/>
          <p:cNvSpPr txBox="1"/>
          <p:nvPr/>
        </p:nvSpPr>
        <p:spPr>
          <a:xfrm>
            <a:off x="1097200" y="3010000"/>
            <a:ext cx="10000000" cy="300000"/>
          </a:xfrm>
          <a:prstGeom prst="rect">
            <a:avLst/>
          </a:prstGeom>
          <a:noFill/>
        </p:spPr>
        <p:txBody>
          <a:bodyPr wrap="square" anchor="t" lIns="0" rIns="0" tIns="0" bIns="0"/>
          <a:lstStyle/>
          <a:p>
            <a:pPr algn="l"/>
            <a:r>
              <a:rPr sz="1600" b="1">
                <a:solidFill>
                  <a:srgbClr val="493356"/>
                </a:solidFill>
                <a:latin typeface="Calibri"/>
              </a:rPr>
              <a:t>The Feature</a:t>
            </a:r>
          </a:p>
        </p:txBody>
      </p:sp>
      <p:sp>
        <p:nvSpPr>
          <p:cNvPr id="16" name="tx"/>
          <p:cNvSpPr txBox="1"/>
          <p:nvPr/>
        </p:nvSpPr>
        <p:spPr>
          <a:xfrm>
            <a:off x="1097200" y="3340000"/>
            <a:ext cx="10400000" cy="300000"/>
          </a:xfrm>
          <a:prstGeom prst="rect">
            <a:avLst/>
          </a:prstGeom>
          <a:noFill/>
        </p:spPr>
        <p:txBody>
          <a:bodyPr wrap="square" anchor="t" lIns="0" rIns="0" tIns="0" bIns="0"/>
          <a:lstStyle/>
          <a:p>
            <a:pPr algn="l"/>
            <a:r>
              <a:rPr sz="1200" b="0">
                <a:solidFill>
                  <a:srgbClr val="414141"/>
                </a:solidFill>
                <a:latin typeface="Calibri"/>
              </a:rPr>
              <a:t>GetMyMoney: the member experience and the outcomes.</a:t>
            </a:r>
          </a:p>
        </p:txBody>
      </p:sp>
      <p:sp>
        <p:nvSpPr>
          <p:cNvPr id="17" name="an"/>
          <p:cNvSpPr/>
          <p:nvPr/>
        </p:nvSpPr>
        <p:spPr>
          <a:xfrm>
            <a:off x="457200" y="3720000"/>
            <a:ext cx="440000" cy="440000"/>
          </a:xfrm>
          <a:prstGeom prst="ellipse">
            <a:avLst/>
          </a:prstGeom>
          <a:solidFill>
            <a:srgbClr val="3058A3"/>
          </a:solidFill>
          <a:ln>
            <a:noFill/>
          </a:ln>
        </p:spPr>
        <p:txBody>
          <a:bodyPr/>
          <a:lstStyle/>
          <a:p/>
        </p:txBody>
      </p:sp>
      <p:sp>
        <p:nvSpPr>
          <p:cNvPr id="18" name="tx"/>
          <p:cNvSpPr txBox="1"/>
          <p:nvPr/>
        </p:nvSpPr>
        <p:spPr>
          <a:xfrm>
            <a:off x="457200" y="3805000"/>
            <a:ext cx="440000" cy="300000"/>
          </a:xfrm>
          <a:prstGeom prst="rect">
            <a:avLst/>
          </a:prstGeom>
          <a:noFill/>
        </p:spPr>
        <p:txBody>
          <a:bodyPr wrap="square" anchor="t" lIns="0" rIns="0" tIns="0" bIns="0"/>
          <a:lstStyle/>
          <a:p>
            <a:pPr algn="ctr"/>
            <a:r>
              <a:rPr sz="1600" b="1">
                <a:solidFill>
                  <a:srgbClr val="FFFFFF"/>
                </a:solidFill>
                <a:latin typeface="Calibri"/>
              </a:rPr>
              <a:t>3</a:t>
            </a:r>
          </a:p>
        </p:txBody>
      </p:sp>
      <p:sp>
        <p:nvSpPr>
          <p:cNvPr id="19" name="tx"/>
          <p:cNvSpPr txBox="1"/>
          <p:nvPr/>
        </p:nvSpPr>
        <p:spPr>
          <a:xfrm>
            <a:off x="1097200" y="3730000"/>
            <a:ext cx="10000000" cy="300000"/>
          </a:xfrm>
          <a:prstGeom prst="rect">
            <a:avLst/>
          </a:prstGeom>
          <a:noFill/>
        </p:spPr>
        <p:txBody>
          <a:bodyPr wrap="square" anchor="t" lIns="0" rIns="0" tIns="0" bIns="0"/>
          <a:lstStyle/>
          <a:p>
            <a:pPr algn="l"/>
            <a:r>
              <a:rPr sz="1600" b="1">
                <a:solidFill>
                  <a:srgbClr val="493356"/>
                </a:solidFill>
                <a:latin typeface="Calibri"/>
              </a:rPr>
              <a:t>How We Build It</a:t>
            </a:r>
          </a:p>
        </p:txBody>
      </p:sp>
      <p:sp>
        <p:nvSpPr>
          <p:cNvPr id="20" name="tx"/>
          <p:cNvSpPr txBox="1"/>
          <p:nvPr/>
        </p:nvSpPr>
        <p:spPr>
          <a:xfrm>
            <a:off x="1097200" y="4060000"/>
            <a:ext cx="10400000" cy="300000"/>
          </a:xfrm>
          <a:prstGeom prst="rect">
            <a:avLst/>
          </a:prstGeom>
          <a:noFill/>
        </p:spPr>
        <p:txBody>
          <a:bodyPr wrap="square" anchor="t" lIns="0" rIns="0" tIns="0" bIns="0"/>
          <a:lstStyle/>
          <a:p>
            <a:pPr algn="l"/>
            <a:r>
              <a:rPr sz="1200" b="0">
                <a:solidFill>
                  <a:srgbClr val="414141"/>
                </a:solidFill>
                <a:latin typeface="Calibri"/>
              </a:rPr>
              <a:t>Implementation and state-by-state data availability.</a:t>
            </a:r>
          </a:p>
        </p:txBody>
      </p:sp>
      <p:sp>
        <p:nvSpPr>
          <p:cNvPr id="21" name="an"/>
          <p:cNvSpPr/>
          <p:nvPr/>
        </p:nvSpPr>
        <p:spPr>
          <a:xfrm>
            <a:off x="457200" y="4440000"/>
            <a:ext cx="440000" cy="440000"/>
          </a:xfrm>
          <a:prstGeom prst="ellipse">
            <a:avLst/>
          </a:prstGeom>
          <a:solidFill>
            <a:srgbClr val="3058A3"/>
          </a:solidFill>
          <a:ln>
            <a:noFill/>
          </a:ln>
        </p:spPr>
        <p:txBody>
          <a:bodyPr/>
          <a:lstStyle/>
          <a:p/>
        </p:txBody>
      </p:sp>
      <p:sp>
        <p:nvSpPr>
          <p:cNvPr id="22" name="tx"/>
          <p:cNvSpPr txBox="1"/>
          <p:nvPr/>
        </p:nvSpPr>
        <p:spPr>
          <a:xfrm>
            <a:off x="457200" y="4525000"/>
            <a:ext cx="440000" cy="300000"/>
          </a:xfrm>
          <a:prstGeom prst="rect">
            <a:avLst/>
          </a:prstGeom>
          <a:noFill/>
        </p:spPr>
        <p:txBody>
          <a:bodyPr wrap="square" anchor="t" lIns="0" rIns="0" tIns="0" bIns="0"/>
          <a:lstStyle/>
          <a:p>
            <a:pPr algn="ctr"/>
            <a:r>
              <a:rPr sz="1600" b="1">
                <a:solidFill>
                  <a:srgbClr val="FFFFFF"/>
                </a:solidFill>
                <a:latin typeface="Calibri"/>
              </a:rPr>
              <a:t>4</a:t>
            </a:r>
          </a:p>
        </p:txBody>
      </p:sp>
      <p:sp>
        <p:nvSpPr>
          <p:cNvPr id="23" name="tx"/>
          <p:cNvSpPr txBox="1"/>
          <p:nvPr/>
        </p:nvSpPr>
        <p:spPr>
          <a:xfrm>
            <a:off x="1097200" y="4450000"/>
            <a:ext cx="10000000" cy="300000"/>
          </a:xfrm>
          <a:prstGeom prst="rect">
            <a:avLst/>
          </a:prstGeom>
          <a:noFill/>
        </p:spPr>
        <p:txBody>
          <a:bodyPr wrap="square" anchor="t" lIns="0" rIns="0" tIns="0" bIns="0"/>
          <a:lstStyle/>
          <a:p>
            <a:pPr algn="l"/>
            <a:r>
              <a:rPr sz="1600" b="1">
                <a:solidFill>
                  <a:srgbClr val="493356"/>
                </a:solidFill>
                <a:latin typeface="Calibri"/>
              </a:rPr>
              <a:t>Go-To-Market</a:t>
            </a:r>
          </a:p>
        </p:txBody>
      </p:sp>
      <p:sp>
        <p:nvSpPr>
          <p:cNvPr id="24" name="tx"/>
          <p:cNvSpPr txBox="1"/>
          <p:nvPr/>
        </p:nvSpPr>
        <p:spPr>
          <a:xfrm>
            <a:off x="1097200" y="4780000"/>
            <a:ext cx="10400000" cy="300000"/>
          </a:xfrm>
          <a:prstGeom prst="rect">
            <a:avLst/>
          </a:prstGeom>
          <a:noFill/>
        </p:spPr>
        <p:txBody>
          <a:bodyPr wrap="square" anchor="t" lIns="0" rIns="0" tIns="0" bIns="0"/>
          <a:lstStyle/>
          <a:p>
            <a:pPr algn="l"/>
            <a:r>
              <a:rPr sz="1200" b="0">
                <a:solidFill>
                  <a:srgbClr val="414141"/>
                </a:solidFill>
                <a:latin typeface="Calibri"/>
              </a:rPr>
              <a:t>Rollout, the consumer landing page, and compliance.</a:t>
            </a:r>
          </a:p>
        </p:txBody>
      </p:sp>
      <p:sp>
        <p:nvSpPr>
          <p:cNvPr id="25" name="an"/>
          <p:cNvSpPr/>
          <p:nvPr/>
        </p:nvSpPr>
        <p:spPr>
          <a:xfrm>
            <a:off x="457200" y="5160000"/>
            <a:ext cx="440000" cy="440000"/>
          </a:xfrm>
          <a:prstGeom prst="ellipse">
            <a:avLst/>
          </a:prstGeom>
          <a:solidFill>
            <a:srgbClr val="3058A3"/>
          </a:solidFill>
          <a:ln>
            <a:noFill/>
          </a:ln>
        </p:spPr>
        <p:txBody>
          <a:bodyPr/>
          <a:lstStyle/>
          <a:p/>
        </p:txBody>
      </p:sp>
      <p:sp>
        <p:nvSpPr>
          <p:cNvPr id="26" name="tx"/>
          <p:cNvSpPr txBox="1"/>
          <p:nvPr/>
        </p:nvSpPr>
        <p:spPr>
          <a:xfrm>
            <a:off x="457200" y="5245000"/>
            <a:ext cx="440000" cy="300000"/>
          </a:xfrm>
          <a:prstGeom prst="rect">
            <a:avLst/>
          </a:prstGeom>
          <a:noFill/>
        </p:spPr>
        <p:txBody>
          <a:bodyPr wrap="square" anchor="t" lIns="0" rIns="0" tIns="0" bIns="0"/>
          <a:lstStyle/>
          <a:p>
            <a:pPr algn="ctr"/>
            <a:r>
              <a:rPr sz="1600" b="1">
                <a:solidFill>
                  <a:srgbClr val="FFFFFF"/>
                </a:solidFill>
                <a:latin typeface="Calibri"/>
              </a:rPr>
              <a:t>5</a:t>
            </a:r>
          </a:p>
        </p:txBody>
      </p:sp>
      <p:sp>
        <p:nvSpPr>
          <p:cNvPr id="27" name="tx"/>
          <p:cNvSpPr txBox="1"/>
          <p:nvPr/>
        </p:nvSpPr>
        <p:spPr>
          <a:xfrm>
            <a:off x="1097200" y="5170000"/>
            <a:ext cx="10000000" cy="300000"/>
          </a:xfrm>
          <a:prstGeom prst="rect">
            <a:avLst/>
          </a:prstGeom>
          <a:noFill/>
        </p:spPr>
        <p:txBody>
          <a:bodyPr wrap="square" anchor="t" lIns="0" rIns="0" tIns="0" bIns="0"/>
          <a:lstStyle/>
          <a:p>
            <a:pPr algn="l"/>
            <a:r>
              <a:rPr sz="1600" b="1">
                <a:solidFill>
                  <a:srgbClr val="493356"/>
                </a:solidFill>
                <a:latin typeface="Calibri"/>
              </a:rPr>
              <a:t>The Plan</a:t>
            </a:r>
          </a:p>
        </p:txBody>
      </p:sp>
      <p:sp>
        <p:nvSpPr>
          <p:cNvPr id="28" name="tx"/>
          <p:cNvSpPr txBox="1"/>
          <p:nvPr/>
        </p:nvSpPr>
        <p:spPr>
          <a:xfrm>
            <a:off x="1097200" y="5500000"/>
            <a:ext cx="10400000" cy="300000"/>
          </a:xfrm>
          <a:prstGeom prst="rect">
            <a:avLst/>
          </a:prstGeom>
          <a:noFill/>
        </p:spPr>
        <p:txBody>
          <a:bodyPr wrap="square" anchor="t" lIns="0" rIns="0" tIns="0" bIns="0"/>
          <a:lstStyle/>
          <a:p>
            <a:pPr algn="l"/>
            <a:r>
              <a:rPr sz="1200" b="0">
                <a:solidFill>
                  <a:srgbClr val="414141"/>
                </a:solidFill>
                <a:latin typeface="Calibri"/>
              </a:rPr>
              <a:t>Timeline, success metrics, and the ask.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88952" cy="6858000"/>
          </a:xfrm>
          <a:prstGeom prst="rect">
            <a:avLst/>
          </a:prstGeom>
          <a:solidFill>
            <a:srgbClr val="F5F4F7"/>
          </a:solidFill>
          <a:ln>
            <a:noFill/>
          </a:ln>
        </p:spPr>
        <p:txBody>
          <a:bodyPr/>
          <a:lstStyle/>
          <a:p/>
        </p:txBody>
      </p:sp>
      <p:sp>
        <p:nvSpPr>
          <p:cNvPr id="3" name="TopBar"/>
          <p:cNvSpPr/>
          <p:nvPr/>
        </p:nvSpPr>
        <p:spPr>
          <a:xfrm>
            <a:off x="0" y="0"/>
            <a:ext cx="12188952" cy="54864"/>
          </a:xfrm>
          <a:prstGeom prst="rect">
            <a:avLst/>
          </a:prstGeom>
          <a:solidFill>
            <a:srgbClr val="3058A3"/>
          </a:solidFill>
          <a:ln>
            <a:noFill/>
          </a:ln>
        </p:spPr>
        <p:txBody>
          <a:bodyPr/>
          <a:lstStyle/>
          <a:p/>
        </p:txBody>
      </p:sp>
      <p:sp>
        <p:nvSpPr>
          <p:cNvPr id="4" name="Logo"/>
          <p:cNvSpPr txBox="1"/>
          <p:nvPr/>
        </p:nvSpPr>
        <p:spPr>
          <a:xfrm>
            <a:off x="457200" y="164592"/>
            <a:ext cx="2286000" cy="329184"/>
          </a:xfrm>
          <a:prstGeom prst="rect">
            <a:avLst/>
          </a:prstGeom>
          <a:noFill/>
        </p:spPr>
        <p:txBody>
          <a:bodyPr wrap="square" anchor="t" lIns="0" rIns="0" tIns="0" bIns="0"/>
          <a:lstStyle/>
          <a:p>
            <a:pPr algn="l"/>
            <a:r>
              <a:rPr sz="1600" b="1">
                <a:solidFill>
                  <a:srgbClr val="493356"/>
                </a:solidFill>
                <a:latin typeface="Calibri"/>
              </a:rPr>
              <a:t>CONSUMER</a:t>
            </a:r>
            <a:r>
              <a:rPr sz="1600" b="1">
                <a:solidFill>
                  <a:srgbClr val="3058A3"/>
                </a:solidFill>
                <a:latin typeface="Calibri"/>
              </a:rPr>
              <a:t>DIRECT</a:t>
            </a:r>
          </a:p>
        </p:txBody>
      </p:sp>
      <p:sp>
        <p:nvSpPr>
          <p:cNvPr id="5" name="Title"/>
          <p:cNvSpPr txBox="1"/>
          <p:nvPr/>
        </p:nvSpPr>
        <p:spPr>
          <a:xfrm>
            <a:off x="457200" y="749808"/>
            <a:ext cx="11430000" cy="560000"/>
          </a:xfrm>
          <a:prstGeom prst="rect">
            <a:avLst/>
          </a:prstGeom>
          <a:noFill/>
        </p:spPr>
        <p:txBody>
          <a:bodyPr wrap="square" anchor="t" lIns="0" rIns="0" tIns="0" bIns="0"/>
          <a:lstStyle/>
          <a:p>
            <a:pPr algn="l"/>
            <a:r>
              <a:rPr sz="2800" b="1">
                <a:solidFill>
                  <a:srgbClr val="493356"/>
                </a:solidFill>
                <a:latin typeface="Calibri"/>
              </a:rPr>
              <a:t>What Is Unclaimed Property?</a:t>
            </a:r>
          </a:p>
        </p:txBody>
      </p:sp>
      <p:sp>
        <p:nvSpPr>
          <p:cNvPr id="6" name="Subtitle"/>
          <p:cNvSpPr txBox="1"/>
          <p:nvPr/>
        </p:nvSpPr>
        <p:spPr>
          <a:xfrm>
            <a:off x="457200" y="1372000"/>
            <a:ext cx="11430000" cy="420000"/>
          </a:xfrm>
          <a:prstGeom prst="rect">
            <a:avLst/>
          </a:prstGeom>
          <a:noFill/>
        </p:spPr>
        <p:txBody>
          <a:bodyPr wrap="square" anchor="t" lIns="0" rIns="0" tIns="0" bIns="0"/>
          <a:lstStyle/>
          <a:p>
            <a:pPr algn="l"/>
            <a:r>
              <a:rPr sz="1500" b="0">
                <a:solidFill>
                  <a:srgbClr val="414141"/>
                </a:solidFill>
                <a:latin typeface="Calibri"/>
              </a:rPr>
              <a:t>Money owed to you that a company holding it lost track of.</a:t>
            </a:r>
          </a:p>
        </p:txBody>
      </p:sp>
      <p:sp>
        <p:nvSpPr>
          <p:cNvPr id="7" name="FootL"/>
          <p:cNvSpPr txBox="1"/>
          <p:nvPr/>
        </p:nvSpPr>
        <p:spPr>
          <a:xfrm>
            <a:off x="457200" y="6446520"/>
            <a:ext cx="7315200" cy="274320"/>
          </a:xfrm>
          <a:prstGeom prst="rect">
            <a:avLst/>
          </a:prstGeom>
          <a:noFill/>
        </p:spPr>
        <p:txBody>
          <a:bodyPr wrap="square" anchor="t" lIns="0" rIns="0" tIns="0" bIns="0"/>
          <a:lstStyle/>
          <a:p>
            <a:pPr algn="l"/>
            <a:r>
              <a:rPr sz="900" b="0">
                <a:solidFill>
                  <a:srgbClr val="8A8A8A"/>
                </a:solidFill>
                <a:latin typeface="Calibri"/>
              </a:rPr>
              <a:t>GetMyMoney · Confidential — Consumer Direct, Inc.</a:t>
            </a:r>
          </a:p>
        </p:txBody>
      </p:sp>
      <p:sp>
        <p:nvSpPr>
          <p:cNvPr id="8" name="FootR"/>
          <p:cNvSpPr txBox="1"/>
          <p:nvPr/>
        </p:nvSpPr>
        <p:spPr>
          <a:xfrm>
            <a:off x="11338560" y="6446520"/>
            <a:ext cx="731520" cy="274320"/>
          </a:xfrm>
          <a:prstGeom prst="rect">
            <a:avLst/>
          </a:prstGeom>
          <a:noFill/>
        </p:spPr>
        <p:txBody>
          <a:bodyPr wrap="square" anchor="t" lIns="0" rIns="0" tIns="0" bIns="0"/>
          <a:lstStyle/>
          <a:p>
            <a:pPr algn="r"/>
            <a:r>
              <a:rPr sz="900" b="0">
                <a:solidFill>
                  <a:srgbClr val="8A8A8A"/>
                </a:solidFill>
                <a:latin typeface="Calibri"/>
              </a:rPr>
              <a:t>3 / 15</a:t>
            </a:r>
          </a:p>
        </p:txBody>
      </p:sp>
      <p:sp>
        <p:nvSpPr>
          <p:cNvPr id="9" name="defcard"/>
          <p:cNvSpPr/>
          <p:nvPr/>
        </p:nvSpPr>
        <p:spPr>
          <a:xfrm>
            <a:off x="457200" y="1900000"/>
            <a:ext cx="5560000" cy="1760000"/>
          </a:xfrm>
          <a:prstGeom prst="roundRect">
            <a:avLst>
              <a:gd name="adj" fmla="val 6000"/>
            </a:avLst>
          </a:prstGeom>
          <a:solidFill>
            <a:srgbClr val="FFFFFF"/>
          </a:solidFill>
          <a:ln>
            <a:noFill/>
          </a:ln>
        </p:spPr>
        <p:txBody>
          <a:bodyPr/>
          <a:lstStyle/>
          <a:p/>
        </p:txBody>
      </p:sp>
      <p:sp>
        <p:nvSpPr>
          <p:cNvPr id="10" name="defacc"/>
          <p:cNvSpPr/>
          <p:nvPr/>
        </p:nvSpPr>
        <p:spPr>
          <a:xfrm>
            <a:off x="457200" y="1900000"/>
            <a:ext cx="68580" cy="1760000"/>
          </a:xfrm>
          <a:prstGeom prst="roundRect">
            <a:avLst>
              <a:gd name="adj" fmla="val 30000"/>
            </a:avLst>
          </a:prstGeom>
          <a:solidFill>
            <a:srgbClr val="493356"/>
          </a:solidFill>
          <a:ln>
            <a:noFill/>
          </a:ln>
        </p:spPr>
        <p:txBody>
          <a:bodyPr/>
          <a:lstStyle/>
          <a:p/>
        </p:txBody>
      </p:sp>
      <p:sp>
        <p:nvSpPr>
          <p:cNvPr id="11" name="tx"/>
          <p:cNvSpPr txBox="1"/>
          <p:nvPr/>
        </p:nvSpPr>
        <p:spPr>
          <a:xfrm>
            <a:off x="667200" y="2060000"/>
            <a:ext cx="5180000" cy="210000"/>
          </a:xfrm>
          <a:prstGeom prst="rect">
            <a:avLst/>
          </a:prstGeom>
          <a:noFill/>
        </p:spPr>
        <p:txBody>
          <a:bodyPr wrap="square" anchor="t" lIns="0" rIns="0" tIns="0" bIns="0"/>
          <a:lstStyle/>
          <a:p>
            <a:pPr algn="l"/>
            <a:r>
              <a:rPr sz="900" b="1" spc="100">
                <a:solidFill>
                  <a:srgbClr val="8A8A8A"/>
                </a:solidFill>
                <a:latin typeface="Calibri"/>
              </a:rPr>
              <a:t>THE BASICS</a:t>
            </a:r>
          </a:p>
        </p:txBody>
      </p:sp>
      <p:sp>
        <p:nvSpPr>
          <p:cNvPr id="12" name="tx"/>
          <p:cNvSpPr txBox="1"/>
          <p:nvPr/>
        </p:nvSpPr>
        <p:spPr>
          <a:xfrm>
            <a:off x="667200" y="2310000"/>
            <a:ext cx="5160000" cy="1250000"/>
          </a:xfrm>
          <a:prstGeom prst="rect">
            <a:avLst/>
          </a:prstGeom>
          <a:noFill/>
        </p:spPr>
        <p:txBody>
          <a:bodyPr wrap="square" anchor="t" lIns="0" rIns="0" tIns="0" bIns="0"/>
          <a:lstStyle/>
          <a:p>
            <a:pPr algn="l">
              <a:lnSpc>
                <a:spcPct val="112000"/>
              </a:lnSpc>
            </a:pPr>
            <a:r>
              <a:rPr sz="1100" b="0">
                <a:solidFill>
                  <a:srgbClr val="414141"/>
                </a:solidFill>
                <a:latin typeface="Calibri"/>
              </a:rPr>
              <a:t>When a bank, employer, insurer, or utility can’t reach the owner of an account or balance for a set period (typically 1–3 years), state law makes them hand it to the state. It sits there — in the owner’s name — until someone claims it.</a:t>
            </a:r>
          </a:p>
        </p:txBody>
      </p:sp>
      <p:sp>
        <p:nvSpPr>
          <p:cNvPr id="13" name="statcard"/>
          <p:cNvSpPr/>
          <p:nvPr/>
        </p:nvSpPr>
        <p:spPr>
          <a:xfrm>
            <a:off x="6300000" y="1900000"/>
            <a:ext cx="2595876" cy="1760000"/>
          </a:xfrm>
          <a:prstGeom prst="roundRect">
            <a:avLst>
              <a:gd name="adj" fmla="val 8000"/>
            </a:avLst>
          </a:prstGeom>
          <a:solidFill>
            <a:srgbClr val="FFFFFF"/>
          </a:solidFill>
          <a:ln>
            <a:noFill/>
          </a:ln>
        </p:spPr>
        <p:txBody>
          <a:bodyPr/>
          <a:lstStyle/>
          <a:p/>
        </p:txBody>
      </p:sp>
      <p:sp>
        <p:nvSpPr>
          <p:cNvPr id="14" name="statstrip"/>
          <p:cNvSpPr/>
          <p:nvPr/>
        </p:nvSpPr>
        <p:spPr>
          <a:xfrm>
            <a:off x="6300000" y="1900000"/>
            <a:ext cx="2595876" cy="90000"/>
          </a:xfrm>
          <a:prstGeom prst="rect">
            <a:avLst/>
          </a:prstGeom>
          <a:solidFill>
            <a:srgbClr val="EF5E33"/>
          </a:solidFill>
          <a:ln>
            <a:noFill/>
          </a:ln>
        </p:spPr>
        <p:txBody>
          <a:bodyPr/>
          <a:lstStyle/>
          <a:p/>
        </p:txBody>
      </p:sp>
      <p:sp>
        <p:nvSpPr>
          <p:cNvPr id="15" name="tx"/>
          <p:cNvSpPr txBox="1"/>
          <p:nvPr/>
        </p:nvSpPr>
        <p:spPr>
          <a:xfrm>
            <a:off x="6450000" y="2230000"/>
            <a:ext cx="2295876" cy="650000"/>
          </a:xfrm>
          <a:prstGeom prst="rect">
            <a:avLst/>
          </a:prstGeom>
          <a:noFill/>
        </p:spPr>
        <p:txBody>
          <a:bodyPr wrap="square" anchor="t" lIns="0" rIns="0" tIns="0" bIns="0"/>
          <a:lstStyle/>
          <a:p>
            <a:pPr algn="l"/>
            <a:r>
              <a:rPr sz="4400" b="1">
                <a:solidFill>
                  <a:srgbClr val="EF5E33"/>
                </a:solidFill>
                <a:latin typeface="Calibri"/>
              </a:rPr>
              <a:t>~$70B</a:t>
            </a:r>
          </a:p>
        </p:txBody>
      </p:sp>
      <p:sp>
        <p:nvSpPr>
          <p:cNvPr id="16" name="tx"/>
          <p:cNvSpPr txBox="1"/>
          <p:nvPr/>
        </p:nvSpPr>
        <p:spPr>
          <a:xfrm>
            <a:off x="6450000" y="2980000"/>
            <a:ext cx="2295876" cy="500000"/>
          </a:xfrm>
          <a:prstGeom prst="rect">
            <a:avLst/>
          </a:prstGeom>
          <a:noFill/>
        </p:spPr>
        <p:txBody>
          <a:bodyPr wrap="square" anchor="t" lIns="0" rIns="0" tIns="0" bIns="0"/>
          <a:lstStyle/>
          <a:p>
            <a:pPr algn="l">
              <a:lnSpc>
                <a:spcPct val="108000"/>
              </a:lnSpc>
            </a:pPr>
            <a:r>
              <a:rPr sz="1100" b="0">
                <a:solidFill>
                  <a:srgbClr val="414141"/>
                </a:solidFill>
                <a:latin typeface="Calibri"/>
              </a:rPr>
              <a:t>sitting with state treasurers nationwide</a:t>
            </a:r>
          </a:p>
        </p:txBody>
      </p:sp>
      <p:sp>
        <p:nvSpPr>
          <p:cNvPr id="17" name="statcard"/>
          <p:cNvSpPr/>
          <p:nvPr/>
        </p:nvSpPr>
        <p:spPr>
          <a:xfrm>
            <a:off x="9135876" y="1900000"/>
            <a:ext cx="2595876" cy="1760000"/>
          </a:xfrm>
          <a:prstGeom prst="roundRect">
            <a:avLst>
              <a:gd name="adj" fmla="val 8000"/>
            </a:avLst>
          </a:prstGeom>
          <a:solidFill>
            <a:srgbClr val="FFFFFF"/>
          </a:solidFill>
          <a:ln>
            <a:noFill/>
          </a:ln>
        </p:spPr>
        <p:txBody>
          <a:bodyPr/>
          <a:lstStyle/>
          <a:p/>
        </p:txBody>
      </p:sp>
      <p:sp>
        <p:nvSpPr>
          <p:cNvPr id="18" name="statstrip"/>
          <p:cNvSpPr/>
          <p:nvPr/>
        </p:nvSpPr>
        <p:spPr>
          <a:xfrm>
            <a:off x="9135876" y="1900000"/>
            <a:ext cx="2595876" cy="90000"/>
          </a:xfrm>
          <a:prstGeom prst="rect">
            <a:avLst/>
          </a:prstGeom>
          <a:solidFill>
            <a:srgbClr val="3058A3"/>
          </a:solidFill>
          <a:ln>
            <a:noFill/>
          </a:ln>
        </p:spPr>
        <p:txBody>
          <a:bodyPr/>
          <a:lstStyle/>
          <a:p/>
        </p:txBody>
      </p:sp>
      <p:sp>
        <p:nvSpPr>
          <p:cNvPr id="19" name="tx"/>
          <p:cNvSpPr txBox="1"/>
          <p:nvPr/>
        </p:nvSpPr>
        <p:spPr>
          <a:xfrm>
            <a:off x="9285876" y="2230000"/>
            <a:ext cx="2295876" cy="650000"/>
          </a:xfrm>
          <a:prstGeom prst="rect">
            <a:avLst/>
          </a:prstGeom>
          <a:noFill/>
        </p:spPr>
        <p:txBody>
          <a:bodyPr wrap="square" anchor="t" lIns="0" rIns="0" tIns="0" bIns="0"/>
          <a:lstStyle/>
          <a:p>
            <a:pPr algn="l"/>
            <a:r>
              <a:rPr sz="4400" b="1">
                <a:solidFill>
                  <a:srgbClr val="3058A3"/>
                </a:solidFill>
                <a:latin typeface="Calibri"/>
              </a:rPr>
              <a:t>~33M</a:t>
            </a:r>
          </a:p>
        </p:txBody>
      </p:sp>
      <p:sp>
        <p:nvSpPr>
          <p:cNvPr id="20" name="tx"/>
          <p:cNvSpPr txBox="1"/>
          <p:nvPr/>
        </p:nvSpPr>
        <p:spPr>
          <a:xfrm>
            <a:off x="9285876" y="2980000"/>
            <a:ext cx="2295876" cy="500000"/>
          </a:xfrm>
          <a:prstGeom prst="rect">
            <a:avLst/>
          </a:prstGeom>
          <a:noFill/>
        </p:spPr>
        <p:txBody>
          <a:bodyPr wrap="square" anchor="t" lIns="0" rIns="0" tIns="0" bIns="0"/>
          <a:lstStyle/>
          <a:p>
            <a:pPr algn="l">
              <a:lnSpc>
                <a:spcPct val="108000"/>
              </a:lnSpc>
            </a:pPr>
            <a:r>
              <a:rPr sz="1100" b="0">
                <a:solidFill>
                  <a:srgbClr val="414141"/>
                </a:solidFill>
                <a:latin typeface="Calibri"/>
              </a:rPr>
              <a:t>Americans have unclaimed property waiting</a:t>
            </a:r>
          </a:p>
        </p:txBody>
      </p:sp>
      <p:sp>
        <p:nvSpPr>
          <p:cNvPr id="21" name="tx"/>
          <p:cNvSpPr txBox="1"/>
          <p:nvPr/>
        </p:nvSpPr>
        <p:spPr>
          <a:xfrm>
            <a:off x="6300000" y="3700000"/>
            <a:ext cx="5431752" cy="200000"/>
          </a:xfrm>
          <a:prstGeom prst="rect">
            <a:avLst/>
          </a:prstGeom>
          <a:noFill/>
        </p:spPr>
        <p:txBody>
          <a:bodyPr wrap="square" anchor="t" lIns="0" rIns="0" tIns="0" bIns="0"/>
          <a:lstStyle/>
          <a:p>
            <a:pPr algn="l"/>
            <a:r>
              <a:rPr sz="850" b="0" i="1">
                <a:solidFill>
                  <a:srgbClr val="8A8A8A"/>
                </a:solidFill>
                <a:latin typeface="Calibri"/>
              </a:rPr>
              <a:t>Source: NAUPA, FY2024</a:t>
            </a:r>
          </a:p>
        </p:txBody>
      </p:sp>
      <p:sp>
        <p:nvSpPr>
          <p:cNvPr id="22" name="tx"/>
          <p:cNvSpPr txBox="1"/>
          <p:nvPr/>
        </p:nvSpPr>
        <p:spPr>
          <a:xfrm>
            <a:off x="457200" y="3920000"/>
            <a:ext cx="11430000" cy="230000"/>
          </a:xfrm>
          <a:prstGeom prst="rect">
            <a:avLst/>
          </a:prstGeom>
          <a:noFill/>
        </p:spPr>
        <p:txBody>
          <a:bodyPr wrap="square" anchor="t" lIns="0" rIns="0" tIns="0" bIns="0"/>
          <a:lstStyle/>
          <a:p>
            <a:pPr algn="l"/>
            <a:r>
              <a:rPr sz="1000" b="1" spc="100">
                <a:solidFill>
                  <a:srgbClr val="3058A3"/>
                </a:solidFill>
                <a:latin typeface="Calibri"/>
              </a:rPr>
              <a:t>COMMON SOURCES</a:t>
            </a:r>
          </a:p>
        </p:txBody>
      </p:sp>
      <p:sp>
        <p:nvSpPr>
          <p:cNvPr id="23" name="srccard"/>
          <p:cNvSpPr/>
          <p:nvPr/>
        </p:nvSpPr>
        <p:spPr>
          <a:xfrm>
            <a:off x="457200" y="4200000"/>
            <a:ext cx="2653638" cy="1560000"/>
          </a:xfrm>
          <a:prstGeom prst="roundRect">
            <a:avLst>
              <a:gd name="adj" fmla="val 8000"/>
            </a:avLst>
          </a:prstGeom>
          <a:solidFill>
            <a:srgbClr val="FFFFFF"/>
          </a:solidFill>
          <a:ln>
            <a:noFill/>
          </a:ln>
        </p:spPr>
        <p:txBody>
          <a:bodyPr/>
          <a:lstStyle/>
          <a:p/>
        </p:txBody>
      </p:sp>
      <p:sp>
        <p:nvSpPr>
          <p:cNvPr id="24" name="dot"/>
          <p:cNvSpPr/>
          <p:nvPr/>
        </p:nvSpPr>
        <p:spPr>
          <a:xfrm>
            <a:off x="657200" y="4410000"/>
            <a:ext cx="300000" cy="300000"/>
          </a:xfrm>
          <a:prstGeom prst="ellipse">
            <a:avLst/>
          </a:prstGeom>
          <a:solidFill>
            <a:srgbClr val="3058A3"/>
          </a:solidFill>
          <a:ln>
            <a:noFill/>
          </a:ln>
        </p:spPr>
        <p:txBody>
          <a:bodyPr/>
          <a:lstStyle/>
          <a:p/>
        </p:txBody>
      </p:sp>
      <p:sp>
        <p:nvSpPr>
          <p:cNvPr id="25" name="tx"/>
          <p:cNvSpPr txBox="1"/>
          <p:nvPr/>
        </p:nvSpPr>
        <p:spPr>
          <a:xfrm>
            <a:off x="657200" y="4840000"/>
            <a:ext cx="2293638" cy="280000"/>
          </a:xfrm>
          <a:prstGeom prst="rect">
            <a:avLst/>
          </a:prstGeom>
          <a:noFill/>
        </p:spPr>
        <p:txBody>
          <a:bodyPr wrap="square" anchor="t" lIns="0" rIns="0" tIns="0" bIns="0"/>
          <a:lstStyle/>
          <a:p>
            <a:pPr algn="l"/>
            <a:r>
              <a:rPr sz="1200" b="1">
                <a:solidFill>
                  <a:srgbClr val="493356"/>
                </a:solidFill>
                <a:latin typeface="Calibri"/>
              </a:rPr>
              <a:t>Bank accounts</a:t>
            </a:r>
          </a:p>
        </p:txBody>
      </p:sp>
      <p:sp>
        <p:nvSpPr>
          <p:cNvPr id="26" name="tx"/>
          <p:cNvSpPr txBox="1"/>
          <p:nvPr/>
        </p:nvSpPr>
        <p:spPr>
          <a:xfrm>
            <a:off x="657200" y="5140000"/>
            <a:ext cx="2293638" cy="500000"/>
          </a:xfrm>
          <a:prstGeom prst="rect">
            <a:avLst/>
          </a:prstGeom>
          <a:noFill/>
        </p:spPr>
        <p:txBody>
          <a:bodyPr wrap="square" anchor="t" lIns="0" rIns="0" tIns="0" bIns="0"/>
          <a:lstStyle/>
          <a:p>
            <a:pPr algn="l">
              <a:lnSpc>
                <a:spcPct val="106000"/>
              </a:lnSpc>
            </a:pPr>
            <a:r>
              <a:rPr sz="1000" b="0">
                <a:solidFill>
                  <a:srgbClr val="414141"/>
                </a:solidFill>
                <a:latin typeface="Calibri"/>
              </a:rPr>
              <a:t>Dormant savings, checking, CDs</a:t>
            </a:r>
          </a:p>
        </p:txBody>
      </p:sp>
      <p:sp>
        <p:nvSpPr>
          <p:cNvPr id="27" name="srccard"/>
          <p:cNvSpPr/>
          <p:nvPr/>
        </p:nvSpPr>
        <p:spPr>
          <a:xfrm>
            <a:off x="3330838" y="4200000"/>
            <a:ext cx="2653638" cy="1560000"/>
          </a:xfrm>
          <a:prstGeom prst="roundRect">
            <a:avLst>
              <a:gd name="adj" fmla="val 8000"/>
            </a:avLst>
          </a:prstGeom>
          <a:solidFill>
            <a:srgbClr val="FFFFFF"/>
          </a:solidFill>
          <a:ln>
            <a:noFill/>
          </a:ln>
        </p:spPr>
        <p:txBody>
          <a:bodyPr/>
          <a:lstStyle/>
          <a:p/>
        </p:txBody>
      </p:sp>
      <p:sp>
        <p:nvSpPr>
          <p:cNvPr id="28" name="dot"/>
          <p:cNvSpPr/>
          <p:nvPr/>
        </p:nvSpPr>
        <p:spPr>
          <a:xfrm>
            <a:off x="3530838" y="4410000"/>
            <a:ext cx="300000" cy="300000"/>
          </a:xfrm>
          <a:prstGeom prst="ellipse">
            <a:avLst/>
          </a:prstGeom>
          <a:solidFill>
            <a:srgbClr val="FCC062"/>
          </a:solidFill>
          <a:ln>
            <a:noFill/>
          </a:ln>
        </p:spPr>
        <p:txBody>
          <a:bodyPr/>
          <a:lstStyle/>
          <a:p/>
        </p:txBody>
      </p:sp>
      <p:sp>
        <p:nvSpPr>
          <p:cNvPr id="29" name="tx"/>
          <p:cNvSpPr txBox="1"/>
          <p:nvPr/>
        </p:nvSpPr>
        <p:spPr>
          <a:xfrm>
            <a:off x="3530838" y="4840000"/>
            <a:ext cx="2293638" cy="280000"/>
          </a:xfrm>
          <a:prstGeom prst="rect">
            <a:avLst/>
          </a:prstGeom>
          <a:noFill/>
        </p:spPr>
        <p:txBody>
          <a:bodyPr wrap="square" anchor="t" lIns="0" rIns="0" tIns="0" bIns="0"/>
          <a:lstStyle/>
          <a:p>
            <a:pPr algn="l"/>
            <a:r>
              <a:rPr sz="1200" b="1">
                <a:solidFill>
                  <a:srgbClr val="493356"/>
                </a:solidFill>
                <a:latin typeface="Calibri"/>
              </a:rPr>
              <a:t>Uncashed paychecks</a:t>
            </a:r>
          </a:p>
        </p:txBody>
      </p:sp>
      <p:sp>
        <p:nvSpPr>
          <p:cNvPr id="30" name="tx"/>
          <p:cNvSpPr txBox="1"/>
          <p:nvPr/>
        </p:nvSpPr>
        <p:spPr>
          <a:xfrm>
            <a:off x="3530838" y="5140000"/>
            <a:ext cx="2293638" cy="500000"/>
          </a:xfrm>
          <a:prstGeom prst="rect">
            <a:avLst/>
          </a:prstGeom>
          <a:noFill/>
        </p:spPr>
        <p:txBody>
          <a:bodyPr wrap="square" anchor="t" lIns="0" rIns="0" tIns="0" bIns="0"/>
          <a:lstStyle/>
          <a:p>
            <a:pPr algn="l">
              <a:lnSpc>
                <a:spcPct val="106000"/>
              </a:lnSpc>
            </a:pPr>
            <a:r>
              <a:rPr sz="1000" b="0">
                <a:solidFill>
                  <a:srgbClr val="414141"/>
                </a:solidFill>
                <a:latin typeface="Calibri"/>
              </a:rPr>
              <a:t>Final wages, commissions, bonuses</a:t>
            </a:r>
          </a:p>
        </p:txBody>
      </p:sp>
      <p:sp>
        <p:nvSpPr>
          <p:cNvPr id="31" name="srccard"/>
          <p:cNvSpPr/>
          <p:nvPr/>
        </p:nvSpPr>
        <p:spPr>
          <a:xfrm>
            <a:off x="6204476" y="4200000"/>
            <a:ext cx="2653638" cy="1560000"/>
          </a:xfrm>
          <a:prstGeom prst="roundRect">
            <a:avLst>
              <a:gd name="adj" fmla="val 8000"/>
            </a:avLst>
          </a:prstGeom>
          <a:solidFill>
            <a:srgbClr val="FFFFFF"/>
          </a:solidFill>
          <a:ln>
            <a:noFill/>
          </a:ln>
        </p:spPr>
        <p:txBody>
          <a:bodyPr/>
          <a:lstStyle/>
          <a:p/>
        </p:txBody>
      </p:sp>
      <p:sp>
        <p:nvSpPr>
          <p:cNvPr id="32" name="dot"/>
          <p:cNvSpPr/>
          <p:nvPr/>
        </p:nvSpPr>
        <p:spPr>
          <a:xfrm>
            <a:off x="6404476" y="4410000"/>
            <a:ext cx="300000" cy="300000"/>
          </a:xfrm>
          <a:prstGeom prst="ellipse">
            <a:avLst/>
          </a:prstGeom>
          <a:solidFill>
            <a:srgbClr val="EF5E33"/>
          </a:solidFill>
          <a:ln>
            <a:noFill/>
          </a:ln>
        </p:spPr>
        <p:txBody>
          <a:bodyPr/>
          <a:lstStyle/>
          <a:p/>
        </p:txBody>
      </p:sp>
      <p:sp>
        <p:nvSpPr>
          <p:cNvPr id="33" name="tx"/>
          <p:cNvSpPr txBox="1"/>
          <p:nvPr/>
        </p:nvSpPr>
        <p:spPr>
          <a:xfrm>
            <a:off x="6404476" y="4840000"/>
            <a:ext cx="2293638" cy="280000"/>
          </a:xfrm>
          <a:prstGeom prst="rect">
            <a:avLst/>
          </a:prstGeom>
          <a:noFill/>
        </p:spPr>
        <p:txBody>
          <a:bodyPr wrap="square" anchor="t" lIns="0" rIns="0" tIns="0" bIns="0"/>
          <a:lstStyle/>
          <a:p>
            <a:pPr algn="l"/>
            <a:r>
              <a:rPr sz="1200" b="1">
                <a:solidFill>
                  <a:srgbClr val="493356"/>
                </a:solidFill>
                <a:latin typeface="Calibri"/>
              </a:rPr>
              <a:t>Refunds &amp; deposits</a:t>
            </a:r>
          </a:p>
        </p:txBody>
      </p:sp>
      <p:sp>
        <p:nvSpPr>
          <p:cNvPr id="34" name="tx"/>
          <p:cNvSpPr txBox="1"/>
          <p:nvPr/>
        </p:nvSpPr>
        <p:spPr>
          <a:xfrm>
            <a:off x="6404476" y="5140000"/>
            <a:ext cx="2293638" cy="500000"/>
          </a:xfrm>
          <a:prstGeom prst="rect">
            <a:avLst/>
          </a:prstGeom>
          <a:noFill/>
        </p:spPr>
        <p:txBody>
          <a:bodyPr wrap="square" anchor="t" lIns="0" rIns="0" tIns="0" bIns="0"/>
          <a:lstStyle/>
          <a:p>
            <a:pPr algn="l">
              <a:lnSpc>
                <a:spcPct val="106000"/>
              </a:lnSpc>
            </a:pPr>
            <a:r>
              <a:rPr sz="1000" b="0">
                <a:solidFill>
                  <a:srgbClr val="414141"/>
                </a:solidFill>
                <a:latin typeface="Calibri"/>
              </a:rPr>
              <a:t>Utility, rent, insurance, retail</a:t>
            </a:r>
          </a:p>
        </p:txBody>
      </p:sp>
      <p:sp>
        <p:nvSpPr>
          <p:cNvPr id="35" name="srccard"/>
          <p:cNvSpPr/>
          <p:nvPr/>
        </p:nvSpPr>
        <p:spPr>
          <a:xfrm>
            <a:off x="9078114" y="4200000"/>
            <a:ext cx="2653638" cy="1560000"/>
          </a:xfrm>
          <a:prstGeom prst="roundRect">
            <a:avLst>
              <a:gd name="adj" fmla="val 8000"/>
            </a:avLst>
          </a:prstGeom>
          <a:solidFill>
            <a:srgbClr val="FFFFFF"/>
          </a:solidFill>
          <a:ln>
            <a:noFill/>
          </a:ln>
        </p:spPr>
        <p:txBody>
          <a:bodyPr/>
          <a:lstStyle/>
          <a:p/>
        </p:txBody>
      </p:sp>
      <p:sp>
        <p:nvSpPr>
          <p:cNvPr id="36" name="dot"/>
          <p:cNvSpPr/>
          <p:nvPr/>
        </p:nvSpPr>
        <p:spPr>
          <a:xfrm>
            <a:off x="9278114" y="4410000"/>
            <a:ext cx="300000" cy="300000"/>
          </a:xfrm>
          <a:prstGeom prst="ellipse">
            <a:avLst/>
          </a:prstGeom>
          <a:solidFill>
            <a:srgbClr val="52CCF3"/>
          </a:solidFill>
          <a:ln>
            <a:noFill/>
          </a:ln>
        </p:spPr>
        <p:txBody>
          <a:bodyPr/>
          <a:lstStyle/>
          <a:p/>
        </p:txBody>
      </p:sp>
      <p:sp>
        <p:nvSpPr>
          <p:cNvPr id="37" name="tx"/>
          <p:cNvSpPr txBox="1"/>
          <p:nvPr/>
        </p:nvSpPr>
        <p:spPr>
          <a:xfrm>
            <a:off x="9278114" y="4840000"/>
            <a:ext cx="2293638" cy="280000"/>
          </a:xfrm>
          <a:prstGeom prst="rect">
            <a:avLst/>
          </a:prstGeom>
          <a:noFill/>
        </p:spPr>
        <p:txBody>
          <a:bodyPr wrap="square" anchor="t" lIns="0" rIns="0" tIns="0" bIns="0"/>
          <a:lstStyle/>
          <a:p>
            <a:pPr algn="l"/>
            <a:r>
              <a:rPr sz="1200" b="1">
                <a:solidFill>
                  <a:srgbClr val="493356"/>
                </a:solidFill>
                <a:latin typeface="Calibri"/>
              </a:rPr>
              <a:t>Investments</a:t>
            </a:r>
          </a:p>
        </p:txBody>
      </p:sp>
      <p:sp>
        <p:nvSpPr>
          <p:cNvPr id="38" name="tx"/>
          <p:cNvSpPr txBox="1"/>
          <p:nvPr/>
        </p:nvSpPr>
        <p:spPr>
          <a:xfrm>
            <a:off x="9278114" y="5140000"/>
            <a:ext cx="2293638" cy="500000"/>
          </a:xfrm>
          <a:prstGeom prst="rect">
            <a:avLst/>
          </a:prstGeom>
          <a:noFill/>
        </p:spPr>
        <p:txBody>
          <a:bodyPr wrap="square" anchor="t" lIns="0" rIns="0" tIns="0" bIns="0"/>
          <a:lstStyle/>
          <a:p>
            <a:pPr algn="l">
              <a:lnSpc>
                <a:spcPct val="106000"/>
              </a:lnSpc>
            </a:pPr>
            <a:r>
              <a:rPr sz="1000" b="0">
                <a:solidFill>
                  <a:srgbClr val="414141"/>
                </a:solidFill>
                <a:latin typeface="Calibri"/>
              </a:rPr>
              <a:t>Stock dividends, matured bonds, IRAs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88952" cy="6858000"/>
          </a:xfrm>
          <a:prstGeom prst="rect">
            <a:avLst/>
          </a:prstGeom>
          <a:solidFill>
            <a:srgbClr val="F5F4F7"/>
          </a:solidFill>
          <a:ln>
            <a:noFill/>
          </a:ln>
        </p:spPr>
        <p:txBody>
          <a:bodyPr/>
          <a:lstStyle/>
          <a:p/>
        </p:txBody>
      </p:sp>
      <p:sp>
        <p:nvSpPr>
          <p:cNvPr id="3" name="TopBar"/>
          <p:cNvSpPr/>
          <p:nvPr/>
        </p:nvSpPr>
        <p:spPr>
          <a:xfrm>
            <a:off x="0" y="0"/>
            <a:ext cx="12188952" cy="54864"/>
          </a:xfrm>
          <a:prstGeom prst="rect">
            <a:avLst/>
          </a:prstGeom>
          <a:solidFill>
            <a:srgbClr val="3058A3"/>
          </a:solidFill>
          <a:ln>
            <a:noFill/>
          </a:ln>
        </p:spPr>
        <p:txBody>
          <a:bodyPr/>
          <a:lstStyle/>
          <a:p/>
        </p:txBody>
      </p:sp>
      <p:sp>
        <p:nvSpPr>
          <p:cNvPr id="4" name="Logo"/>
          <p:cNvSpPr txBox="1"/>
          <p:nvPr/>
        </p:nvSpPr>
        <p:spPr>
          <a:xfrm>
            <a:off x="457200" y="164592"/>
            <a:ext cx="2286000" cy="329184"/>
          </a:xfrm>
          <a:prstGeom prst="rect">
            <a:avLst/>
          </a:prstGeom>
          <a:noFill/>
        </p:spPr>
        <p:txBody>
          <a:bodyPr wrap="square" anchor="t" lIns="0" rIns="0" tIns="0" bIns="0"/>
          <a:lstStyle/>
          <a:p>
            <a:pPr algn="l"/>
            <a:r>
              <a:rPr sz="1600" b="1">
                <a:solidFill>
                  <a:srgbClr val="493356"/>
                </a:solidFill>
                <a:latin typeface="Calibri"/>
              </a:rPr>
              <a:t>CONSUMER</a:t>
            </a:r>
            <a:r>
              <a:rPr sz="1600" b="1">
                <a:solidFill>
                  <a:srgbClr val="3058A3"/>
                </a:solidFill>
                <a:latin typeface="Calibri"/>
              </a:rPr>
              <a:t>DIRECT</a:t>
            </a:r>
          </a:p>
        </p:txBody>
      </p:sp>
      <p:sp>
        <p:nvSpPr>
          <p:cNvPr id="5" name="tx"/>
          <p:cNvSpPr txBox="1"/>
          <p:nvPr/>
        </p:nvSpPr>
        <p:spPr>
          <a:xfrm>
            <a:off x="457200" y="749808"/>
            <a:ext cx="11430000" cy="560000"/>
          </a:xfrm>
          <a:prstGeom prst="rect">
            <a:avLst/>
          </a:prstGeom>
          <a:noFill/>
        </p:spPr>
        <p:txBody>
          <a:bodyPr wrap="square" anchor="t" lIns="0" rIns="0" tIns="0" bIns="0"/>
          <a:lstStyle/>
          <a:p>
            <a:pPr algn="l"/>
            <a:r>
              <a:rPr sz="2800" b="1">
                <a:solidFill>
                  <a:srgbClr val="493356"/>
                </a:solidFill>
                <a:latin typeface="Calibri"/>
              </a:rPr>
              <a:t>Feature: GetMyMoney</a:t>
            </a:r>
          </a:p>
        </p:txBody>
      </p:sp>
      <p:sp>
        <p:nvSpPr>
          <p:cNvPr id="6" name="tx"/>
          <p:cNvSpPr txBox="1"/>
          <p:nvPr/>
        </p:nvSpPr>
        <p:spPr>
          <a:xfrm>
            <a:off x="457200" y="1372000"/>
            <a:ext cx="11430000" cy="420000"/>
          </a:xfrm>
          <a:prstGeom prst="rect">
            <a:avLst/>
          </a:prstGeom>
          <a:noFill/>
        </p:spPr>
        <p:txBody>
          <a:bodyPr wrap="square" anchor="t" lIns="0" rIns="0" tIns="0" bIns="0"/>
          <a:lstStyle/>
          <a:p>
            <a:pPr algn="l"/>
            <a:r>
              <a:rPr sz="1500" b="0">
                <a:solidFill>
                  <a:srgbClr val="414141"/>
                </a:solidFill>
                <a:latin typeface="Calibri"/>
              </a:rPr>
              <a:t>Finds unclaimed money the state owes our members.</a:t>
            </a:r>
          </a:p>
        </p:txBody>
      </p:sp>
      <p:sp>
        <p:nvSpPr>
          <p:cNvPr id="7" name="tx"/>
          <p:cNvSpPr txBox="1"/>
          <p:nvPr/>
        </p:nvSpPr>
        <p:spPr>
          <a:xfrm>
            <a:off x="457200" y="6446520"/>
            <a:ext cx="7315200" cy="274320"/>
          </a:xfrm>
          <a:prstGeom prst="rect">
            <a:avLst/>
          </a:prstGeom>
          <a:noFill/>
        </p:spPr>
        <p:txBody>
          <a:bodyPr wrap="square" anchor="t" lIns="0" rIns="0" tIns="0" bIns="0"/>
          <a:lstStyle/>
          <a:p>
            <a:pPr algn="l"/>
            <a:r>
              <a:rPr sz="900" b="0">
                <a:solidFill>
                  <a:srgbClr val="8A8A8A"/>
                </a:solidFill>
                <a:latin typeface="Calibri"/>
              </a:rPr>
              <a:t>GetMyMoney · Confidential — Consumer Direct, Inc.</a:t>
            </a:r>
          </a:p>
        </p:txBody>
      </p:sp>
      <p:sp>
        <p:nvSpPr>
          <p:cNvPr id="8" name="tx"/>
          <p:cNvSpPr txBox="1"/>
          <p:nvPr/>
        </p:nvSpPr>
        <p:spPr>
          <a:xfrm>
            <a:off x="11338560" y="6446520"/>
            <a:ext cx="731520" cy="274320"/>
          </a:xfrm>
          <a:prstGeom prst="rect">
            <a:avLst/>
          </a:prstGeom>
          <a:noFill/>
        </p:spPr>
        <p:txBody>
          <a:bodyPr wrap="square" anchor="t" lIns="0" rIns="0" tIns="0" bIns="0"/>
          <a:lstStyle/>
          <a:p>
            <a:pPr algn="r"/>
            <a:r>
              <a:rPr sz="900" b="0">
                <a:solidFill>
                  <a:srgbClr val="8A8A8A"/>
                </a:solidFill>
                <a:latin typeface="Calibri"/>
              </a:rPr>
              <a:t>4 / 15</a:t>
            </a:r>
          </a:p>
        </p:txBody>
      </p:sp>
      <p:sp>
        <p:nvSpPr>
          <p:cNvPr id="9" name="divider"/>
          <p:cNvSpPr/>
          <p:nvPr/>
        </p:nvSpPr>
        <p:spPr>
          <a:xfrm>
            <a:off x="7320000" y="1980000"/>
            <a:ext cx="18000" cy="3450000"/>
          </a:xfrm>
          <a:prstGeom prst="rect">
            <a:avLst/>
          </a:prstGeom>
          <a:solidFill>
            <a:srgbClr val="D5D9E2"/>
          </a:solidFill>
          <a:ln>
            <a:noFill/>
          </a:ln>
        </p:spPr>
        <p:txBody>
          <a:bodyPr/>
          <a:lstStyle/>
          <a:p/>
        </p:txBody>
      </p:sp>
      <p:sp>
        <p:nvSpPr>
          <p:cNvPr id="10" name="tx"/>
          <p:cNvSpPr txBox="1"/>
          <p:nvPr/>
        </p:nvSpPr>
        <p:spPr>
          <a:xfrm>
            <a:off x="457200" y="1980000"/>
            <a:ext cx="6600000" cy="230000"/>
          </a:xfrm>
          <a:prstGeom prst="rect">
            <a:avLst/>
          </a:prstGeom>
          <a:noFill/>
        </p:spPr>
        <p:txBody>
          <a:bodyPr wrap="square" anchor="t" lIns="0" rIns="0" tIns="0" bIns="0"/>
          <a:lstStyle/>
          <a:p>
            <a:pPr algn="l"/>
            <a:r>
              <a:rPr sz="1050" b="1" spc="80">
                <a:solidFill>
                  <a:srgbClr val="3058A3"/>
                </a:solidFill>
                <a:latin typeface="Calibri"/>
              </a:rPr>
              <a:t>WHAT THE MEMBER EXPERIENCES</a:t>
            </a:r>
          </a:p>
        </p:txBody>
      </p:sp>
      <p:sp>
        <p:nvSpPr>
          <p:cNvPr id="11" name="num"/>
          <p:cNvSpPr/>
          <p:nvPr/>
        </p:nvSpPr>
        <p:spPr>
          <a:xfrm>
            <a:off x="457200" y="2380000"/>
            <a:ext cx="330000" cy="330000"/>
          </a:xfrm>
          <a:prstGeom prst="ellipse">
            <a:avLst/>
          </a:prstGeom>
          <a:solidFill>
            <a:srgbClr val="3058A3"/>
          </a:solidFill>
          <a:ln>
            <a:noFill/>
          </a:ln>
        </p:spPr>
        <p:txBody>
          <a:bodyPr/>
          <a:lstStyle/>
          <a:p/>
        </p:txBody>
      </p:sp>
      <p:sp>
        <p:nvSpPr>
          <p:cNvPr id="12" name="tx"/>
          <p:cNvSpPr txBox="1"/>
          <p:nvPr/>
        </p:nvSpPr>
        <p:spPr>
          <a:xfrm>
            <a:off x="457200" y="2420000"/>
            <a:ext cx="330000" cy="300000"/>
          </a:xfrm>
          <a:prstGeom prst="rect">
            <a:avLst/>
          </a:prstGeom>
          <a:noFill/>
        </p:spPr>
        <p:txBody>
          <a:bodyPr wrap="square" anchor="t" lIns="0" rIns="0" tIns="0" bIns="0"/>
          <a:lstStyle/>
          <a:p>
            <a:pPr algn="ctr"/>
            <a:r>
              <a:rPr sz="1100" b="1">
                <a:solidFill>
                  <a:srgbClr val="FFFFFF"/>
                </a:solidFill>
                <a:latin typeface="Calibri"/>
              </a:rPr>
              <a:t>1</a:t>
            </a:r>
          </a:p>
        </p:txBody>
      </p:sp>
      <p:sp>
        <p:nvSpPr>
          <p:cNvPr id="13" name="tx"/>
          <p:cNvSpPr txBox="1"/>
          <p:nvPr/>
        </p:nvSpPr>
        <p:spPr>
          <a:xfrm>
            <a:off x="907200" y="2385000"/>
            <a:ext cx="2600000" cy="260000"/>
          </a:xfrm>
          <a:prstGeom prst="rect">
            <a:avLst/>
          </a:prstGeom>
          <a:noFill/>
        </p:spPr>
        <p:txBody>
          <a:bodyPr wrap="square" anchor="t" lIns="0" rIns="0" tIns="0" bIns="0"/>
          <a:lstStyle/>
          <a:p>
            <a:pPr algn="l"/>
            <a:r>
              <a:rPr sz="1300" b="1">
                <a:solidFill>
                  <a:srgbClr val="493356"/>
                </a:solidFill>
                <a:latin typeface="Calibri"/>
              </a:rPr>
              <a:t>Potential matches</a:t>
            </a:r>
          </a:p>
        </p:txBody>
      </p:sp>
      <p:sp>
        <p:nvSpPr>
          <p:cNvPr id="14" name="tx"/>
          <p:cNvSpPr txBox="1"/>
          <p:nvPr/>
        </p:nvSpPr>
        <p:spPr>
          <a:xfrm>
            <a:off x="907200" y="2690000"/>
            <a:ext cx="2600000" cy="560000"/>
          </a:xfrm>
          <a:prstGeom prst="rect">
            <a:avLst/>
          </a:prstGeom>
          <a:noFill/>
        </p:spPr>
        <p:txBody>
          <a:bodyPr wrap="square" anchor="t" lIns="0" rIns="0" tIns="0" bIns="0"/>
          <a:lstStyle/>
          <a:p>
            <a:pPr algn="l">
              <a:lnSpc>
                <a:spcPct val="106000"/>
              </a:lnSpc>
            </a:pPr>
            <a:r>
              <a:rPr sz="1020" b="0">
                <a:solidFill>
                  <a:srgbClr val="414141"/>
                </a:solidFill>
                <a:latin typeface="Calibri"/>
              </a:rPr>
              <a:t>We surface unclaimed property the state may owe them.</a:t>
            </a:r>
          </a:p>
        </p:txBody>
      </p:sp>
      <p:sp>
        <p:nvSpPr>
          <p:cNvPr id="15" name="num"/>
          <p:cNvSpPr/>
          <p:nvPr/>
        </p:nvSpPr>
        <p:spPr>
          <a:xfrm>
            <a:off x="457200" y="3390000"/>
            <a:ext cx="330000" cy="330000"/>
          </a:xfrm>
          <a:prstGeom prst="ellipse">
            <a:avLst/>
          </a:prstGeom>
          <a:solidFill>
            <a:srgbClr val="3058A3"/>
          </a:solidFill>
          <a:ln>
            <a:noFill/>
          </a:ln>
        </p:spPr>
        <p:txBody>
          <a:bodyPr/>
          <a:lstStyle/>
          <a:p/>
        </p:txBody>
      </p:sp>
      <p:sp>
        <p:nvSpPr>
          <p:cNvPr id="16" name="tx"/>
          <p:cNvSpPr txBox="1"/>
          <p:nvPr/>
        </p:nvSpPr>
        <p:spPr>
          <a:xfrm>
            <a:off x="457200" y="3430000"/>
            <a:ext cx="330000" cy="300000"/>
          </a:xfrm>
          <a:prstGeom prst="rect">
            <a:avLst/>
          </a:prstGeom>
          <a:noFill/>
        </p:spPr>
        <p:txBody>
          <a:bodyPr wrap="square" anchor="t" lIns="0" rIns="0" tIns="0" bIns="0"/>
          <a:lstStyle/>
          <a:p>
            <a:pPr algn="ctr"/>
            <a:r>
              <a:rPr sz="1100" b="1">
                <a:solidFill>
                  <a:srgbClr val="FFFFFF"/>
                </a:solidFill>
                <a:latin typeface="Calibri"/>
              </a:rPr>
              <a:t>2</a:t>
            </a:r>
          </a:p>
        </p:txBody>
      </p:sp>
      <p:sp>
        <p:nvSpPr>
          <p:cNvPr id="17" name="tx"/>
          <p:cNvSpPr txBox="1"/>
          <p:nvPr/>
        </p:nvSpPr>
        <p:spPr>
          <a:xfrm>
            <a:off x="907200" y="3395000"/>
            <a:ext cx="2600000" cy="260000"/>
          </a:xfrm>
          <a:prstGeom prst="rect">
            <a:avLst/>
          </a:prstGeom>
          <a:noFill/>
        </p:spPr>
        <p:txBody>
          <a:bodyPr wrap="square" anchor="t" lIns="0" rIns="0" tIns="0" bIns="0"/>
          <a:lstStyle/>
          <a:p>
            <a:pPr algn="l"/>
            <a:r>
              <a:rPr sz="1300" b="1">
                <a:solidFill>
                  <a:srgbClr val="493356"/>
                </a:solidFill>
                <a:latin typeface="Calibri"/>
              </a:rPr>
              <a:t>Monitoring</a:t>
            </a:r>
          </a:p>
        </p:txBody>
      </p:sp>
      <p:sp>
        <p:nvSpPr>
          <p:cNvPr id="18" name="tx"/>
          <p:cNvSpPr txBox="1"/>
          <p:nvPr/>
        </p:nvSpPr>
        <p:spPr>
          <a:xfrm>
            <a:off x="907200" y="3700000"/>
            <a:ext cx="2600000" cy="560000"/>
          </a:xfrm>
          <a:prstGeom prst="rect">
            <a:avLst/>
          </a:prstGeom>
          <a:noFill/>
        </p:spPr>
        <p:txBody>
          <a:bodyPr wrap="square" anchor="t" lIns="0" rIns="0" tIns="0" bIns="0"/>
          <a:lstStyle/>
          <a:p>
            <a:pPr algn="l">
              <a:lnSpc>
                <a:spcPct val="106000"/>
              </a:lnSpc>
            </a:pPr>
            <a:r>
              <a:rPr sz="1020" b="0">
                <a:solidFill>
                  <a:srgbClr val="414141"/>
                </a:solidFill>
                <a:latin typeface="Calibri"/>
              </a:rPr>
              <a:t>We keep watching state records and alert them to new matches.</a:t>
            </a:r>
          </a:p>
        </p:txBody>
      </p:sp>
      <p:sp>
        <p:nvSpPr>
          <p:cNvPr id="19" name="num"/>
          <p:cNvSpPr/>
          <p:nvPr/>
        </p:nvSpPr>
        <p:spPr>
          <a:xfrm>
            <a:off x="457200" y="4400000"/>
            <a:ext cx="330000" cy="330000"/>
          </a:xfrm>
          <a:prstGeom prst="ellipse">
            <a:avLst/>
          </a:prstGeom>
          <a:solidFill>
            <a:srgbClr val="EF5E33"/>
          </a:solidFill>
          <a:ln>
            <a:noFill/>
          </a:ln>
        </p:spPr>
        <p:txBody>
          <a:bodyPr/>
          <a:lstStyle/>
          <a:p/>
        </p:txBody>
      </p:sp>
      <p:sp>
        <p:nvSpPr>
          <p:cNvPr id="20" name="tx"/>
          <p:cNvSpPr txBox="1"/>
          <p:nvPr/>
        </p:nvSpPr>
        <p:spPr>
          <a:xfrm>
            <a:off x="457200" y="4440000"/>
            <a:ext cx="330000" cy="300000"/>
          </a:xfrm>
          <a:prstGeom prst="rect">
            <a:avLst/>
          </a:prstGeom>
          <a:noFill/>
        </p:spPr>
        <p:txBody>
          <a:bodyPr wrap="square" anchor="t" lIns="0" rIns="0" tIns="0" bIns="0"/>
          <a:lstStyle/>
          <a:p>
            <a:pPr algn="ctr"/>
            <a:r>
              <a:rPr sz="1100" b="1">
                <a:solidFill>
                  <a:srgbClr val="FFFFFF"/>
                </a:solidFill>
                <a:latin typeface="Calibri"/>
              </a:rPr>
              <a:t>3</a:t>
            </a:r>
          </a:p>
        </p:txBody>
      </p:sp>
      <p:sp>
        <p:nvSpPr>
          <p:cNvPr id="21" name="tx"/>
          <p:cNvSpPr txBox="1"/>
          <p:nvPr/>
        </p:nvSpPr>
        <p:spPr>
          <a:xfrm>
            <a:off x="907200" y="4405000"/>
            <a:ext cx="2600000" cy="260000"/>
          </a:xfrm>
          <a:prstGeom prst="rect">
            <a:avLst/>
          </a:prstGeom>
          <a:noFill/>
        </p:spPr>
        <p:txBody>
          <a:bodyPr wrap="square" anchor="t" lIns="0" rIns="0" tIns="0" bIns="0"/>
          <a:lstStyle/>
          <a:p>
            <a:pPr algn="l"/>
            <a:r>
              <a:rPr sz="1300" b="1">
                <a:solidFill>
                  <a:srgbClr val="493356"/>
                </a:solidFill>
                <a:latin typeface="Calibri"/>
              </a:rPr>
              <a:t>Guided filing</a:t>
            </a:r>
          </a:p>
        </p:txBody>
      </p:sp>
      <p:sp>
        <p:nvSpPr>
          <p:cNvPr id="22" name="tx"/>
          <p:cNvSpPr txBox="1"/>
          <p:nvPr/>
        </p:nvSpPr>
        <p:spPr>
          <a:xfrm>
            <a:off x="907200" y="4710000"/>
            <a:ext cx="2600000" cy="560000"/>
          </a:xfrm>
          <a:prstGeom prst="rect">
            <a:avLst/>
          </a:prstGeom>
          <a:noFill/>
        </p:spPr>
        <p:txBody>
          <a:bodyPr wrap="square" anchor="t" lIns="0" rIns="0" tIns="0" bIns="0"/>
          <a:lstStyle/>
          <a:p>
            <a:pPr algn="l">
              <a:lnSpc>
                <a:spcPct val="106000"/>
              </a:lnSpc>
            </a:pPr>
            <a:r>
              <a:rPr sz="1020" b="0">
                <a:solidFill>
                  <a:srgbClr val="414141"/>
                </a:solidFill>
                <a:latin typeface="Calibri"/>
              </a:rPr>
              <a:t>No data for their state? We hand off the official portal + filing steps.</a:t>
            </a:r>
          </a:p>
        </p:txBody>
      </p:sp>
      <p:sp>
        <p:nvSpPr>
          <p:cNvPr id="23" name="uicard"/>
          <p:cNvSpPr/>
          <p:nvPr/>
        </p:nvSpPr>
        <p:spPr>
          <a:xfrm>
            <a:off x="3650000" y="2360000"/>
            <a:ext cx="3470000" cy="3050000"/>
          </a:xfrm>
          <a:prstGeom prst="roundRect">
            <a:avLst>
              <a:gd name="adj" fmla="val 7000"/>
            </a:avLst>
          </a:prstGeom>
          <a:solidFill>
            <a:srgbClr val="FFFFFF"/>
          </a:solidFill>
          <a:ln>
            <a:noFill/>
          </a:ln>
        </p:spPr>
        <p:txBody>
          <a:bodyPr/>
          <a:lstStyle/>
          <a:p/>
        </p:txBody>
      </p:sp>
      <p:sp>
        <p:nvSpPr>
          <p:cNvPr id="24" name="tx"/>
          <p:cNvSpPr txBox="1"/>
          <p:nvPr/>
        </p:nvSpPr>
        <p:spPr>
          <a:xfrm>
            <a:off x="3870000" y="2530000"/>
            <a:ext cx="3030000" cy="210000"/>
          </a:xfrm>
          <a:prstGeom prst="rect">
            <a:avLst/>
          </a:prstGeom>
          <a:noFill/>
        </p:spPr>
        <p:txBody>
          <a:bodyPr wrap="square" anchor="t" lIns="0" rIns="0" tIns="0" bIns="0"/>
          <a:lstStyle/>
          <a:p>
            <a:pPr algn="l"/>
            <a:r>
              <a:rPr sz="850" b="1" spc="80">
                <a:solidFill>
                  <a:srgbClr val="FCC062"/>
                </a:solidFill>
                <a:latin typeface="Calibri"/>
              </a:rPr>
              <a:t>POTENTIAL MATCH</a:t>
            </a:r>
          </a:p>
        </p:txBody>
      </p:sp>
      <p:sp>
        <p:nvSpPr>
          <p:cNvPr id="25" name="dollarc"/>
          <p:cNvSpPr/>
          <p:nvPr/>
        </p:nvSpPr>
        <p:spPr>
          <a:xfrm>
            <a:off x="3870000" y="2830000"/>
            <a:ext cx="420000" cy="420000"/>
          </a:xfrm>
          <a:prstGeom prst="ellipse">
            <a:avLst/>
          </a:prstGeom>
          <a:solidFill>
            <a:srgbClr val="52CCF3"/>
          </a:solidFill>
          <a:ln>
            <a:noFill/>
          </a:ln>
        </p:spPr>
        <p:txBody>
          <a:bodyPr/>
          <a:lstStyle/>
          <a:p/>
        </p:txBody>
      </p:sp>
      <p:sp>
        <p:nvSpPr>
          <p:cNvPr id="26" name="tx"/>
          <p:cNvSpPr txBox="1"/>
          <p:nvPr/>
        </p:nvSpPr>
        <p:spPr>
          <a:xfrm>
            <a:off x="3870000" y="2905000"/>
            <a:ext cx="420000" cy="300000"/>
          </a:xfrm>
          <a:prstGeom prst="rect">
            <a:avLst/>
          </a:prstGeom>
          <a:noFill/>
        </p:spPr>
        <p:txBody>
          <a:bodyPr wrap="square" anchor="t" lIns="0" rIns="0" tIns="0" bIns="0"/>
          <a:lstStyle/>
          <a:p>
            <a:pPr algn="ctr"/>
            <a:r>
              <a:rPr sz="1500" b="1">
                <a:solidFill>
                  <a:srgbClr val="FFFFFF"/>
                </a:solidFill>
                <a:latin typeface="Calibri"/>
              </a:rPr>
              <a:t>$</a:t>
            </a:r>
          </a:p>
        </p:txBody>
      </p:sp>
      <p:sp>
        <p:nvSpPr>
          <p:cNvPr id="27" name="tx"/>
          <p:cNvSpPr txBox="1"/>
          <p:nvPr/>
        </p:nvSpPr>
        <p:spPr>
          <a:xfrm>
            <a:off x="4410000" y="2860000"/>
            <a:ext cx="2490000" cy="250000"/>
          </a:xfrm>
          <a:prstGeom prst="rect">
            <a:avLst/>
          </a:prstGeom>
          <a:noFill/>
        </p:spPr>
        <p:txBody>
          <a:bodyPr wrap="square" anchor="t" lIns="0" rIns="0" tIns="0" bIns="0"/>
          <a:lstStyle/>
          <a:p>
            <a:pPr algn="l"/>
            <a:r>
              <a:rPr sz="1200" b="1">
                <a:solidFill>
                  <a:srgbClr val="493356"/>
                </a:solidFill>
                <a:latin typeface="Calibri"/>
              </a:rPr>
              <a:t>Credit Balance</a:t>
            </a:r>
          </a:p>
        </p:txBody>
      </p:sp>
      <p:sp>
        <p:nvSpPr>
          <p:cNvPr id="28" name="tx"/>
          <p:cNvSpPr txBox="1"/>
          <p:nvPr/>
        </p:nvSpPr>
        <p:spPr>
          <a:xfrm>
            <a:off x="4410000" y="3120000"/>
            <a:ext cx="2490000" cy="230000"/>
          </a:xfrm>
          <a:prstGeom prst="rect">
            <a:avLst/>
          </a:prstGeom>
          <a:noFill/>
        </p:spPr>
        <p:txBody>
          <a:bodyPr wrap="square" anchor="t" lIns="0" rIns="0" tIns="0" bIns="0"/>
          <a:lstStyle/>
          <a:p>
            <a:pPr algn="l"/>
            <a:r>
              <a:rPr sz="1000" b="0">
                <a:solidFill>
                  <a:srgbClr val="8A8A8A"/>
                </a:solidFill>
                <a:latin typeface="Calibri"/>
              </a:rPr>
              <a:t>Citibank N.A.</a:t>
            </a:r>
          </a:p>
        </p:txBody>
      </p:sp>
      <p:sp>
        <p:nvSpPr>
          <p:cNvPr id="29" name="tx"/>
          <p:cNvSpPr txBox="1"/>
          <p:nvPr/>
        </p:nvSpPr>
        <p:spPr>
          <a:xfrm>
            <a:off x="3870000" y="3430000"/>
            <a:ext cx="3030000" cy="430000"/>
          </a:xfrm>
          <a:prstGeom prst="rect">
            <a:avLst/>
          </a:prstGeom>
          <a:noFill/>
        </p:spPr>
        <p:txBody>
          <a:bodyPr wrap="square" anchor="t" lIns="0" rIns="0" tIns="0" bIns="0"/>
          <a:lstStyle/>
          <a:p>
            <a:pPr algn="l"/>
            <a:r>
              <a:rPr sz="2600" b="1">
                <a:solidFill>
                  <a:srgbClr val="EF5E33"/>
                </a:solidFill>
                <a:latin typeface="Calibri"/>
              </a:rPr>
              <a:t>$842.40</a:t>
            </a:r>
          </a:p>
        </p:txBody>
      </p:sp>
      <p:sp>
        <p:nvSpPr>
          <p:cNvPr id="30" name="tx"/>
          <p:cNvSpPr txBox="1"/>
          <p:nvPr/>
        </p:nvSpPr>
        <p:spPr>
          <a:xfrm>
            <a:off x="3870000" y="3880000"/>
            <a:ext cx="3030000" cy="200000"/>
          </a:xfrm>
          <a:prstGeom prst="rect">
            <a:avLst/>
          </a:prstGeom>
          <a:noFill/>
        </p:spPr>
        <p:txBody>
          <a:bodyPr wrap="square" anchor="t" lIns="0" rIns="0" tIns="0" bIns="0"/>
          <a:lstStyle/>
          <a:p>
            <a:pPr algn="l"/>
            <a:r>
              <a:rPr sz="800" b="0" spc="40">
                <a:solidFill>
                  <a:srgbClr val="8A8A8A"/>
                </a:solidFill>
                <a:latin typeface="Calibri"/>
              </a:rPr>
              <a:t>ESTIMATED · state-reported</a:t>
            </a:r>
          </a:p>
        </p:txBody>
      </p:sp>
      <p:sp>
        <p:nvSpPr>
          <p:cNvPr id="31" name="tx"/>
          <p:cNvSpPr txBox="1"/>
          <p:nvPr/>
        </p:nvSpPr>
        <p:spPr>
          <a:xfrm>
            <a:off x="3870000" y="4190000"/>
            <a:ext cx="3030000" cy="230000"/>
          </a:xfrm>
          <a:prstGeom prst="rect">
            <a:avLst/>
          </a:prstGeom>
          <a:noFill/>
        </p:spPr>
        <p:txBody>
          <a:bodyPr wrap="square" anchor="t" lIns="0" rIns="0" tIns="0" bIns="0"/>
          <a:lstStyle/>
          <a:p>
            <a:pPr algn="l"/>
            <a:r>
              <a:rPr sz="950" b="0">
                <a:solidFill>
                  <a:srgbClr val="8A8A8A"/>
                </a:solidFill>
                <a:latin typeface="Calibri"/>
              </a:rPr>
              <a:t xml:space="preserve">Reported as   </a:t>
            </a:r>
            <a:r>
              <a:rPr sz="1000" b="1">
                <a:solidFill>
                  <a:srgbClr val="414141"/>
                </a:solidFill>
                <a:latin typeface="Calibri"/>
              </a:rPr>
              <a:t>Dunshea Williams R</a:t>
            </a:r>
          </a:p>
        </p:txBody>
      </p:sp>
      <p:sp>
        <p:nvSpPr>
          <p:cNvPr id="32" name="tx"/>
          <p:cNvSpPr txBox="1"/>
          <p:nvPr/>
        </p:nvSpPr>
        <p:spPr>
          <a:xfrm>
            <a:off x="3870000" y="4440000"/>
            <a:ext cx="3030000" cy="230000"/>
          </a:xfrm>
          <a:prstGeom prst="rect">
            <a:avLst/>
          </a:prstGeom>
          <a:noFill/>
        </p:spPr>
        <p:txBody>
          <a:bodyPr wrap="square" anchor="t" lIns="0" rIns="0" tIns="0" bIns="0"/>
          <a:lstStyle/>
          <a:p>
            <a:pPr algn="l"/>
            <a:r>
              <a:rPr sz="950" b="0">
                <a:solidFill>
                  <a:srgbClr val="8A8A8A"/>
                </a:solidFill>
                <a:latin typeface="Calibri"/>
              </a:rPr>
              <a:t xml:space="preserve">Source   </a:t>
            </a:r>
            <a:r>
              <a:rPr sz="1000" b="1">
                <a:solidFill>
                  <a:srgbClr val="059669"/>
                </a:solidFill>
                <a:latin typeface="Calibri"/>
              </a:rPr>
              <a:t>California State Controller ✓</a:t>
            </a:r>
          </a:p>
        </p:txBody>
      </p:sp>
      <p:sp>
        <p:nvSpPr>
          <p:cNvPr id="33" name="claimbtn"/>
          <p:cNvSpPr/>
          <p:nvPr/>
        </p:nvSpPr>
        <p:spPr>
          <a:xfrm>
            <a:off x="3870000" y="4790000"/>
            <a:ext cx="1500000" cy="400000"/>
          </a:xfrm>
          <a:prstGeom prst="roundRect">
            <a:avLst>
              <a:gd name="adj" fmla="val 18000"/>
            </a:avLst>
          </a:prstGeom>
          <a:solidFill>
            <a:srgbClr val="EF5E33"/>
          </a:solidFill>
          <a:ln>
            <a:noFill/>
          </a:ln>
        </p:spPr>
        <p:txBody>
          <a:bodyPr/>
          <a:lstStyle/>
          <a:p/>
        </p:txBody>
      </p:sp>
      <p:sp>
        <p:nvSpPr>
          <p:cNvPr id="34" name="tx"/>
          <p:cNvSpPr txBox="1"/>
          <p:nvPr/>
        </p:nvSpPr>
        <p:spPr>
          <a:xfrm>
            <a:off x="3870000" y="4880000"/>
            <a:ext cx="1500000" cy="260000"/>
          </a:xfrm>
          <a:prstGeom prst="rect">
            <a:avLst/>
          </a:prstGeom>
          <a:noFill/>
        </p:spPr>
        <p:txBody>
          <a:bodyPr wrap="square" anchor="t" lIns="0" rIns="0" tIns="0" bIns="0"/>
          <a:lstStyle/>
          <a:p>
            <a:pPr algn="ctr"/>
            <a:r>
              <a:rPr sz="1150" b="1">
                <a:solidFill>
                  <a:srgbClr val="FFFFFF"/>
                </a:solidFill>
                <a:latin typeface="Calibri"/>
              </a:rPr>
              <a:t>Claim</a:t>
            </a:r>
          </a:p>
        </p:txBody>
      </p:sp>
      <p:sp>
        <p:nvSpPr>
          <p:cNvPr id="35" name="tx"/>
          <p:cNvSpPr txBox="1"/>
          <p:nvPr/>
        </p:nvSpPr>
        <p:spPr>
          <a:xfrm>
            <a:off x="5510000" y="4880000"/>
            <a:ext cx="1390000" cy="260000"/>
          </a:xfrm>
          <a:prstGeom prst="rect">
            <a:avLst/>
          </a:prstGeom>
          <a:noFill/>
        </p:spPr>
        <p:txBody>
          <a:bodyPr wrap="square" anchor="t" lIns="0" rIns="0" tIns="0" bIns="0"/>
          <a:lstStyle/>
          <a:p>
            <a:pPr algn="l"/>
            <a:r>
              <a:rPr sz="1050" b="1">
                <a:solidFill>
                  <a:srgbClr val="3058A3"/>
                </a:solidFill>
                <a:latin typeface="Calibri"/>
              </a:rPr>
              <a:t>Not me →</a:t>
            </a:r>
          </a:p>
        </p:txBody>
      </p:sp>
      <p:sp>
        <p:nvSpPr>
          <p:cNvPr id="36" name="tx"/>
          <p:cNvSpPr txBox="1"/>
          <p:nvPr/>
        </p:nvSpPr>
        <p:spPr>
          <a:xfrm>
            <a:off x="7560000" y="1980000"/>
            <a:ext cx="4171752" cy="230000"/>
          </a:xfrm>
          <a:prstGeom prst="rect">
            <a:avLst/>
          </a:prstGeom>
          <a:noFill/>
        </p:spPr>
        <p:txBody>
          <a:bodyPr wrap="square" anchor="t" lIns="0" rIns="0" tIns="0" bIns="0"/>
          <a:lstStyle/>
          <a:p>
            <a:pPr algn="l"/>
            <a:r>
              <a:rPr sz="1050" b="1" spc="100">
                <a:solidFill>
                  <a:srgbClr val="493356"/>
                </a:solidFill>
                <a:latin typeface="Calibri"/>
              </a:rPr>
              <a:t>OUTCOMES</a:t>
            </a:r>
          </a:p>
        </p:txBody>
      </p:sp>
      <p:sp>
        <p:nvSpPr>
          <p:cNvPr id="37" name="ocard"/>
          <p:cNvSpPr/>
          <p:nvPr/>
        </p:nvSpPr>
        <p:spPr>
          <a:xfrm>
            <a:off x="7560000" y="2360000"/>
            <a:ext cx="4171752" cy="940000"/>
          </a:xfrm>
          <a:prstGeom prst="roundRect">
            <a:avLst>
              <a:gd name="adj" fmla="val 7000"/>
            </a:avLst>
          </a:prstGeom>
          <a:solidFill>
            <a:srgbClr val="FFFFFF"/>
          </a:solidFill>
          <a:ln>
            <a:noFill/>
          </a:ln>
        </p:spPr>
        <p:txBody>
          <a:bodyPr/>
          <a:lstStyle/>
          <a:p/>
        </p:txBody>
      </p:sp>
      <p:sp>
        <p:nvSpPr>
          <p:cNvPr id="38" name="oacc"/>
          <p:cNvSpPr/>
          <p:nvPr/>
        </p:nvSpPr>
        <p:spPr>
          <a:xfrm>
            <a:off x="7560000" y="2360000"/>
            <a:ext cx="68580" cy="940000"/>
          </a:xfrm>
          <a:prstGeom prst="roundRect">
            <a:avLst>
              <a:gd name="adj" fmla="val 30000"/>
            </a:avLst>
          </a:prstGeom>
          <a:solidFill>
            <a:srgbClr val="3058A3"/>
          </a:solidFill>
          <a:ln>
            <a:noFill/>
          </a:ln>
        </p:spPr>
        <p:txBody>
          <a:bodyPr/>
          <a:lstStyle/>
          <a:p/>
        </p:txBody>
      </p:sp>
      <p:sp>
        <p:nvSpPr>
          <p:cNvPr id="39" name="tx"/>
          <p:cNvSpPr txBox="1"/>
          <p:nvPr/>
        </p:nvSpPr>
        <p:spPr>
          <a:xfrm>
            <a:off x="7760000" y="2510000"/>
            <a:ext cx="3811752" cy="250000"/>
          </a:xfrm>
          <a:prstGeom prst="rect">
            <a:avLst/>
          </a:prstGeom>
          <a:noFill/>
        </p:spPr>
        <p:txBody>
          <a:bodyPr wrap="square" anchor="t" lIns="0" rIns="0" tIns="0" bIns="0"/>
          <a:lstStyle/>
          <a:p>
            <a:pPr algn="l"/>
            <a:r>
              <a:rPr sz="1250" b="1">
                <a:solidFill>
                  <a:srgbClr val="493356"/>
                </a:solidFill>
                <a:latin typeface="Calibri"/>
              </a:rPr>
              <a:t>Increase retention</a:t>
            </a:r>
          </a:p>
        </p:txBody>
      </p:sp>
      <p:sp>
        <p:nvSpPr>
          <p:cNvPr id="40" name="tx"/>
          <p:cNvSpPr txBox="1"/>
          <p:nvPr/>
        </p:nvSpPr>
        <p:spPr>
          <a:xfrm>
            <a:off x="7760000" y="2820000"/>
            <a:ext cx="3811752" cy="440000"/>
          </a:xfrm>
          <a:prstGeom prst="rect">
            <a:avLst/>
          </a:prstGeom>
          <a:noFill/>
        </p:spPr>
        <p:txBody>
          <a:bodyPr wrap="square" anchor="t" lIns="0" rIns="0" tIns="0" bIns="0"/>
          <a:lstStyle/>
          <a:p>
            <a:pPr algn="l">
              <a:lnSpc>
                <a:spcPct val="104000"/>
              </a:lnSpc>
            </a:pPr>
            <a:r>
              <a:rPr sz="1020" b="0">
                <a:solidFill>
                  <a:srgbClr val="414141"/>
                </a:solidFill>
                <a:latin typeface="Calibri"/>
              </a:rPr>
              <a:t>Surfacing real money over time deepens trust and keeps members subscribed.</a:t>
            </a:r>
          </a:p>
        </p:txBody>
      </p:sp>
      <p:sp>
        <p:nvSpPr>
          <p:cNvPr id="41" name="ocard"/>
          <p:cNvSpPr/>
          <p:nvPr/>
        </p:nvSpPr>
        <p:spPr>
          <a:xfrm>
            <a:off x="7560000" y="3410000"/>
            <a:ext cx="4171752" cy="940000"/>
          </a:xfrm>
          <a:prstGeom prst="roundRect">
            <a:avLst>
              <a:gd name="adj" fmla="val 7000"/>
            </a:avLst>
          </a:prstGeom>
          <a:solidFill>
            <a:srgbClr val="FFFFFF"/>
          </a:solidFill>
          <a:ln>
            <a:noFill/>
          </a:ln>
        </p:spPr>
        <p:txBody>
          <a:bodyPr/>
          <a:lstStyle/>
          <a:p/>
        </p:txBody>
      </p:sp>
      <p:sp>
        <p:nvSpPr>
          <p:cNvPr id="42" name="oacc"/>
          <p:cNvSpPr/>
          <p:nvPr/>
        </p:nvSpPr>
        <p:spPr>
          <a:xfrm>
            <a:off x="7560000" y="3410000"/>
            <a:ext cx="68580" cy="940000"/>
          </a:xfrm>
          <a:prstGeom prst="roundRect">
            <a:avLst>
              <a:gd name="adj" fmla="val 30000"/>
            </a:avLst>
          </a:prstGeom>
          <a:solidFill>
            <a:srgbClr val="FCC062"/>
          </a:solidFill>
          <a:ln>
            <a:noFill/>
          </a:ln>
        </p:spPr>
        <p:txBody>
          <a:bodyPr/>
          <a:lstStyle/>
          <a:p/>
        </p:txBody>
      </p:sp>
      <p:sp>
        <p:nvSpPr>
          <p:cNvPr id="43" name="tx"/>
          <p:cNvSpPr txBox="1"/>
          <p:nvPr/>
        </p:nvSpPr>
        <p:spPr>
          <a:xfrm>
            <a:off x="7760000" y="3560000"/>
            <a:ext cx="3811752" cy="250000"/>
          </a:xfrm>
          <a:prstGeom prst="rect">
            <a:avLst/>
          </a:prstGeom>
          <a:noFill/>
        </p:spPr>
        <p:txBody>
          <a:bodyPr wrap="square" anchor="t" lIns="0" rIns="0" tIns="0" bIns="0"/>
          <a:lstStyle/>
          <a:p>
            <a:pPr algn="l"/>
            <a:r>
              <a:rPr sz="1250" b="1">
                <a:solidFill>
                  <a:srgbClr val="493356"/>
                </a:solidFill>
                <a:latin typeface="Calibri"/>
              </a:rPr>
              <a:t>Stand out from competitors</a:t>
            </a:r>
          </a:p>
        </p:txBody>
      </p:sp>
      <p:sp>
        <p:nvSpPr>
          <p:cNvPr id="44" name="tx"/>
          <p:cNvSpPr txBox="1"/>
          <p:nvPr/>
        </p:nvSpPr>
        <p:spPr>
          <a:xfrm>
            <a:off x="7760000" y="3870000"/>
            <a:ext cx="3811752" cy="440000"/>
          </a:xfrm>
          <a:prstGeom prst="rect">
            <a:avLst/>
          </a:prstGeom>
          <a:noFill/>
        </p:spPr>
        <p:txBody>
          <a:bodyPr wrap="square" anchor="t" lIns="0" rIns="0" tIns="0" bIns="0"/>
          <a:lstStyle/>
          <a:p>
            <a:pPr algn="l">
              <a:lnSpc>
                <a:spcPct val="104000"/>
              </a:lnSpc>
            </a:pPr>
            <a:r>
              <a:rPr sz="1020" b="0">
                <a:solidFill>
                  <a:srgbClr val="414141"/>
                </a:solidFill>
                <a:latin typeface="Calibri"/>
              </a:rPr>
              <a:t>No other credit-monitoring product offers unclaimed-property monitoring.</a:t>
            </a:r>
          </a:p>
        </p:txBody>
      </p:sp>
      <p:sp>
        <p:nvSpPr>
          <p:cNvPr id="45" name="ocard"/>
          <p:cNvSpPr/>
          <p:nvPr/>
        </p:nvSpPr>
        <p:spPr>
          <a:xfrm>
            <a:off x="7560000" y="4460000"/>
            <a:ext cx="4171752" cy="940000"/>
          </a:xfrm>
          <a:prstGeom prst="roundRect">
            <a:avLst>
              <a:gd name="adj" fmla="val 7000"/>
            </a:avLst>
          </a:prstGeom>
          <a:solidFill>
            <a:srgbClr val="FFFFFF"/>
          </a:solidFill>
          <a:ln>
            <a:noFill/>
          </a:ln>
        </p:spPr>
        <p:txBody>
          <a:bodyPr/>
          <a:lstStyle/>
          <a:p/>
        </p:txBody>
      </p:sp>
      <p:sp>
        <p:nvSpPr>
          <p:cNvPr id="46" name="oacc"/>
          <p:cNvSpPr/>
          <p:nvPr/>
        </p:nvSpPr>
        <p:spPr>
          <a:xfrm>
            <a:off x="7560000" y="4460000"/>
            <a:ext cx="68580" cy="940000"/>
          </a:xfrm>
          <a:prstGeom prst="roundRect">
            <a:avLst>
              <a:gd name="adj" fmla="val 30000"/>
            </a:avLst>
          </a:prstGeom>
          <a:solidFill>
            <a:srgbClr val="EF5E33"/>
          </a:solidFill>
          <a:ln>
            <a:noFill/>
          </a:ln>
        </p:spPr>
        <p:txBody>
          <a:bodyPr/>
          <a:lstStyle/>
          <a:p/>
        </p:txBody>
      </p:sp>
      <p:sp>
        <p:nvSpPr>
          <p:cNvPr id="47" name="tx"/>
          <p:cNvSpPr txBox="1"/>
          <p:nvPr/>
        </p:nvSpPr>
        <p:spPr>
          <a:xfrm>
            <a:off x="7760000" y="4610000"/>
            <a:ext cx="3811752" cy="250000"/>
          </a:xfrm>
          <a:prstGeom prst="rect">
            <a:avLst/>
          </a:prstGeom>
          <a:noFill/>
        </p:spPr>
        <p:txBody>
          <a:bodyPr wrap="square" anchor="t" lIns="0" rIns="0" tIns="0" bIns="0"/>
          <a:lstStyle/>
          <a:p>
            <a:pPr algn="l"/>
            <a:r>
              <a:rPr sz="1250" b="1">
                <a:solidFill>
                  <a:srgbClr val="493356"/>
                </a:solidFill>
                <a:latin typeface="Calibri"/>
              </a:rPr>
              <a:t>New marketing audience</a:t>
            </a:r>
          </a:p>
        </p:txBody>
      </p:sp>
      <p:sp>
        <p:nvSpPr>
          <p:cNvPr id="48" name="tx"/>
          <p:cNvSpPr txBox="1"/>
          <p:nvPr/>
        </p:nvSpPr>
        <p:spPr>
          <a:xfrm>
            <a:off x="7760000" y="4920000"/>
            <a:ext cx="3811752" cy="440000"/>
          </a:xfrm>
          <a:prstGeom prst="rect">
            <a:avLst/>
          </a:prstGeom>
          <a:noFill/>
        </p:spPr>
        <p:txBody>
          <a:bodyPr wrap="square" anchor="t" lIns="0" rIns="0" tIns="0" bIns="0"/>
          <a:lstStyle/>
          <a:p>
            <a:pPr algn="l">
              <a:lnSpc>
                <a:spcPct val="104000"/>
              </a:lnSpc>
            </a:pPr>
            <a:r>
              <a:rPr sz="1020" b="0">
                <a:solidFill>
                  <a:srgbClr val="414141"/>
                </a:solidFill>
                <a:latin typeface="Calibri"/>
              </a:rPr>
              <a:t>A fresh hook — found money — to attract and convert new members.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3058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2286000" cy="329184"/>
          </a:xfrm>
          <a:prstGeom prst="rect">
            <a:avLst/>
          </a:prstGeom>
          <a:noFill/>
        </p:spPr>
        <p:txBody>
          <a:bodyPr wrap="square" anchor="t" lIns="0" rIns="0" tIns="0" bIns="0">
            <a:spAutoFit/>
          </a:bodyPr>
          <a:lstStyle/>
          <a:p>
            <a:pPr algn="l"/>
            <a:r>
              <a:rPr sz="1600" b="1">
                <a:solidFill>
                  <a:srgbClr val="493356"/>
                </a:solidFill>
                <a:latin typeface="Calibri"/>
              </a:rPr>
              <a:t>CONSUMER</a:t>
            </a:r>
            <a:r>
              <a:rPr sz="1600" b="1">
                <a:solidFill>
                  <a:srgbClr val="3058A3"/>
                </a:solidFill>
                <a:latin typeface="Calibri"/>
              </a:rPr>
              <a:t>DIRECT</a:t>
            </a:r>
          </a:p>
        </p:txBody>
      </p:sp>
      <p:sp>
        <p:nvSpPr>
          <p:cNvPr id="5" name="TextBox 4"/>
          <p:cNvSpPr txBox="1"/>
          <p:nvPr/>
        </p:nvSpPr>
        <p:spPr>
          <a:xfrm>
            <a:off x="11338560" y="6446520"/>
            <a:ext cx="731520" cy="274320"/>
          </a:xfrm>
          <a:prstGeom prst="rect">
            <a:avLst/>
          </a:prstGeom>
          <a:noFill/>
        </p:spPr>
        <p:txBody>
          <a:bodyPr wrap="square" anchor="t" lIns="0" rIns="0" tIns="0" bIns="0">
            <a:spAutoFit/>
          </a:bodyPr>
          <a:lstStyle/>
          <a:p>
            <a:pPr algn="r"/>
            <a:r>
              <a:rPr sz="900" b="0">
                <a:solidFill>
                  <a:srgbClr val="8A8A8A"/>
                </a:solidFill>
                <a:latin typeface="Calibri"/>
              </a:rPr>
              <a:t>5 / 15</a:t>
            </a:r>
          </a:p>
        </p:txBody>
      </p:sp>
      <p:sp>
        <p:nvSpPr>
          <p:cNvPr id="6" name="TextBox 5"/>
          <p:cNvSpPr txBox="1"/>
          <p:nvPr/>
        </p:nvSpPr>
        <p:spPr>
          <a:xfrm>
            <a:off x="457200" y="6446520"/>
            <a:ext cx="7315200" cy="274320"/>
          </a:xfrm>
          <a:prstGeom prst="rect">
            <a:avLst/>
          </a:prstGeom>
          <a:noFill/>
        </p:spPr>
        <p:txBody>
          <a:bodyPr wrap="square" anchor="t" lIns="0" rIns="0" tIns="0" bIns="0">
            <a:spAutoFit/>
          </a:bodyPr>
          <a:lstStyle/>
          <a:p>
            <a:pPr algn="l"/>
            <a:r>
              <a:rPr sz="900" b="0">
                <a:solidFill>
                  <a:srgbClr val="8A8A8A"/>
                </a:solidFill>
                <a:latin typeface="Calibri"/>
              </a:rPr>
              <a:t>GetMyMoney · Confidential — Consumer Direct, Inc.</a:t>
            </a:r>
          </a:p>
        </p:txBody>
      </p:sp>
      <p:sp>
        <p:nvSpPr>
          <p:cNvPr id="7" name="TextBox 6"/>
          <p:cNvSpPr txBox="1"/>
          <p:nvPr/>
        </p:nvSpPr>
        <p:spPr>
          <a:xfrm>
            <a:off x="457200" y="749808"/>
            <a:ext cx="11430000" cy="502920"/>
          </a:xfrm>
          <a:prstGeom prst="rect">
            <a:avLst/>
          </a:prstGeom>
          <a:noFill/>
        </p:spPr>
        <p:txBody>
          <a:bodyPr wrap="square" anchor="t" lIns="0" rIns="0" tIns="0" bIns="0">
            <a:spAutoFit/>
          </a:bodyPr>
          <a:lstStyle/>
          <a:p>
            <a:pPr algn="l"/>
            <a:r>
              <a:rPr sz="2800" b="1">
                <a:solidFill>
                  <a:srgbClr val="493356"/>
                </a:solidFill>
                <a:latin typeface="Calibri"/>
              </a:rPr>
              <a:t>Implementation Overview</a:t>
            </a:r>
          </a:p>
        </p:txBody>
      </p:sp>
      <p:sp>
        <p:nvSpPr>
          <p:cNvPr id="9" name="TextBox 8"/>
          <p:cNvSpPr txBox="1"/>
          <p:nvPr/>
        </p:nvSpPr>
        <p:spPr>
          <a:xfrm>
            <a:off x="457200" y="1485960"/>
            <a:ext cx="11430000" cy="411480"/>
          </a:xfrm>
          <a:prstGeom prst="rect">
            <a:avLst/>
          </a:prstGeom>
          <a:noFill/>
        </p:spPr>
        <p:txBody>
          <a:bodyPr wrap="square" anchor="t" lIns="0" rIns="0" tIns="0" bIns="0">
            <a:spAutoFit/>
          </a:bodyPr>
          <a:lstStyle/>
          <a:p>
            <a:pPr algn="l"/>
            <a:r>
              <a:rPr sz="1100" b="0">
                <a:solidFill>
                  <a:srgbClr val="8A8A8A"/>
                </a:solidFill>
                <a:latin typeface="Calibri"/>
              </a:rPr>
              <a:t>Retrieve the unclaimed-property data each state makes public, match it with the same PII engine that powers PrivacyMaster, and surface it in the same look and feel members already know. Only the data source is new.</a:t>
            </a:r>
          </a:p>
        </p:txBody>
      </p:sp>
      <p:sp>
        <p:nvSpPr>
          <p:cNvPr id="10" name="Rounded Rectangle 9"/>
          <p:cNvSpPr/>
          <p:nvPr/>
        </p:nvSpPr>
        <p:spPr>
          <a:xfrm>
            <a:off x="457200" y="2217480"/>
            <a:ext cx="3429000" cy="3017520"/>
          </a:xfrm>
          <a:prstGeom prst="roundRect">
            <a:avLst>
              <a:gd name="adj" fmla="val 4000"/>
            </a:avLst>
          </a:prstGeom>
          <a:solidFill>
            <a:srgbClr val="FFFFFF"/>
          </a:solidFill>
          <a:ln w="6350">
            <a:solidFill>
              <a:srgbClr val="E2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217480"/>
            <a:ext cx="3429000" cy="164592"/>
          </a:xfrm>
          <a:prstGeom prst="rect">
            <a:avLst/>
          </a:prstGeom>
          <a:solidFill>
            <a:srgbClr val="3058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 y="2528376"/>
            <a:ext cx="411480" cy="411480"/>
          </a:xfrm>
          <a:prstGeom prst="roundRect">
            <a:avLst>
              <a:gd name="adj" fmla="val 50000"/>
            </a:avLst>
          </a:prstGeom>
          <a:solidFill>
            <a:srgbClr val="3058A3"/>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Calibri"/>
              </a:rPr>
              <a:t>1</a:t>
            </a:r>
          </a:p>
        </p:txBody>
      </p:sp>
      <p:sp>
        <p:nvSpPr>
          <p:cNvPr id="13" name="TextBox 12"/>
          <p:cNvSpPr txBox="1"/>
          <p:nvPr/>
        </p:nvSpPr>
        <p:spPr>
          <a:xfrm>
            <a:off x="1143000" y="2555808"/>
            <a:ext cx="2697480" cy="365760"/>
          </a:xfrm>
          <a:prstGeom prst="rect">
            <a:avLst/>
          </a:prstGeom>
          <a:noFill/>
        </p:spPr>
        <p:txBody>
          <a:bodyPr wrap="square" anchor="t" lIns="0" rIns="0" tIns="0" bIns="0">
            <a:spAutoFit/>
          </a:bodyPr>
          <a:lstStyle/>
          <a:p>
            <a:pPr algn="l"/>
            <a:r>
              <a:rPr sz="1300" b="1">
                <a:solidFill>
                  <a:srgbClr val="3058A3"/>
                </a:solidFill>
                <a:latin typeface="Calibri"/>
              </a:rPr>
              <a:t>RETRIEVE DATA</a:t>
            </a:r>
          </a:p>
        </p:txBody>
      </p:sp>
      <p:sp>
        <p:nvSpPr>
          <p:cNvPr id="14" name="TextBox 13"/>
          <p:cNvSpPr txBox="1"/>
          <p:nvPr/>
        </p:nvSpPr>
        <p:spPr>
          <a:xfrm>
            <a:off x="658368" y="3113592"/>
            <a:ext cx="3026664" cy="548640"/>
          </a:xfrm>
          <a:prstGeom prst="rect">
            <a:avLst/>
          </a:prstGeom>
          <a:noFill/>
        </p:spPr>
        <p:txBody>
          <a:bodyPr wrap="square" anchor="t" lIns="0" rIns="0" tIns="0" bIns="0">
            <a:spAutoFit/>
          </a:bodyPr>
          <a:lstStyle/>
          <a:p>
            <a:pPr algn="l"/>
            <a:r>
              <a:rPr sz="1200" b="1">
                <a:solidFill>
                  <a:srgbClr val="493356"/>
                </a:solidFill>
                <a:latin typeface="Calibri"/>
              </a:rPr>
              <a:t>Pull each state's publicly available unclaimed-property records</a:t>
            </a:r>
          </a:p>
        </p:txBody>
      </p:sp>
      <p:sp>
        <p:nvSpPr>
          <p:cNvPr id="15" name="TextBox 14"/>
          <p:cNvSpPr txBox="1"/>
          <p:nvPr/>
        </p:nvSpPr>
        <p:spPr>
          <a:xfrm>
            <a:off x="658368" y="3817680"/>
            <a:ext cx="3026664" cy="1325880"/>
          </a:xfrm>
          <a:prstGeom prst="rect">
            <a:avLst/>
          </a:prstGeom>
          <a:noFill/>
        </p:spPr>
        <p:txBody>
          <a:bodyPr wrap="square" anchor="t" lIns="0" rIns="0" tIns="0" bIns="0">
            <a:spAutoFit/>
          </a:bodyPr>
          <a:lstStyle/>
          <a:p>
            <a:pPr algn="l"/>
            <a:r>
              <a:rPr sz="1000" b="0">
                <a:solidFill>
                  <a:srgbClr val="414141"/>
                </a:solidFill>
                <a:latin typeface="Calibri"/>
              </a:rPr>
              <a:t>•  Public data only — e.g. CA's free weekly CSV
•  No scraping behind logins or CAPTCHAs
•  Refreshed on each state's published cadence</a:t>
            </a:r>
          </a:p>
        </p:txBody>
      </p:sp>
      <p:sp>
        <p:nvSpPr>
          <p:cNvPr id="16" name="Right Arrow 15"/>
          <p:cNvSpPr/>
          <p:nvPr/>
        </p:nvSpPr>
        <p:spPr>
          <a:xfrm>
            <a:off x="3941063" y="3497639"/>
            <a:ext cx="370332" cy="45720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66260" y="2217480"/>
            <a:ext cx="3429000" cy="3017520"/>
          </a:xfrm>
          <a:prstGeom prst="roundRect">
            <a:avLst>
              <a:gd name="adj" fmla="val 4000"/>
            </a:avLst>
          </a:prstGeom>
          <a:solidFill>
            <a:srgbClr val="FFFFFF"/>
          </a:solidFill>
          <a:ln w="6350">
            <a:solidFill>
              <a:srgbClr val="E2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6260" y="2217480"/>
            <a:ext cx="3429000" cy="164592"/>
          </a:xfrm>
          <a:prstGeom prst="rect">
            <a:avLst/>
          </a:prstGeom>
          <a:solidFill>
            <a:srgbClr val="EF5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549140" y="2528376"/>
            <a:ext cx="411480" cy="411480"/>
          </a:xfrm>
          <a:prstGeom prst="roundRect">
            <a:avLst>
              <a:gd name="adj" fmla="val 50000"/>
            </a:avLst>
          </a:prstGeom>
          <a:solidFill>
            <a:srgbClr val="EF5E33"/>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Calibri"/>
              </a:rPr>
              <a:t>2</a:t>
            </a:r>
          </a:p>
        </p:txBody>
      </p:sp>
      <p:sp>
        <p:nvSpPr>
          <p:cNvPr id="20" name="TextBox 19"/>
          <p:cNvSpPr txBox="1"/>
          <p:nvPr/>
        </p:nvSpPr>
        <p:spPr>
          <a:xfrm>
            <a:off x="5052060" y="2555808"/>
            <a:ext cx="2697480" cy="365760"/>
          </a:xfrm>
          <a:prstGeom prst="rect">
            <a:avLst/>
          </a:prstGeom>
          <a:noFill/>
        </p:spPr>
        <p:txBody>
          <a:bodyPr wrap="square" anchor="t" lIns="0" rIns="0" tIns="0" bIns="0">
            <a:spAutoFit/>
          </a:bodyPr>
          <a:lstStyle/>
          <a:p>
            <a:pPr algn="l"/>
            <a:r>
              <a:rPr sz="1300" b="1">
                <a:solidFill>
                  <a:srgbClr val="EF5E33"/>
                </a:solidFill>
                <a:latin typeface="Calibri"/>
              </a:rPr>
              <a:t>MATCH · PRIVACYMASTER</a:t>
            </a:r>
          </a:p>
        </p:txBody>
      </p:sp>
      <p:sp>
        <p:nvSpPr>
          <p:cNvPr id="21" name="TextBox 20"/>
          <p:cNvSpPr txBox="1"/>
          <p:nvPr/>
        </p:nvSpPr>
        <p:spPr>
          <a:xfrm>
            <a:off x="4567428" y="3113592"/>
            <a:ext cx="3026664" cy="548640"/>
          </a:xfrm>
          <a:prstGeom prst="rect">
            <a:avLst/>
          </a:prstGeom>
          <a:noFill/>
        </p:spPr>
        <p:txBody>
          <a:bodyPr wrap="square" anchor="t" lIns="0" rIns="0" tIns="0" bIns="0">
            <a:spAutoFit/>
          </a:bodyPr>
          <a:lstStyle/>
          <a:p>
            <a:pPr algn="l"/>
            <a:r>
              <a:rPr sz="1200" b="1">
                <a:solidFill>
                  <a:srgbClr val="493356"/>
                </a:solidFill>
                <a:latin typeface="Calibri"/>
              </a:rPr>
              <a:t>Run the same PII matching engine we already operate</a:t>
            </a:r>
          </a:p>
        </p:txBody>
      </p:sp>
      <p:sp>
        <p:nvSpPr>
          <p:cNvPr id="22" name="TextBox 21"/>
          <p:cNvSpPr txBox="1"/>
          <p:nvPr/>
        </p:nvSpPr>
        <p:spPr>
          <a:xfrm>
            <a:off x="4567428" y="3817680"/>
            <a:ext cx="3026664" cy="1325880"/>
          </a:xfrm>
          <a:prstGeom prst="rect">
            <a:avLst/>
          </a:prstGeom>
          <a:noFill/>
        </p:spPr>
        <p:txBody>
          <a:bodyPr wrap="square" anchor="t" lIns="0" rIns="0" tIns="0" bIns="0">
            <a:spAutoFit/>
          </a:bodyPr>
          <a:lstStyle/>
          <a:p>
            <a:pPr algn="l"/>
            <a:r>
              <a:rPr sz="1000" b="0">
                <a:solidFill>
                  <a:srgbClr val="414141"/>
                </a:solidFill>
                <a:latin typeface="Calibri"/>
              </a:rPr>
              <a:t>•  Fuzzy + phonetic name matching
•  Same member identity — no re-collection
•  No new engine to build</a:t>
            </a:r>
          </a:p>
        </p:txBody>
      </p:sp>
      <p:sp>
        <p:nvSpPr>
          <p:cNvPr id="23" name="Right Arrow 22"/>
          <p:cNvSpPr/>
          <p:nvPr/>
        </p:nvSpPr>
        <p:spPr>
          <a:xfrm>
            <a:off x="7850124" y="3497639"/>
            <a:ext cx="370332" cy="45720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275320" y="2217480"/>
            <a:ext cx="3429000" cy="3017520"/>
          </a:xfrm>
          <a:prstGeom prst="roundRect">
            <a:avLst>
              <a:gd name="adj" fmla="val 4000"/>
            </a:avLst>
          </a:prstGeom>
          <a:solidFill>
            <a:srgbClr val="FFFFFF"/>
          </a:solidFill>
          <a:ln w="6350">
            <a:solidFill>
              <a:srgbClr val="E2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75320" y="2217480"/>
            <a:ext cx="3429000" cy="164592"/>
          </a:xfrm>
          <a:prstGeom prst="rect">
            <a:avLst/>
          </a:prstGeom>
          <a:solidFill>
            <a:srgbClr val="2446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458200" y="2528376"/>
            <a:ext cx="411480" cy="411480"/>
          </a:xfrm>
          <a:prstGeom prst="roundRect">
            <a:avLst>
              <a:gd name="adj" fmla="val 50000"/>
            </a:avLst>
          </a:prstGeom>
          <a:solidFill>
            <a:srgbClr val="24467F"/>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Calibri"/>
              </a:rPr>
              <a:t>3</a:t>
            </a:r>
          </a:p>
        </p:txBody>
      </p:sp>
      <p:sp>
        <p:nvSpPr>
          <p:cNvPr id="27" name="TextBox 26"/>
          <p:cNvSpPr txBox="1"/>
          <p:nvPr/>
        </p:nvSpPr>
        <p:spPr>
          <a:xfrm>
            <a:off x="8961120" y="2555808"/>
            <a:ext cx="2697480" cy="365760"/>
          </a:xfrm>
          <a:prstGeom prst="rect">
            <a:avLst/>
          </a:prstGeom>
          <a:noFill/>
        </p:spPr>
        <p:txBody>
          <a:bodyPr wrap="square" anchor="t" lIns="0" rIns="0" tIns="0" bIns="0">
            <a:spAutoFit/>
          </a:bodyPr>
          <a:lstStyle/>
          <a:p>
            <a:pPr algn="l"/>
            <a:r>
              <a:rPr sz="1300" b="1">
                <a:solidFill>
                  <a:srgbClr val="24467F"/>
                </a:solidFill>
                <a:latin typeface="Calibri"/>
              </a:rPr>
              <a:t>SURFACE IN-PRODUCT</a:t>
            </a:r>
          </a:p>
        </p:txBody>
      </p:sp>
      <p:sp>
        <p:nvSpPr>
          <p:cNvPr id="28" name="TextBox 27"/>
          <p:cNvSpPr txBox="1"/>
          <p:nvPr/>
        </p:nvSpPr>
        <p:spPr>
          <a:xfrm>
            <a:off x="8476488" y="3113592"/>
            <a:ext cx="3026664" cy="548640"/>
          </a:xfrm>
          <a:prstGeom prst="rect">
            <a:avLst/>
          </a:prstGeom>
          <a:noFill/>
        </p:spPr>
        <p:txBody>
          <a:bodyPr wrap="square" anchor="t" lIns="0" rIns="0" tIns="0" bIns="0">
            <a:spAutoFit/>
          </a:bodyPr>
          <a:lstStyle/>
          <a:p>
            <a:pPr algn="l"/>
            <a:r>
              <a:rPr sz="1200" b="1">
                <a:solidFill>
                  <a:srgbClr val="493356"/>
                </a:solidFill>
                <a:latin typeface="Calibri"/>
              </a:rPr>
              <a:t>Show matches in the PrivacyMaster look and feel</a:t>
            </a:r>
          </a:p>
        </p:txBody>
      </p:sp>
      <p:sp>
        <p:nvSpPr>
          <p:cNvPr id="29" name="TextBox 28"/>
          <p:cNvSpPr txBox="1"/>
          <p:nvPr/>
        </p:nvSpPr>
        <p:spPr>
          <a:xfrm>
            <a:off x="8476488" y="3817680"/>
            <a:ext cx="3026664" cy="1325880"/>
          </a:xfrm>
          <a:prstGeom prst="rect">
            <a:avLst/>
          </a:prstGeom>
          <a:noFill/>
        </p:spPr>
        <p:txBody>
          <a:bodyPr wrap="square" anchor="t" lIns="0" rIns="0" tIns="0" bIns="0">
            <a:spAutoFit/>
          </a:bodyPr>
          <a:lstStyle/>
          <a:p>
            <a:pPr algn="l"/>
            <a:r>
              <a:rPr sz="1000" b="0">
                <a:solidFill>
                  <a:srgbClr val="414141"/>
                </a:solidFill>
                <a:latin typeface="Calibri"/>
              </a:rPr>
              <a:t>•  Same alert + review pattern members trust
•  Potential match → deep-link to the state
•  Familiar UI, new outcome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3058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2286000" cy="329184"/>
          </a:xfrm>
          <a:prstGeom prst="rect">
            <a:avLst/>
          </a:prstGeom>
          <a:noFill/>
        </p:spPr>
        <p:txBody>
          <a:bodyPr wrap="square" anchor="t" lIns="0" rIns="0" tIns="0" bIns="0">
            <a:spAutoFit/>
          </a:bodyPr>
          <a:lstStyle/>
          <a:p>
            <a:pPr algn="l"/>
            <a:r>
              <a:rPr sz="1600" b="1">
                <a:solidFill>
                  <a:srgbClr val="493356"/>
                </a:solidFill>
                <a:latin typeface="Calibri"/>
              </a:rPr>
              <a:t>CONSUMER</a:t>
            </a:r>
            <a:r>
              <a:rPr sz="1600" b="1">
                <a:solidFill>
                  <a:srgbClr val="3058A3"/>
                </a:solidFill>
                <a:latin typeface="Calibri"/>
              </a:rPr>
              <a:t>DIRECT</a:t>
            </a:r>
          </a:p>
        </p:txBody>
      </p:sp>
      <p:sp>
        <p:nvSpPr>
          <p:cNvPr id="5" name="TextBox 4"/>
          <p:cNvSpPr txBox="1"/>
          <p:nvPr/>
        </p:nvSpPr>
        <p:spPr>
          <a:xfrm>
            <a:off x="11338560" y="6446520"/>
            <a:ext cx="731520" cy="274320"/>
          </a:xfrm>
          <a:prstGeom prst="rect">
            <a:avLst/>
          </a:prstGeom>
          <a:noFill/>
        </p:spPr>
        <p:txBody>
          <a:bodyPr wrap="square" anchor="t" lIns="0" rIns="0" tIns="0" bIns="0">
            <a:spAutoFit/>
          </a:bodyPr>
          <a:lstStyle/>
          <a:p>
            <a:pPr algn="r"/>
            <a:r>
              <a:rPr sz="900" b="0">
                <a:solidFill>
                  <a:srgbClr val="8A8A8A"/>
                </a:solidFill>
                <a:latin typeface="Calibri"/>
              </a:rPr>
              <a:t>6 / 15</a:t>
            </a:r>
          </a:p>
        </p:txBody>
      </p:sp>
      <p:sp>
        <p:nvSpPr>
          <p:cNvPr id="6" name="TextBox 5"/>
          <p:cNvSpPr txBox="1"/>
          <p:nvPr/>
        </p:nvSpPr>
        <p:spPr>
          <a:xfrm>
            <a:off x="457200" y="6446520"/>
            <a:ext cx="7315200" cy="274320"/>
          </a:xfrm>
          <a:prstGeom prst="rect">
            <a:avLst/>
          </a:prstGeom>
          <a:noFill/>
        </p:spPr>
        <p:txBody>
          <a:bodyPr wrap="square" anchor="t" lIns="0" rIns="0" tIns="0" bIns="0">
            <a:spAutoFit/>
          </a:bodyPr>
          <a:lstStyle/>
          <a:p>
            <a:pPr algn="l"/>
            <a:r>
              <a:rPr sz="900" b="0">
                <a:solidFill>
                  <a:srgbClr val="8A8A8A"/>
                </a:solidFill>
                <a:latin typeface="Calibri"/>
              </a:rPr>
              <a:t>GetMyMoney · Confidential — Consumer Direct, Inc.</a:t>
            </a:r>
          </a:p>
        </p:txBody>
      </p:sp>
      <p:sp>
        <p:nvSpPr>
          <p:cNvPr id="7" name="TextBox 6"/>
          <p:cNvSpPr txBox="1"/>
          <p:nvPr/>
        </p:nvSpPr>
        <p:spPr>
          <a:xfrm>
            <a:off x="457200" y="749808"/>
            <a:ext cx="11430000" cy="502920"/>
          </a:xfrm>
          <a:prstGeom prst="rect">
            <a:avLst/>
          </a:prstGeom>
          <a:noFill/>
        </p:spPr>
        <p:txBody>
          <a:bodyPr wrap="square" anchor="t" lIns="0" rIns="0" tIns="0" bIns="0">
            <a:spAutoFit/>
          </a:bodyPr>
          <a:lstStyle/>
          <a:p>
            <a:pPr algn="l"/>
            <a:r>
              <a:rPr sz="2800" b="1">
                <a:solidFill>
                  <a:srgbClr val="493356"/>
                </a:solidFill>
                <a:latin typeface="Calibri"/>
              </a:rPr>
              <a:t>Data Availability: All States</a:t>
            </a:r>
          </a:p>
        </p:txBody>
      </p:sp>
      <p:sp>
        <p:nvSpPr>
          <p:cNvPr id="8" name="TextBox 7"/>
          <p:cNvSpPr txBox="1"/>
          <p:nvPr/>
        </p:nvSpPr>
        <p:spPr>
          <a:xfrm>
            <a:off x="457200" y="1353312"/>
            <a:ext cx="11430000" cy="457200"/>
          </a:xfrm>
          <a:prstGeom prst="rect">
            <a:avLst/>
          </a:prstGeom>
          <a:noFill/>
        </p:spPr>
        <p:txBody>
          <a:bodyPr wrap="square" anchor="t" lIns="0" rIns="0" tIns="0" bIns="0">
            <a:spAutoFit/>
          </a:bodyPr>
          <a:lstStyle/>
          <a:p>
            <a:pPr algn="l"/>
            <a:r>
              <a:rPr sz="1600" b="0">
                <a:solidFill>
                  <a:srgbClr val="414141"/>
                </a:solidFill>
                <a:latin typeface="Calibri"/>
              </a:rPr>
              <a:t>Unclaimed-property owner data obtainable in 44 of 56 jurisdictions — about 86% of our member base.</a:t>
            </a:r>
          </a:p>
        </p:txBody>
      </p:sp>
      <p:sp>
        <p:nvSpPr>
          <p:cNvPr id="9" name="TextBox 8"/>
          <p:cNvSpPr txBox="1"/>
          <p:nvPr/>
        </p:nvSpPr>
        <p:spPr>
          <a:xfrm>
            <a:off x="457200" y="1783080"/>
            <a:ext cx="11430000" cy="365760"/>
          </a:xfrm>
          <a:prstGeom prst="rect">
            <a:avLst/>
          </a:prstGeom>
          <a:noFill/>
        </p:spPr>
        <p:txBody>
          <a:bodyPr wrap="square" anchor="t" lIns="0" rIns="0" tIns="0" bIns="0">
            <a:spAutoFit/>
          </a:bodyPr>
          <a:lstStyle/>
          <a:p>
            <a:pPr algn="l"/>
            <a:r>
              <a:rPr sz="1050" b="0">
                <a:solidFill>
                  <a:srgbClr val="8A8A8A"/>
                </a:solidFill>
                <a:latin typeface="Calibri"/>
              </a:rPr>
              <a:t>Tile size = % of total members. Verified against official state programs (Jun 2026). Most obtainable via published lists or public-records requests; CA is live; a few gated (GA CDR; TN PI license; NV ≥$5k; MI ≥$10k).</a:t>
            </a:r>
          </a:p>
        </p:txBody>
      </p:sp>
      <p:sp>
        <p:nvSpPr>
          <p:cNvPr id="901" name="leg"/>
          <p:cNvSpPr txBox="1"/>
          <p:nvPr/>
        </p:nvSpPr>
        <p:spPr>
          <a:xfrm>
            <a:off x="457200" y="2212848"/>
            <a:ext cx="9717512" cy="274320"/>
          </a:xfrm>
          <a:prstGeom prst="rect">
            <a:avLst/>
          </a:prstGeom>
          <a:noFill/>
        </p:spPr>
        <p:txBody>
          <a:bodyPr wrap="square" lIns="0" rIns="0" tIns="0" bIns="0"/>
          <a:lstStyle/>
          <a:p>
            <a:r>
              <a:rPr lang="en-US" sz="1150" b="1">
                <a:solidFill>
                  <a:srgbClr val="059669"/>
                </a:solidFill>
                <a:latin typeface="Calibri"/>
              </a:rPr>
              <a:t>YES — owner data obtainable · 44 jurisdictions · 86.4% of members</a:t>
            </a:r>
          </a:p>
        </p:txBody>
      </p:sp>
      <p:sp>
        <p:nvSpPr>
          <p:cNvPr id="902" name="leg"/>
          <p:cNvSpPr txBox="1"/>
          <p:nvPr/>
        </p:nvSpPr>
        <p:spPr>
          <a:xfrm>
            <a:off x="10284440" y="2212848"/>
            <a:ext cx="1968520" cy="274320"/>
          </a:xfrm>
          <a:prstGeom prst="rect">
            <a:avLst/>
          </a:prstGeom>
          <a:noFill/>
        </p:spPr>
        <p:txBody>
          <a:bodyPr wrap="square" lIns="0" rIns="0" tIns="0" bIns="0"/>
          <a:lstStyle/>
          <a:p>
            <a:r>
              <a:rPr lang="en-US" sz="1150" b="1">
                <a:solidFill>
                  <a:srgbClr val="8A8A8A"/>
                </a:solidFill>
                <a:latin typeface="Calibri"/>
              </a:rPr>
              <a:t>NO · 12 juris. · 13.6%</a:t>
            </a:r>
          </a:p>
        </p:txBody>
      </p:sp>
      <p:sp>
        <p:nvSpPr>
          <p:cNvPr id="903" name="tileFL"/>
          <p:cNvSpPr/>
          <p:nvPr/>
        </p:nvSpPr>
        <p:spPr>
          <a:xfrm>
            <a:off x="457200" y="2542032"/>
            <a:ext cx="1820277" cy="3364992"/>
          </a:xfrm>
          <a:prstGeom prst="rect">
            <a:avLst/>
          </a:prstGeom>
          <a:solidFill>
            <a:srgbClr val="059669"/>
          </a:solidFill>
          <a:ln w="15875">
            <a:solidFill>
              <a:srgbClr val="FFFFFF"/>
            </a:solidFill>
          </a:ln>
        </p:spPr>
        <p:txBody>
          <a:bodyPr rtlCol="0" anchor="ctr" lIns="12700" rIns="12700" tIns="12700" bIns="12700" wrap="none"/>
          <a:lstStyle/>
          <a:p>
            <a:pPr algn="ctr"/>
            <a:r>
              <a:rPr lang="en-US" sz="1800" b="1">
                <a:solidFill>
                  <a:srgbClr val="FFFFFF"/>
                </a:solidFill>
                <a:latin typeface="Calibri"/>
              </a:rPr>
              <a:t>FL</a:t>
            </a:r>
          </a:p>
          <a:p>
            <a:pPr algn="ctr"/>
            <a:r>
              <a:rPr lang="en-US" sz="1300">
                <a:solidFill>
                  <a:srgbClr val="FFFFFF"/>
                </a:solidFill>
                <a:latin typeface="Calibri"/>
              </a:rPr>
              <a:t>16.3%</a:t>
            </a:r>
          </a:p>
        </p:txBody>
      </p:sp>
      <p:sp>
        <p:nvSpPr>
          <p:cNvPr id="904" name="tileTX"/>
          <p:cNvSpPr/>
          <p:nvPr/>
        </p:nvSpPr>
        <p:spPr>
          <a:xfrm>
            <a:off x="2277477" y="2542032"/>
            <a:ext cx="1749444" cy="3364992"/>
          </a:xfrm>
          <a:prstGeom prst="rect">
            <a:avLst/>
          </a:prstGeom>
          <a:solidFill>
            <a:srgbClr val="059669"/>
          </a:solidFill>
          <a:ln w="15875">
            <a:solidFill>
              <a:srgbClr val="FFFFFF"/>
            </a:solidFill>
          </a:ln>
        </p:spPr>
        <p:txBody>
          <a:bodyPr rtlCol="0" anchor="ctr" lIns="12700" rIns="12700" tIns="12700" bIns="12700" wrap="none"/>
          <a:lstStyle/>
          <a:p>
            <a:pPr algn="ctr"/>
            <a:r>
              <a:rPr lang="en-US" sz="1800" b="1">
                <a:solidFill>
                  <a:srgbClr val="FFFFFF"/>
                </a:solidFill>
                <a:latin typeface="Calibri"/>
              </a:rPr>
              <a:t>TX</a:t>
            </a:r>
          </a:p>
          <a:p>
            <a:pPr algn="ctr"/>
            <a:r>
              <a:rPr lang="en-US" sz="1300">
                <a:solidFill>
                  <a:srgbClr val="FFFFFF"/>
                </a:solidFill>
                <a:latin typeface="Calibri"/>
              </a:rPr>
              <a:t>15.4%</a:t>
            </a:r>
          </a:p>
        </p:txBody>
      </p:sp>
      <p:sp>
        <p:nvSpPr>
          <p:cNvPr id="905" name="tileCA"/>
          <p:cNvSpPr/>
          <p:nvPr/>
        </p:nvSpPr>
        <p:spPr>
          <a:xfrm>
            <a:off x="4026921" y="2542032"/>
            <a:ext cx="1895606" cy="2109606"/>
          </a:xfrm>
          <a:prstGeom prst="rect">
            <a:avLst/>
          </a:prstGeom>
          <a:solidFill>
            <a:srgbClr val="059669"/>
          </a:solidFill>
          <a:ln w="15875">
            <a:solidFill>
              <a:srgbClr val="FFFFFF"/>
            </a:solidFill>
          </a:ln>
        </p:spPr>
        <p:txBody>
          <a:bodyPr rtlCol="0" anchor="ctr" lIns="12700" rIns="12700" tIns="12700" bIns="12700" wrap="none"/>
          <a:lstStyle/>
          <a:p>
            <a:pPr algn="ctr"/>
            <a:r>
              <a:rPr lang="en-US" sz="1800" b="1">
                <a:solidFill>
                  <a:srgbClr val="FFFFFF"/>
                </a:solidFill>
                <a:latin typeface="Calibri"/>
              </a:rPr>
              <a:t>CA</a:t>
            </a:r>
          </a:p>
          <a:p>
            <a:pPr algn="ctr"/>
            <a:r>
              <a:rPr lang="en-US" sz="1300">
                <a:solidFill>
                  <a:srgbClr val="FFFFFF"/>
                </a:solidFill>
                <a:latin typeface="Calibri"/>
              </a:rPr>
              <a:t>10.5%</a:t>
            </a:r>
          </a:p>
        </p:txBody>
      </p:sp>
      <p:sp>
        <p:nvSpPr>
          <p:cNvPr id="906" name="tileGA"/>
          <p:cNvSpPr/>
          <p:nvPr/>
        </p:nvSpPr>
        <p:spPr>
          <a:xfrm>
            <a:off x="4026921" y="4651638"/>
            <a:ext cx="1895606" cy="1255386"/>
          </a:xfrm>
          <a:prstGeom prst="rect">
            <a:avLst/>
          </a:prstGeom>
          <a:solidFill>
            <a:srgbClr val="059669"/>
          </a:solidFill>
          <a:ln w="15875">
            <a:solidFill>
              <a:srgbClr val="FFFFFF"/>
            </a:solidFill>
          </a:ln>
        </p:spPr>
        <p:txBody>
          <a:bodyPr rtlCol="0" anchor="ctr" lIns="12700" rIns="12700" tIns="12700" bIns="12700" wrap="none"/>
          <a:lstStyle/>
          <a:p>
            <a:pPr algn="ctr"/>
            <a:r>
              <a:rPr lang="en-US" sz="1687" b="1">
                <a:solidFill>
                  <a:srgbClr val="FFFFFF"/>
                </a:solidFill>
                <a:latin typeface="Calibri"/>
              </a:rPr>
              <a:t>GA</a:t>
            </a:r>
          </a:p>
          <a:p>
            <a:pPr algn="ctr"/>
            <a:r>
              <a:rPr lang="en-US" sz="1181">
                <a:solidFill>
                  <a:srgbClr val="FFFFFF"/>
                </a:solidFill>
                <a:latin typeface="Calibri"/>
              </a:rPr>
              <a:t>6.4%</a:t>
            </a:r>
          </a:p>
        </p:txBody>
      </p:sp>
      <p:sp>
        <p:nvSpPr>
          <p:cNvPr id="907" name="tileNY"/>
          <p:cNvSpPr/>
          <p:nvPr/>
        </p:nvSpPr>
        <p:spPr>
          <a:xfrm>
            <a:off x="5922527" y="2542032"/>
            <a:ext cx="1255867" cy="1524338"/>
          </a:xfrm>
          <a:prstGeom prst="rect">
            <a:avLst/>
          </a:prstGeom>
          <a:solidFill>
            <a:srgbClr val="059669"/>
          </a:solidFill>
          <a:ln w="15875">
            <a:solidFill>
              <a:srgbClr val="FFFFFF"/>
            </a:solidFill>
          </a:ln>
        </p:spPr>
        <p:txBody>
          <a:bodyPr rtlCol="0" anchor="ctr" lIns="12700" rIns="12700" tIns="12700" bIns="12700" wrap="none"/>
          <a:lstStyle/>
          <a:p>
            <a:pPr algn="ctr"/>
            <a:r>
              <a:rPr lang="en-US" sz="1513" b="1">
                <a:solidFill>
                  <a:srgbClr val="FFFFFF"/>
                </a:solidFill>
                <a:latin typeface="Calibri"/>
              </a:rPr>
              <a:t>NY</a:t>
            </a:r>
          </a:p>
          <a:p>
            <a:pPr algn="ctr"/>
            <a:r>
              <a:rPr lang="en-US" sz="1059">
                <a:solidFill>
                  <a:srgbClr val="FFFFFF"/>
                </a:solidFill>
                <a:latin typeface="Calibri"/>
              </a:rPr>
              <a:t>5.1%</a:t>
            </a:r>
          </a:p>
        </p:txBody>
      </p:sp>
      <p:sp>
        <p:nvSpPr>
          <p:cNvPr id="908" name="tileNC"/>
          <p:cNvSpPr/>
          <p:nvPr/>
        </p:nvSpPr>
        <p:spPr>
          <a:xfrm>
            <a:off x="5922527" y="4066370"/>
            <a:ext cx="1255867" cy="970034"/>
          </a:xfrm>
          <a:prstGeom prst="rect">
            <a:avLst/>
          </a:prstGeom>
          <a:solidFill>
            <a:srgbClr val="059669"/>
          </a:solidFill>
          <a:ln w="15875">
            <a:solidFill>
              <a:srgbClr val="FFFFFF"/>
            </a:solidFill>
          </a:ln>
        </p:spPr>
        <p:txBody>
          <a:bodyPr rtlCol="0" anchor="ctr" lIns="12700" rIns="12700" tIns="12700" bIns="12700" wrap="none"/>
          <a:lstStyle/>
          <a:p>
            <a:pPr algn="ctr"/>
            <a:r>
              <a:rPr lang="en-US" sz="1207" b="1">
                <a:solidFill>
                  <a:srgbClr val="FFFFFF"/>
                </a:solidFill>
                <a:latin typeface="Calibri"/>
              </a:rPr>
              <a:t>NC</a:t>
            </a:r>
          </a:p>
          <a:p>
            <a:pPr algn="ctr"/>
            <a:r>
              <a:rPr lang="en-US" sz="845">
                <a:solidFill>
                  <a:srgbClr val="FFFFFF"/>
                </a:solidFill>
                <a:latin typeface="Calibri"/>
              </a:rPr>
              <a:t>3.2%</a:t>
            </a:r>
          </a:p>
        </p:txBody>
      </p:sp>
      <p:sp>
        <p:nvSpPr>
          <p:cNvPr id="909" name="tileNJ"/>
          <p:cNvSpPr/>
          <p:nvPr/>
        </p:nvSpPr>
        <p:spPr>
          <a:xfrm>
            <a:off x="5922527" y="5036404"/>
            <a:ext cx="1255867" cy="870620"/>
          </a:xfrm>
          <a:prstGeom prst="rect">
            <a:avLst/>
          </a:prstGeom>
          <a:solidFill>
            <a:srgbClr val="059669"/>
          </a:solidFill>
          <a:ln w="15875">
            <a:solidFill>
              <a:srgbClr val="FFFFFF"/>
            </a:solidFill>
          </a:ln>
        </p:spPr>
        <p:txBody>
          <a:bodyPr rtlCol="0" anchor="ctr" lIns="12700" rIns="12700" tIns="12700" bIns="12700" wrap="none"/>
          <a:lstStyle/>
          <a:p>
            <a:pPr algn="ctr"/>
            <a:r>
              <a:rPr lang="en-US" sz="1144" b="1">
                <a:solidFill>
                  <a:srgbClr val="FFFFFF"/>
                </a:solidFill>
                <a:latin typeface="Calibri"/>
              </a:rPr>
              <a:t>NJ</a:t>
            </a:r>
          </a:p>
          <a:p>
            <a:pPr algn="ctr"/>
            <a:r>
              <a:rPr lang="en-US" sz="800">
                <a:solidFill>
                  <a:srgbClr val="FFFFFF"/>
                </a:solidFill>
                <a:latin typeface="Calibri"/>
              </a:rPr>
              <a:t>2.9%</a:t>
            </a:r>
          </a:p>
        </p:txBody>
      </p:sp>
      <p:sp>
        <p:nvSpPr>
          <p:cNvPr id="910" name="tilePA"/>
          <p:cNvSpPr/>
          <p:nvPr/>
        </p:nvSpPr>
        <p:spPr>
          <a:xfrm>
            <a:off x="7178395" y="2542032"/>
            <a:ext cx="1210901" cy="856084"/>
          </a:xfrm>
          <a:prstGeom prst="rect">
            <a:avLst/>
          </a:prstGeom>
          <a:solidFill>
            <a:srgbClr val="059669"/>
          </a:solidFill>
          <a:ln w="15875">
            <a:solidFill>
              <a:srgbClr val="FFFFFF"/>
            </a:solidFill>
          </a:ln>
        </p:spPr>
        <p:txBody>
          <a:bodyPr rtlCol="0" anchor="ctr" lIns="12700" rIns="12700" tIns="12700" bIns="12700" wrap="none"/>
          <a:lstStyle/>
          <a:p>
            <a:pPr algn="ctr"/>
            <a:r>
              <a:rPr lang="en-US" sz="1113" b="1">
                <a:solidFill>
                  <a:srgbClr val="FFFFFF"/>
                </a:solidFill>
                <a:latin typeface="Calibri"/>
              </a:rPr>
              <a:t>PA</a:t>
            </a:r>
          </a:p>
          <a:p>
            <a:pPr algn="ctr"/>
            <a:r>
              <a:rPr lang="en-US" sz="800">
                <a:solidFill>
                  <a:srgbClr val="FFFFFF"/>
                </a:solidFill>
                <a:latin typeface="Calibri"/>
              </a:rPr>
              <a:t>2.8%</a:t>
            </a:r>
          </a:p>
        </p:txBody>
      </p:sp>
      <p:sp>
        <p:nvSpPr>
          <p:cNvPr id="911" name="tileLA"/>
          <p:cNvSpPr/>
          <p:nvPr/>
        </p:nvSpPr>
        <p:spPr>
          <a:xfrm>
            <a:off x="8389296" y="2542032"/>
            <a:ext cx="892708" cy="856084"/>
          </a:xfrm>
          <a:prstGeom prst="rect">
            <a:avLst/>
          </a:prstGeom>
          <a:solidFill>
            <a:srgbClr val="059669"/>
          </a:solidFill>
          <a:ln w="15875">
            <a:solidFill>
              <a:srgbClr val="FFFFFF"/>
            </a:solidFill>
          </a:ln>
        </p:spPr>
        <p:txBody>
          <a:bodyPr rtlCol="0" anchor="ctr" lIns="12700" rIns="12700" tIns="12700" bIns="12700" wrap="none"/>
          <a:lstStyle/>
          <a:p>
            <a:pPr algn="ctr"/>
            <a:r>
              <a:rPr lang="en-US" sz="956" b="1">
                <a:solidFill>
                  <a:srgbClr val="FFFFFF"/>
                </a:solidFill>
                <a:latin typeface="Calibri"/>
              </a:rPr>
              <a:t>LA</a:t>
            </a:r>
          </a:p>
          <a:p>
            <a:pPr algn="ctr"/>
            <a:r>
              <a:rPr lang="en-US" sz="800">
                <a:solidFill>
                  <a:srgbClr val="FFFFFF"/>
                </a:solidFill>
                <a:latin typeface="Calibri"/>
              </a:rPr>
              <a:t>2.0%</a:t>
            </a:r>
          </a:p>
        </p:txBody>
      </p:sp>
      <p:sp>
        <p:nvSpPr>
          <p:cNvPr id="912" name="tileSC"/>
          <p:cNvSpPr/>
          <p:nvPr/>
        </p:nvSpPr>
        <p:spPr>
          <a:xfrm>
            <a:off x="9282004" y="2542032"/>
            <a:ext cx="892708" cy="856084"/>
          </a:xfrm>
          <a:prstGeom prst="rect">
            <a:avLst/>
          </a:prstGeom>
          <a:solidFill>
            <a:srgbClr val="059669"/>
          </a:solidFill>
          <a:ln w="15875">
            <a:solidFill>
              <a:srgbClr val="FFFFFF"/>
            </a:solidFill>
          </a:ln>
        </p:spPr>
        <p:txBody>
          <a:bodyPr rtlCol="0" anchor="ctr" lIns="12700" rIns="12700" tIns="12700" bIns="12700" wrap="none"/>
          <a:lstStyle/>
          <a:p>
            <a:pPr algn="ctr"/>
            <a:r>
              <a:rPr lang="en-US" sz="956" b="1">
                <a:solidFill>
                  <a:srgbClr val="FFFFFF"/>
                </a:solidFill>
                <a:latin typeface="Calibri"/>
              </a:rPr>
              <a:t>SC</a:t>
            </a:r>
          </a:p>
          <a:p>
            <a:pPr algn="ctr"/>
            <a:r>
              <a:rPr lang="en-US" sz="800">
                <a:solidFill>
                  <a:srgbClr val="FFFFFF"/>
                </a:solidFill>
                <a:latin typeface="Calibri"/>
              </a:rPr>
              <a:t>2.0%</a:t>
            </a:r>
          </a:p>
        </p:txBody>
      </p:sp>
      <p:sp>
        <p:nvSpPr>
          <p:cNvPr id="913" name="tileMD"/>
          <p:cNvSpPr/>
          <p:nvPr/>
        </p:nvSpPr>
        <p:spPr>
          <a:xfrm>
            <a:off x="7178395" y="3398116"/>
            <a:ext cx="815807" cy="885770"/>
          </a:xfrm>
          <a:prstGeom prst="rect">
            <a:avLst/>
          </a:prstGeom>
          <a:solidFill>
            <a:srgbClr val="059669"/>
          </a:solidFill>
          <a:ln w="15875">
            <a:solidFill>
              <a:srgbClr val="FFFFFF"/>
            </a:solidFill>
          </a:ln>
        </p:spPr>
        <p:txBody>
          <a:bodyPr rtlCol="0" anchor="ctr" lIns="12700" rIns="12700" tIns="12700" bIns="12700" wrap="none"/>
          <a:lstStyle/>
          <a:p>
            <a:pPr algn="ctr"/>
            <a:r>
              <a:rPr lang="en-US" sz="930" b="1">
                <a:solidFill>
                  <a:srgbClr val="FFFFFF"/>
                </a:solidFill>
                <a:latin typeface="Calibri"/>
              </a:rPr>
              <a:t>MD</a:t>
            </a:r>
          </a:p>
          <a:p>
            <a:pPr algn="ctr"/>
            <a:r>
              <a:rPr lang="en-US" sz="800">
                <a:solidFill>
                  <a:srgbClr val="FFFFFF"/>
                </a:solidFill>
                <a:latin typeface="Calibri"/>
              </a:rPr>
              <a:t>1.9%</a:t>
            </a:r>
          </a:p>
        </p:txBody>
      </p:sp>
      <p:sp>
        <p:nvSpPr>
          <p:cNvPr id="914" name="tileOH"/>
          <p:cNvSpPr/>
          <p:nvPr/>
        </p:nvSpPr>
        <p:spPr>
          <a:xfrm>
            <a:off x="7178395" y="4283886"/>
            <a:ext cx="815807" cy="839394"/>
          </a:xfrm>
          <a:prstGeom prst="rect">
            <a:avLst/>
          </a:prstGeom>
          <a:solidFill>
            <a:srgbClr val="059669"/>
          </a:solidFill>
          <a:ln w="15875">
            <a:solidFill>
              <a:srgbClr val="FFFFFF"/>
            </a:solidFill>
          </a:ln>
        </p:spPr>
        <p:txBody>
          <a:bodyPr rtlCol="0" anchor="ctr" lIns="12700" rIns="12700" tIns="12700" bIns="12700" wrap="none"/>
          <a:lstStyle/>
          <a:p>
            <a:pPr algn="ctr"/>
            <a:r>
              <a:rPr lang="en-US" sz="905" b="1">
                <a:solidFill>
                  <a:srgbClr val="FFFFFF"/>
                </a:solidFill>
                <a:latin typeface="Calibri"/>
              </a:rPr>
              <a:t>OH</a:t>
            </a:r>
          </a:p>
          <a:p>
            <a:pPr algn="ctr"/>
            <a:r>
              <a:rPr lang="en-US" sz="800">
                <a:solidFill>
                  <a:srgbClr val="FFFFFF"/>
                </a:solidFill>
                <a:latin typeface="Calibri"/>
              </a:rPr>
              <a:t>1.8%</a:t>
            </a:r>
          </a:p>
        </p:txBody>
      </p:sp>
      <p:sp>
        <p:nvSpPr>
          <p:cNvPr id="915" name="tileMI"/>
          <p:cNvSpPr/>
          <p:nvPr/>
        </p:nvSpPr>
        <p:spPr>
          <a:xfrm>
            <a:off x="7178395" y="5123280"/>
            <a:ext cx="815807" cy="783744"/>
          </a:xfrm>
          <a:prstGeom prst="rect">
            <a:avLst/>
          </a:prstGeom>
          <a:solidFill>
            <a:srgbClr val="059669"/>
          </a:solidFill>
          <a:ln w="15875">
            <a:solidFill>
              <a:srgbClr val="FFFFFF"/>
            </a:solidFill>
          </a:ln>
        </p:spPr>
        <p:txBody>
          <a:bodyPr rtlCol="0" anchor="ctr" lIns="12700" rIns="12700" tIns="12700" bIns="12700" wrap="none"/>
          <a:lstStyle/>
          <a:p>
            <a:pPr algn="ctr"/>
            <a:r>
              <a:rPr lang="en-US" sz="900" b="1">
                <a:solidFill>
                  <a:srgbClr val="FFFFFF"/>
                </a:solidFill>
                <a:latin typeface="Calibri"/>
              </a:rPr>
              <a:t>MI</a:t>
            </a:r>
          </a:p>
          <a:p>
            <a:pPr algn="ctr"/>
            <a:r>
              <a:rPr lang="en-US" sz="800">
                <a:solidFill>
                  <a:srgbClr val="FFFFFF"/>
                </a:solidFill>
                <a:latin typeface="Calibri"/>
              </a:rPr>
              <a:t>1.7%</a:t>
            </a:r>
          </a:p>
        </p:txBody>
      </p:sp>
      <p:sp>
        <p:nvSpPr>
          <p:cNvPr id="916" name="tileTN"/>
          <p:cNvSpPr/>
          <p:nvPr/>
        </p:nvSpPr>
        <p:spPr>
          <a:xfrm>
            <a:off x="7994201" y="3398116"/>
            <a:ext cx="804712" cy="728728"/>
          </a:xfrm>
          <a:prstGeom prst="rect">
            <a:avLst/>
          </a:prstGeom>
          <a:solidFill>
            <a:srgbClr val="059669"/>
          </a:solidFill>
          <a:ln w="15875">
            <a:solidFill>
              <a:srgbClr val="FFFFFF"/>
            </a:solidFill>
          </a:ln>
        </p:spPr>
        <p:txBody>
          <a:bodyPr rtlCol="0" anchor="ctr" lIns="12700" rIns="12700" tIns="12700" bIns="12700" wrap="none"/>
          <a:lstStyle/>
          <a:p>
            <a:pPr algn="ctr"/>
            <a:r>
              <a:rPr lang="en-US" sz="900" b="1">
                <a:solidFill>
                  <a:srgbClr val="FFFFFF"/>
                </a:solidFill>
                <a:latin typeface="Calibri"/>
              </a:rPr>
              <a:t>TN</a:t>
            </a:r>
          </a:p>
          <a:p>
            <a:pPr algn="ctr"/>
            <a:r>
              <a:rPr lang="en-US" sz="800">
                <a:solidFill>
                  <a:srgbClr val="FFFFFF"/>
                </a:solidFill>
                <a:latin typeface="Calibri"/>
              </a:rPr>
              <a:t>1.6%</a:t>
            </a:r>
          </a:p>
        </p:txBody>
      </p:sp>
      <p:sp>
        <p:nvSpPr>
          <p:cNvPr id="917" name="tileMS"/>
          <p:cNvSpPr/>
          <p:nvPr/>
        </p:nvSpPr>
        <p:spPr>
          <a:xfrm>
            <a:off x="8798913" y="3398116"/>
            <a:ext cx="690495" cy="728728"/>
          </a:xfrm>
          <a:prstGeom prst="rect">
            <a:avLst/>
          </a:prstGeom>
          <a:solidFill>
            <a:srgbClr val="059669"/>
          </a:solidFill>
          <a:ln w="15875">
            <a:solidFill>
              <a:srgbClr val="FFFFFF"/>
            </a:solidFill>
          </a:ln>
        </p:spPr>
        <p:txBody>
          <a:bodyPr rtlCol="0" anchor="ctr" lIns="12700" rIns="12700" tIns="12700" bIns="12700" wrap="none"/>
          <a:lstStyle/>
          <a:p>
            <a:pPr algn="ctr"/>
            <a:r>
              <a:rPr lang="en-US" sz="750" b="1">
                <a:solidFill>
                  <a:srgbClr val="FFFFFF"/>
                </a:solidFill>
                <a:latin typeface="Calibri"/>
              </a:rPr>
              <a:t>MS 1.3%</a:t>
            </a:r>
          </a:p>
        </p:txBody>
      </p:sp>
      <p:sp>
        <p:nvSpPr>
          <p:cNvPr id="918" name="tileNV"/>
          <p:cNvSpPr/>
          <p:nvPr/>
        </p:nvSpPr>
        <p:spPr>
          <a:xfrm>
            <a:off x="9489408" y="3398116"/>
            <a:ext cx="685303" cy="728728"/>
          </a:xfrm>
          <a:prstGeom prst="rect">
            <a:avLst/>
          </a:prstGeom>
          <a:solidFill>
            <a:srgbClr val="059669"/>
          </a:solidFill>
          <a:ln w="15875">
            <a:solidFill>
              <a:srgbClr val="FFFFFF"/>
            </a:solidFill>
          </a:ln>
        </p:spPr>
        <p:txBody>
          <a:bodyPr rtlCol="0" anchor="ctr" lIns="12700" rIns="12700" tIns="12700" bIns="12700" wrap="none"/>
          <a:lstStyle/>
          <a:p>
            <a:pPr algn="ctr"/>
            <a:r>
              <a:rPr lang="en-US" sz="750" b="1">
                <a:solidFill>
                  <a:srgbClr val="FFFFFF"/>
                </a:solidFill>
                <a:latin typeface="Calibri"/>
              </a:rPr>
              <a:t>NV 1.3%</a:t>
            </a:r>
          </a:p>
        </p:txBody>
      </p:sp>
      <p:sp>
        <p:nvSpPr>
          <p:cNvPr id="919" name="tileMA"/>
          <p:cNvSpPr/>
          <p:nvPr/>
        </p:nvSpPr>
        <p:spPr>
          <a:xfrm>
            <a:off x="7994201" y="4126845"/>
            <a:ext cx="731087" cy="667567"/>
          </a:xfrm>
          <a:prstGeom prst="rect">
            <a:avLst/>
          </a:prstGeom>
          <a:solidFill>
            <a:srgbClr val="059669"/>
          </a:solidFill>
          <a:ln w="15875">
            <a:solidFill>
              <a:srgbClr val="FFFFFF"/>
            </a:solidFill>
          </a:ln>
        </p:spPr>
        <p:txBody>
          <a:bodyPr rtlCol="0" anchor="ctr" lIns="12700" rIns="12700" tIns="12700" bIns="12700" wrap="none"/>
          <a:lstStyle/>
          <a:p>
            <a:pPr algn="ctr"/>
            <a:r>
              <a:rPr lang="en-US" sz="750" b="1">
                <a:solidFill>
                  <a:srgbClr val="FFFFFF"/>
                </a:solidFill>
                <a:latin typeface="Calibri"/>
              </a:rPr>
              <a:t>MA 1.3%</a:t>
            </a:r>
          </a:p>
        </p:txBody>
      </p:sp>
      <p:sp>
        <p:nvSpPr>
          <p:cNvPr id="920" name="tileMO"/>
          <p:cNvSpPr/>
          <p:nvPr/>
        </p:nvSpPr>
        <p:spPr>
          <a:xfrm>
            <a:off x="7994201" y="4794412"/>
            <a:ext cx="731087" cy="636518"/>
          </a:xfrm>
          <a:prstGeom prst="rect">
            <a:avLst/>
          </a:prstGeom>
          <a:solidFill>
            <a:srgbClr val="059669"/>
          </a:solidFill>
          <a:ln w="15875">
            <a:solidFill>
              <a:srgbClr val="FFFFFF"/>
            </a:solidFill>
          </a:ln>
        </p:spPr>
        <p:txBody>
          <a:bodyPr rtlCol="0" anchor="ctr" lIns="12700" rIns="12700" tIns="12700" bIns="12700" wrap="none"/>
          <a:lstStyle/>
          <a:p>
            <a:pPr algn="ctr"/>
            <a:r>
              <a:rPr lang="en-US" sz="750" b="1">
                <a:solidFill>
                  <a:srgbClr val="FFFFFF"/>
                </a:solidFill>
                <a:latin typeface="Calibri"/>
              </a:rPr>
              <a:t>MO 1.2%</a:t>
            </a:r>
          </a:p>
        </p:txBody>
      </p:sp>
      <p:sp>
        <p:nvSpPr>
          <p:cNvPr id="921" name="tileIN"/>
          <p:cNvSpPr/>
          <p:nvPr/>
        </p:nvSpPr>
        <p:spPr>
          <a:xfrm>
            <a:off x="7994201" y="5430930"/>
            <a:ext cx="731087" cy="476094"/>
          </a:xfrm>
          <a:prstGeom prst="rect">
            <a:avLst/>
          </a:prstGeom>
          <a:solidFill>
            <a:srgbClr val="059669"/>
          </a:solidFill>
          <a:ln w="15875">
            <a:solidFill>
              <a:srgbClr val="FFFFFF"/>
            </a:solidFill>
          </a:ln>
        </p:spPr>
        <p:txBody>
          <a:bodyPr rtlCol="0" anchor="ctr" lIns="12700" rIns="12700" tIns="12700" bIns="12700" wrap="none"/>
          <a:lstStyle/>
          <a:p>
            <a:pPr algn="ctr"/>
            <a:r>
              <a:rPr lang="en-US" sz="750" b="1">
                <a:solidFill>
                  <a:srgbClr val="FFFFFF"/>
                </a:solidFill>
                <a:latin typeface="Calibri"/>
              </a:rPr>
              <a:t>IN 0.9%</a:t>
            </a:r>
          </a:p>
        </p:txBody>
      </p:sp>
      <p:sp>
        <p:nvSpPr>
          <p:cNvPr id="922" name="tileCO"/>
          <p:cNvSpPr/>
          <p:nvPr/>
        </p:nvSpPr>
        <p:spPr>
          <a:xfrm>
            <a:off x="8725288" y="4126845"/>
            <a:ext cx="545808" cy="623846"/>
          </a:xfrm>
          <a:prstGeom prst="rect">
            <a:avLst/>
          </a:prstGeom>
          <a:solidFill>
            <a:srgbClr val="059669"/>
          </a:solidFill>
          <a:ln w="15875">
            <a:solidFill>
              <a:srgbClr val="FFFFFF"/>
            </a:solidFill>
          </a:ln>
        </p:spPr>
        <p:txBody>
          <a:bodyPr rtlCol="0" anchor="ctr" lIns="12700" rIns="12700" tIns="12700" bIns="12700" wrap="none"/>
          <a:lstStyle/>
          <a:p>
            <a:pPr algn="ctr"/>
            <a:r>
              <a:rPr lang="en-US" sz="700" b="1">
                <a:solidFill>
                  <a:srgbClr val="FFFFFF"/>
                </a:solidFill>
                <a:latin typeface="Calibri"/>
              </a:rPr>
              <a:t>CO</a:t>
            </a:r>
          </a:p>
        </p:txBody>
      </p:sp>
      <p:sp>
        <p:nvSpPr>
          <p:cNvPr id="923" name="tileCT"/>
          <p:cNvSpPr/>
          <p:nvPr/>
        </p:nvSpPr>
        <p:spPr>
          <a:xfrm>
            <a:off x="9271096" y="4126845"/>
            <a:ext cx="460904" cy="623846"/>
          </a:xfrm>
          <a:prstGeom prst="rect">
            <a:avLst/>
          </a:prstGeom>
          <a:solidFill>
            <a:srgbClr val="059669"/>
          </a:solidFill>
          <a:ln w="15875">
            <a:solidFill>
              <a:srgbClr val="FFFFFF"/>
            </a:solidFill>
          </a:ln>
        </p:spPr>
        <p:txBody>
          <a:bodyPr rtlCol="0" anchor="ctr" lIns="12700" rIns="12700" tIns="12700" bIns="12700" wrap="none"/>
          <a:lstStyle/>
          <a:p>
            <a:pPr algn="ctr"/>
            <a:r>
              <a:rPr lang="en-US" sz="700" b="1">
                <a:solidFill>
                  <a:srgbClr val="FFFFFF"/>
                </a:solidFill>
                <a:latin typeface="Calibri"/>
              </a:rPr>
              <a:t>CT</a:t>
            </a:r>
          </a:p>
        </p:txBody>
      </p:sp>
      <p:sp>
        <p:nvSpPr>
          <p:cNvPr id="924" name="tileWI"/>
          <p:cNvSpPr/>
          <p:nvPr/>
        </p:nvSpPr>
        <p:spPr>
          <a:xfrm>
            <a:off x="9732001" y="4126845"/>
            <a:ext cx="442711" cy="623846"/>
          </a:xfrm>
          <a:prstGeom prst="rect">
            <a:avLst/>
          </a:prstGeom>
          <a:solidFill>
            <a:srgbClr val="059669"/>
          </a:solidFill>
          <a:ln w="15875">
            <a:solidFill>
              <a:srgbClr val="FFFFFF"/>
            </a:solidFill>
          </a:ln>
        </p:spPr>
        <p:txBody>
          <a:bodyPr rtlCol="0" anchor="ctr" lIns="12700" rIns="12700" tIns="12700" bIns="12700" wrap="none"/>
          <a:lstStyle/>
          <a:p>
            <a:pPr algn="ctr"/>
            <a:r>
              <a:rPr lang="en-US" sz="700" b="1">
                <a:solidFill>
                  <a:srgbClr val="FFFFFF"/>
                </a:solidFill>
                <a:latin typeface="Calibri"/>
              </a:rPr>
              <a:t>WI</a:t>
            </a:r>
          </a:p>
        </p:txBody>
      </p:sp>
      <p:sp>
        <p:nvSpPr>
          <p:cNvPr id="925" name="tileOK"/>
          <p:cNvSpPr/>
          <p:nvPr/>
        </p:nvSpPr>
        <p:spPr>
          <a:xfrm>
            <a:off x="8725288" y="4750690"/>
            <a:ext cx="405708" cy="578167"/>
          </a:xfrm>
          <a:prstGeom prst="rect">
            <a:avLst/>
          </a:prstGeom>
          <a:solidFill>
            <a:srgbClr val="059669"/>
          </a:solidFill>
          <a:ln w="15875">
            <a:solidFill>
              <a:srgbClr val="FFFFFF"/>
            </a:solidFill>
          </a:ln>
        </p:spPr>
        <p:txBody>
          <a:bodyPr rtlCol="0" anchor="ctr" lIns="12700" rIns="12700" tIns="12700" bIns="12700" wrap="none"/>
          <a:lstStyle/>
          <a:p>
            <a:pPr algn="ctr"/>
            <a:r>
              <a:rPr lang="en-US" sz="700" b="1">
                <a:solidFill>
                  <a:srgbClr val="FFFFFF"/>
                </a:solidFill>
                <a:latin typeface="Calibri"/>
              </a:rPr>
              <a:t>OK</a:t>
            </a:r>
          </a:p>
        </p:txBody>
      </p:sp>
      <p:sp>
        <p:nvSpPr>
          <p:cNvPr id="926" name="tileAR"/>
          <p:cNvSpPr/>
          <p:nvPr/>
        </p:nvSpPr>
        <p:spPr>
          <a:xfrm>
            <a:off x="8725288" y="5328857"/>
            <a:ext cx="405708" cy="578167"/>
          </a:xfrm>
          <a:prstGeom prst="rect">
            <a:avLst/>
          </a:prstGeom>
          <a:solidFill>
            <a:srgbClr val="059669"/>
          </a:solidFill>
          <a:ln w="15875">
            <a:solidFill>
              <a:srgbClr val="FFFFFF"/>
            </a:solidFill>
          </a:ln>
        </p:spPr>
        <p:txBody>
          <a:bodyPr rtlCol="0" anchor="ctr" lIns="12700" rIns="12700" tIns="12700" bIns="12700" wrap="none"/>
          <a:lstStyle/>
          <a:p>
            <a:pPr algn="ctr"/>
            <a:r>
              <a:rPr lang="en-US" sz="700" b="1">
                <a:solidFill>
                  <a:srgbClr val="FFFFFF"/>
                </a:solidFill>
                <a:latin typeface="Calibri"/>
              </a:rPr>
              <a:t>AR</a:t>
            </a:r>
          </a:p>
        </p:txBody>
      </p:sp>
      <p:sp>
        <p:nvSpPr>
          <p:cNvPr id="927" name="tileMN"/>
          <p:cNvSpPr/>
          <p:nvPr/>
        </p:nvSpPr>
        <p:spPr>
          <a:xfrm>
            <a:off x="9130996" y="4750690"/>
            <a:ext cx="437112" cy="424110"/>
          </a:xfrm>
          <a:prstGeom prst="rect">
            <a:avLst/>
          </a:prstGeom>
          <a:solidFill>
            <a:srgbClr val="059669"/>
          </a:solidFill>
          <a:ln w="15875">
            <a:solidFill>
              <a:srgbClr val="FFFFFF"/>
            </a:solidFill>
          </a:ln>
        </p:spPr>
        <p:txBody>
          <a:bodyPr rtlCol="0" anchor="ctr" lIns="12700" rIns="12700" tIns="12700" bIns="12700" wrap="none"/>
          <a:lstStyle/>
          <a:p>
            <a:pPr algn="ctr"/>
            <a:r>
              <a:rPr lang="en-US" sz="700" b="1">
                <a:solidFill>
                  <a:srgbClr val="FFFFFF"/>
                </a:solidFill>
                <a:latin typeface="Calibri"/>
              </a:rPr>
              <a:t>MN</a:t>
            </a:r>
          </a:p>
        </p:txBody>
      </p:sp>
      <p:sp>
        <p:nvSpPr>
          <p:cNvPr id="928" name="tileOR"/>
          <p:cNvSpPr/>
          <p:nvPr/>
        </p:nvSpPr>
        <p:spPr>
          <a:xfrm>
            <a:off x="9568108" y="4750690"/>
            <a:ext cx="312223" cy="424110"/>
          </a:xfrm>
          <a:prstGeom prst="rect">
            <a:avLst/>
          </a:prstGeom>
          <a:solidFill>
            <a:srgbClr val="059669"/>
          </a:solidFill>
          <a:ln w="15875">
            <a:solidFill>
              <a:srgbClr val="FFFFFF"/>
            </a:solidFill>
          </a:ln>
        </p:spPr>
        <p:txBody>
          <a:bodyPr rtlCol="0" anchor="ctr" lIns="12700" rIns="12700" tIns="12700" bIns="12700" wrap="none"/>
          <a:lstStyle/>
          <a:p>
            <a:pPr algn="ctr"/>
            <a:r>
              <a:rPr lang="en-US" sz="700" b="1">
                <a:solidFill>
                  <a:srgbClr val="FFFFFF"/>
                </a:solidFill>
                <a:latin typeface="Calibri"/>
              </a:rPr>
              <a:t>OR</a:t>
            </a:r>
          </a:p>
        </p:txBody>
      </p:sp>
      <p:sp>
        <p:nvSpPr>
          <p:cNvPr id="929" name="tileKS"/>
          <p:cNvSpPr/>
          <p:nvPr/>
        </p:nvSpPr>
        <p:spPr>
          <a:xfrm>
            <a:off x="9880330" y="4750690"/>
            <a:ext cx="294381" cy="424110"/>
          </a:xfrm>
          <a:prstGeom prst="rect">
            <a:avLst/>
          </a:prstGeom>
          <a:solidFill>
            <a:srgbClr val="059669"/>
          </a:solidFill>
          <a:ln w="15875">
            <a:solidFill>
              <a:srgbClr val="FFFFFF"/>
            </a:solidFill>
          </a:ln>
        </p:spPr>
        <p:txBody>
          <a:bodyPr rtlCol="0" anchor="ctr" lIns="12700" rIns="12700" tIns="12700" bIns="12700" wrap="none"/>
          <a:lstStyle/>
          <a:p>
            <a:pPr algn="ctr"/>
            <a:r>
              <a:rPr lang="en-US" sz="700" b="1">
                <a:solidFill>
                  <a:srgbClr val="FFFFFF"/>
                </a:solidFill>
                <a:latin typeface="Calibri"/>
              </a:rPr>
              <a:t>KS</a:t>
            </a:r>
          </a:p>
        </p:txBody>
      </p:sp>
      <p:sp>
        <p:nvSpPr>
          <p:cNvPr id="930" name="tileNM"/>
          <p:cNvSpPr/>
          <p:nvPr/>
        </p:nvSpPr>
        <p:spPr>
          <a:xfrm>
            <a:off x="9130996" y="5174800"/>
            <a:ext cx="299681" cy="403986"/>
          </a:xfrm>
          <a:prstGeom prst="rect">
            <a:avLst/>
          </a:prstGeom>
          <a:solidFill>
            <a:srgbClr val="059669"/>
          </a:solidFill>
          <a:ln w="15875">
            <a:solidFill>
              <a:srgbClr val="FFFFFF"/>
            </a:solidFill>
          </a:ln>
        </p:spPr>
        <p:txBody>
          <a:bodyPr rtlCol="0" anchor="ctr" lIns="12700" rIns="12700" tIns="12700" bIns="12700" wrap="none"/>
          <a:lstStyle/>
          <a:p>
            <a:pPr algn="ctr"/>
            <a:r>
              <a:rPr lang="en-US" sz="700" b="1">
                <a:solidFill>
                  <a:srgbClr val="FFFFFF"/>
                </a:solidFill>
                <a:latin typeface="Calibri"/>
              </a:rPr>
              <a:t>NM</a:t>
            </a:r>
          </a:p>
        </p:txBody>
      </p:sp>
      <p:sp>
        <p:nvSpPr>
          <p:cNvPr id="931" name="tileRI"/>
          <p:cNvSpPr/>
          <p:nvPr/>
        </p:nvSpPr>
        <p:spPr>
          <a:xfrm>
            <a:off x="9130996" y="5578786"/>
            <a:ext cx="299681" cy="328238"/>
          </a:xfrm>
          <a:prstGeom prst="rect">
            <a:avLst/>
          </a:prstGeom>
          <a:solidFill>
            <a:srgbClr val="059669"/>
          </a:solidFill>
          <a:ln w="15875">
            <a:solidFill>
              <a:srgbClr val="FFFFFF"/>
            </a:solidFill>
          </a:ln>
        </p:spPr>
        <p:txBody>
          <a:bodyPr rtlCol="0" anchor="ctr" lIns="12700" rIns="12700" tIns="12700" bIns="12700" wrap="none"/>
          <a:lstStyle/>
          <a:p>
            <a:pPr algn="ctr"/>
            <a:r>
              <a:rPr lang="en-US" sz="700" b="1">
                <a:solidFill>
                  <a:srgbClr val="FFFFFF"/>
                </a:solidFill>
                <a:latin typeface="Calibri"/>
              </a:rPr>
              <a:t>RI</a:t>
            </a:r>
          </a:p>
        </p:txBody>
      </p:sp>
      <p:sp>
        <p:nvSpPr>
          <p:cNvPr id="932" name="tileIA"/>
          <p:cNvSpPr/>
          <p:nvPr/>
        </p:nvSpPr>
        <p:spPr>
          <a:xfrm>
            <a:off x="9430677" y="5174800"/>
            <a:ext cx="237678" cy="366112"/>
          </a:xfrm>
          <a:prstGeom prst="rect">
            <a:avLst/>
          </a:prstGeom>
          <a:solidFill>
            <a:srgbClr val="059669"/>
          </a:solidFill>
          <a:ln w="15875">
            <a:solidFill>
              <a:srgbClr val="FFFFFF"/>
            </a:solidFill>
          </a:ln>
        </p:spPr>
        <p:txBody>
          <a:bodyPr rtlCol="0" anchor="ctr" lIns="12700" rIns="12700" tIns="12700" bIns="12700" wrap="none"/>
          <a:lstStyle/>
          <a:p>
            <a:pPr algn="ctr"/>
          </a:p>
        </p:txBody>
      </p:sp>
      <p:sp>
        <p:nvSpPr>
          <p:cNvPr id="933" name="tileHI"/>
          <p:cNvSpPr/>
          <p:nvPr/>
        </p:nvSpPr>
        <p:spPr>
          <a:xfrm>
            <a:off x="9430677" y="5540912"/>
            <a:ext cx="237678" cy="366112"/>
          </a:xfrm>
          <a:prstGeom prst="rect">
            <a:avLst/>
          </a:prstGeom>
          <a:solidFill>
            <a:srgbClr val="059669"/>
          </a:solidFill>
          <a:ln w="15875">
            <a:solidFill>
              <a:srgbClr val="FFFFFF"/>
            </a:solidFill>
          </a:ln>
        </p:spPr>
        <p:txBody>
          <a:bodyPr rtlCol="0" anchor="ctr" lIns="12700" rIns="12700" tIns="12700" bIns="12700" wrap="none"/>
          <a:lstStyle/>
          <a:p>
            <a:pPr algn="ctr"/>
          </a:p>
        </p:txBody>
      </p:sp>
      <p:sp>
        <p:nvSpPr>
          <p:cNvPr id="934" name="tileNE"/>
          <p:cNvSpPr/>
          <p:nvPr/>
        </p:nvSpPr>
        <p:spPr>
          <a:xfrm>
            <a:off x="9668355" y="5174800"/>
            <a:ext cx="267244" cy="268980"/>
          </a:xfrm>
          <a:prstGeom prst="rect">
            <a:avLst/>
          </a:prstGeom>
          <a:solidFill>
            <a:srgbClr val="059669"/>
          </a:solidFill>
          <a:ln w="15875">
            <a:solidFill>
              <a:srgbClr val="FFFFFF"/>
            </a:solidFill>
          </a:ln>
        </p:spPr>
        <p:txBody>
          <a:bodyPr rtlCol="0" anchor="ctr" lIns="12700" rIns="12700" tIns="12700" bIns="12700" wrap="none"/>
          <a:lstStyle/>
          <a:p>
            <a:pPr algn="ctr"/>
          </a:p>
        </p:txBody>
      </p:sp>
      <p:sp>
        <p:nvSpPr>
          <p:cNvPr id="935" name="tileID"/>
          <p:cNvSpPr/>
          <p:nvPr/>
        </p:nvSpPr>
        <p:spPr>
          <a:xfrm>
            <a:off x="9935599" y="5174800"/>
            <a:ext cx="239113" cy="268980"/>
          </a:xfrm>
          <a:prstGeom prst="rect">
            <a:avLst/>
          </a:prstGeom>
          <a:solidFill>
            <a:srgbClr val="059669"/>
          </a:solidFill>
          <a:ln w="15875">
            <a:solidFill>
              <a:srgbClr val="FFFFFF"/>
            </a:solidFill>
          </a:ln>
        </p:spPr>
        <p:txBody>
          <a:bodyPr rtlCol="0" anchor="ctr" lIns="12700" rIns="12700" tIns="12700" bIns="12700" wrap="none"/>
          <a:lstStyle/>
          <a:p>
            <a:pPr algn="ctr"/>
          </a:p>
        </p:txBody>
      </p:sp>
      <p:sp>
        <p:nvSpPr>
          <p:cNvPr id="936" name="tile+11"/>
          <p:cNvSpPr/>
          <p:nvPr/>
        </p:nvSpPr>
        <p:spPr>
          <a:xfrm>
            <a:off x="9668355" y="5443780"/>
            <a:ext cx="506357" cy="463244"/>
          </a:xfrm>
          <a:prstGeom prst="rect">
            <a:avLst/>
          </a:prstGeom>
          <a:solidFill>
            <a:srgbClr val="059669"/>
          </a:solidFill>
          <a:ln w="15875">
            <a:solidFill>
              <a:srgbClr val="FFFFFF"/>
            </a:solidFill>
          </a:ln>
        </p:spPr>
        <p:txBody>
          <a:bodyPr rtlCol="0" anchor="ctr" lIns="12700" rIns="12700" tIns="12700" bIns="12700" wrap="none"/>
          <a:lstStyle/>
          <a:p>
            <a:pPr algn="ctr"/>
            <a:r>
              <a:rPr lang="en-US" sz="700" b="1">
                <a:solidFill>
                  <a:srgbClr val="FFFFFF"/>
                </a:solidFill>
                <a:latin typeface="Calibri"/>
              </a:rPr>
              <a:t>+11</a:t>
            </a:r>
          </a:p>
        </p:txBody>
      </p:sp>
      <p:sp>
        <p:nvSpPr>
          <p:cNvPr id="937" name="tileIL"/>
          <p:cNvSpPr/>
          <p:nvPr/>
        </p:nvSpPr>
        <p:spPr>
          <a:xfrm>
            <a:off x="10284440" y="2542032"/>
            <a:ext cx="1419880" cy="888121"/>
          </a:xfrm>
          <a:prstGeom prst="rect">
            <a:avLst/>
          </a:prstGeom>
          <a:solidFill>
            <a:srgbClr val="8A8A8A"/>
          </a:solidFill>
          <a:ln w="15875">
            <a:solidFill>
              <a:srgbClr val="FFFFFF"/>
            </a:solidFill>
          </a:ln>
        </p:spPr>
        <p:txBody>
          <a:bodyPr rtlCol="0" anchor="ctr" lIns="12700" rIns="12700" tIns="12700" bIns="12700" wrap="none"/>
          <a:lstStyle/>
          <a:p>
            <a:pPr algn="ctr"/>
            <a:r>
              <a:rPr lang="en-US" sz="1228" b="1">
                <a:solidFill>
                  <a:srgbClr val="FFFFFF"/>
                </a:solidFill>
                <a:latin typeface="Calibri"/>
              </a:rPr>
              <a:t>IL</a:t>
            </a:r>
          </a:p>
          <a:p>
            <a:pPr algn="ctr"/>
            <a:r>
              <a:rPr lang="en-US" sz="860">
                <a:solidFill>
                  <a:srgbClr val="FFFFFF"/>
                </a:solidFill>
                <a:latin typeface="Calibri"/>
              </a:rPr>
              <a:t>3.6%</a:t>
            </a:r>
          </a:p>
        </p:txBody>
      </p:sp>
      <p:sp>
        <p:nvSpPr>
          <p:cNvPr id="938" name="tileAZ"/>
          <p:cNvSpPr/>
          <p:nvPr/>
        </p:nvSpPr>
        <p:spPr>
          <a:xfrm>
            <a:off x="10284440" y="3430153"/>
            <a:ext cx="732126" cy="947329"/>
          </a:xfrm>
          <a:prstGeom prst="rect">
            <a:avLst/>
          </a:prstGeom>
          <a:solidFill>
            <a:srgbClr val="8A8A8A"/>
          </a:solidFill>
          <a:ln w="15875">
            <a:solidFill>
              <a:srgbClr val="FFFFFF"/>
            </a:solidFill>
          </a:ln>
        </p:spPr>
        <p:txBody>
          <a:bodyPr rtlCol="0" anchor="ctr" lIns="12700" rIns="12700" tIns="12700" bIns="12700" wrap="none"/>
          <a:lstStyle/>
          <a:p>
            <a:pPr algn="ctr"/>
            <a:r>
              <a:rPr lang="en-US" sz="750" b="1">
                <a:solidFill>
                  <a:srgbClr val="FFFFFF"/>
                </a:solidFill>
                <a:latin typeface="Calibri"/>
              </a:rPr>
              <a:t>AZ 2.0%</a:t>
            </a:r>
          </a:p>
        </p:txBody>
      </p:sp>
      <p:sp>
        <p:nvSpPr>
          <p:cNvPr id="939" name="tileVA"/>
          <p:cNvSpPr/>
          <p:nvPr/>
        </p:nvSpPr>
        <p:spPr>
          <a:xfrm>
            <a:off x="11016565" y="3430153"/>
            <a:ext cx="687755" cy="947329"/>
          </a:xfrm>
          <a:prstGeom prst="rect">
            <a:avLst/>
          </a:prstGeom>
          <a:solidFill>
            <a:srgbClr val="8A8A8A"/>
          </a:solidFill>
          <a:ln w="15875">
            <a:solidFill>
              <a:srgbClr val="FFFFFF"/>
            </a:solidFill>
          </a:ln>
        </p:spPr>
        <p:txBody>
          <a:bodyPr rtlCol="0" anchor="ctr" lIns="12700" rIns="12700" tIns="12700" bIns="12700" wrap="none"/>
          <a:lstStyle/>
          <a:p>
            <a:pPr algn="ctr"/>
            <a:r>
              <a:rPr lang="en-US" sz="750" b="1">
                <a:solidFill>
                  <a:srgbClr val="FFFFFF"/>
                </a:solidFill>
                <a:latin typeface="Calibri"/>
              </a:rPr>
              <a:t>VA 1.9%</a:t>
            </a:r>
          </a:p>
        </p:txBody>
      </p:sp>
      <p:sp>
        <p:nvSpPr>
          <p:cNvPr id="940" name="tilePR"/>
          <p:cNvSpPr/>
          <p:nvPr/>
        </p:nvSpPr>
        <p:spPr>
          <a:xfrm>
            <a:off x="10284440" y="4377482"/>
            <a:ext cx="736385" cy="860984"/>
          </a:xfrm>
          <a:prstGeom prst="rect">
            <a:avLst/>
          </a:prstGeom>
          <a:solidFill>
            <a:srgbClr val="8A8A8A"/>
          </a:solidFill>
          <a:ln w="15875">
            <a:solidFill>
              <a:srgbClr val="FFFFFF"/>
            </a:solidFill>
          </a:ln>
        </p:spPr>
        <p:txBody>
          <a:bodyPr rtlCol="0" anchor="ctr" lIns="12700" rIns="12700" tIns="12700" bIns="12700" wrap="none"/>
          <a:lstStyle/>
          <a:p>
            <a:pPr algn="ctr"/>
            <a:r>
              <a:rPr lang="en-US" sz="750" b="1">
                <a:solidFill>
                  <a:srgbClr val="FFFFFF"/>
                </a:solidFill>
                <a:latin typeface="Calibri"/>
              </a:rPr>
              <a:t>PR 1.8%</a:t>
            </a:r>
          </a:p>
        </p:txBody>
      </p:sp>
      <p:sp>
        <p:nvSpPr>
          <p:cNvPr id="941" name="tileAL"/>
          <p:cNvSpPr/>
          <p:nvPr/>
        </p:nvSpPr>
        <p:spPr>
          <a:xfrm>
            <a:off x="11020825" y="4377482"/>
            <a:ext cx="683495" cy="860984"/>
          </a:xfrm>
          <a:prstGeom prst="rect">
            <a:avLst/>
          </a:prstGeom>
          <a:solidFill>
            <a:srgbClr val="8A8A8A"/>
          </a:solidFill>
          <a:ln w="15875">
            <a:solidFill>
              <a:srgbClr val="FFFFFF"/>
            </a:solidFill>
          </a:ln>
        </p:spPr>
        <p:txBody>
          <a:bodyPr rtlCol="0" anchor="ctr" lIns="12700" rIns="12700" tIns="12700" bIns="12700" wrap="none"/>
          <a:lstStyle/>
          <a:p>
            <a:pPr algn="ctr"/>
            <a:r>
              <a:rPr lang="en-US" sz="750" b="1">
                <a:solidFill>
                  <a:srgbClr val="FFFFFF"/>
                </a:solidFill>
                <a:latin typeface="Calibri"/>
              </a:rPr>
              <a:t>AL 1.7%</a:t>
            </a:r>
          </a:p>
        </p:txBody>
      </p:sp>
      <p:sp>
        <p:nvSpPr>
          <p:cNvPr id="942" name="tileWA"/>
          <p:cNvSpPr/>
          <p:nvPr/>
        </p:nvSpPr>
        <p:spPr>
          <a:xfrm>
            <a:off x="10284440" y="5238466"/>
            <a:ext cx="518702" cy="668558"/>
          </a:xfrm>
          <a:prstGeom prst="rect">
            <a:avLst/>
          </a:prstGeom>
          <a:solidFill>
            <a:srgbClr val="8A8A8A"/>
          </a:solidFill>
          <a:ln w="15875">
            <a:solidFill>
              <a:srgbClr val="FFFFFF"/>
            </a:solidFill>
          </a:ln>
        </p:spPr>
        <p:txBody>
          <a:bodyPr rtlCol="0" anchor="ctr" lIns="12700" rIns="12700" tIns="12700" bIns="12700" wrap="none"/>
          <a:lstStyle/>
          <a:p>
            <a:pPr algn="ctr"/>
            <a:r>
              <a:rPr lang="en-US" sz="700" b="1">
                <a:solidFill>
                  <a:srgbClr val="FFFFFF"/>
                </a:solidFill>
                <a:latin typeface="Calibri"/>
              </a:rPr>
              <a:t>WA</a:t>
            </a:r>
          </a:p>
        </p:txBody>
      </p:sp>
      <p:sp>
        <p:nvSpPr>
          <p:cNvPr id="943" name="tileUT"/>
          <p:cNvSpPr/>
          <p:nvPr/>
        </p:nvSpPr>
        <p:spPr>
          <a:xfrm>
            <a:off x="10803141" y="5238466"/>
            <a:ext cx="581575" cy="361383"/>
          </a:xfrm>
          <a:prstGeom prst="rect">
            <a:avLst/>
          </a:prstGeom>
          <a:solidFill>
            <a:srgbClr val="8A8A8A"/>
          </a:solidFill>
          <a:ln w="15875">
            <a:solidFill>
              <a:srgbClr val="FFFFFF"/>
            </a:solidFill>
          </a:ln>
        </p:spPr>
        <p:txBody>
          <a:bodyPr rtlCol="0" anchor="ctr" lIns="12700" rIns="12700" tIns="12700" bIns="12700" wrap="none"/>
          <a:lstStyle/>
          <a:p>
            <a:pPr algn="ctr"/>
            <a:r>
              <a:rPr lang="en-US" sz="750" b="1">
                <a:solidFill>
                  <a:srgbClr val="FFFFFF"/>
                </a:solidFill>
                <a:latin typeface="Calibri"/>
              </a:rPr>
              <a:t>UT 0.6%</a:t>
            </a:r>
          </a:p>
        </p:txBody>
      </p:sp>
      <p:sp>
        <p:nvSpPr>
          <p:cNvPr id="944" name="tileKY"/>
          <p:cNvSpPr/>
          <p:nvPr/>
        </p:nvSpPr>
        <p:spPr>
          <a:xfrm>
            <a:off x="10803141" y="5599849"/>
            <a:ext cx="581575" cy="307175"/>
          </a:xfrm>
          <a:prstGeom prst="rect">
            <a:avLst/>
          </a:prstGeom>
          <a:solidFill>
            <a:srgbClr val="8A8A8A"/>
          </a:solidFill>
          <a:ln w="15875">
            <a:solidFill>
              <a:srgbClr val="FFFFFF"/>
            </a:solidFill>
          </a:ln>
        </p:spPr>
        <p:txBody>
          <a:bodyPr rtlCol="0" anchor="ctr" lIns="12700" rIns="12700" tIns="12700" bIns="12700" wrap="none"/>
          <a:lstStyle/>
          <a:p>
            <a:pPr algn="ctr"/>
            <a:r>
              <a:rPr lang="en-US" sz="750" b="1">
                <a:solidFill>
                  <a:srgbClr val="FFFFFF"/>
                </a:solidFill>
                <a:latin typeface="Calibri"/>
              </a:rPr>
              <a:t>KY 0.5%</a:t>
            </a:r>
          </a:p>
        </p:txBody>
      </p:sp>
      <p:sp>
        <p:nvSpPr>
          <p:cNvPr id="945" name="tileDE"/>
          <p:cNvSpPr/>
          <p:nvPr/>
        </p:nvSpPr>
        <p:spPr>
          <a:xfrm>
            <a:off x="11384716" y="5238466"/>
            <a:ext cx="319604" cy="350719"/>
          </a:xfrm>
          <a:prstGeom prst="rect">
            <a:avLst/>
          </a:prstGeom>
          <a:solidFill>
            <a:srgbClr val="8A8A8A"/>
          </a:solidFill>
          <a:ln w="15875">
            <a:solidFill>
              <a:srgbClr val="FFFFFF"/>
            </a:solidFill>
          </a:ln>
        </p:spPr>
        <p:txBody>
          <a:bodyPr rtlCol="0" anchor="ctr" lIns="12700" rIns="12700" tIns="12700" bIns="12700" wrap="none"/>
          <a:lstStyle/>
          <a:p>
            <a:pPr algn="ctr"/>
            <a:r>
              <a:rPr lang="en-US" sz="700" b="1">
                <a:solidFill>
                  <a:srgbClr val="FFFFFF"/>
                </a:solidFill>
                <a:latin typeface="Calibri"/>
              </a:rPr>
              <a:t>DE</a:t>
            </a:r>
          </a:p>
        </p:txBody>
      </p:sp>
      <p:sp>
        <p:nvSpPr>
          <p:cNvPr id="946" name="tileDC"/>
          <p:cNvSpPr/>
          <p:nvPr/>
        </p:nvSpPr>
        <p:spPr>
          <a:xfrm>
            <a:off x="11384716" y="5589185"/>
            <a:ext cx="264500" cy="317839"/>
          </a:xfrm>
          <a:prstGeom prst="rect">
            <a:avLst/>
          </a:prstGeom>
          <a:solidFill>
            <a:srgbClr val="8A8A8A"/>
          </a:solidFill>
          <a:ln w="15875">
            <a:solidFill>
              <a:srgbClr val="FFFFFF"/>
            </a:solidFill>
          </a:ln>
        </p:spPr>
        <p:txBody>
          <a:bodyPr rtlCol="0" anchor="ctr" lIns="12700" rIns="12700" tIns="12700" bIns="12700" wrap="none"/>
          <a:lstStyle/>
          <a:p>
            <a:pPr algn="ctr"/>
          </a:p>
        </p:txBody>
      </p:sp>
      <p:sp>
        <p:nvSpPr>
          <p:cNvPr id="947" name="tile+2"/>
          <p:cNvSpPr/>
          <p:nvPr/>
        </p:nvSpPr>
        <p:spPr>
          <a:xfrm>
            <a:off x="11649216" y="5589185"/>
            <a:ext cx="55104" cy="317839"/>
          </a:xfrm>
          <a:prstGeom prst="rect">
            <a:avLst/>
          </a:prstGeom>
          <a:solidFill>
            <a:srgbClr val="8A8A8A"/>
          </a:solidFill>
          <a:ln w="15875">
            <a:solidFill>
              <a:srgbClr val="FFFFFF"/>
            </a:solidFill>
          </a:ln>
        </p:spPr>
        <p:txBody>
          <a:bodyPr rtlCol="0" anchor="ctr" lIns="12700" rIns="12700" tIns="12700" bIns="12700" wrap="none"/>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3058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2286000" cy="329184"/>
          </a:xfrm>
          <a:prstGeom prst="rect">
            <a:avLst/>
          </a:prstGeom>
          <a:noFill/>
        </p:spPr>
        <p:txBody>
          <a:bodyPr wrap="square" anchor="t" lIns="0" rIns="0" tIns="0" bIns="0">
            <a:spAutoFit/>
          </a:bodyPr>
          <a:lstStyle/>
          <a:p>
            <a:pPr algn="l"/>
            <a:r>
              <a:rPr sz="1600" b="1">
                <a:solidFill>
                  <a:srgbClr val="493356"/>
                </a:solidFill>
                <a:latin typeface="Calibri"/>
              </a:rPr>
              <a:t>CONSUMER</a:t>
            </a:r>
            <a:r>
              <a:rPr sz="1600" b="1">
                <a:solidFill>
                  <a:srgbClr val="3058A3"/>
                </a:solidFill>
                <a:latin typeface="Calibri"/>
              </a:rPr>
              <a:t>DIRECT</a:t>
            </a:r>
          </a:p>
        </p:txBody>
      </p:sp>
      <p:sp>
        <p:nvSpPr>
          <p:cNvPr id="5" name="TextBox 4"/>
          <p:cNvSpPr txBox="1"/>
          <p:nvPr/>
        </p:nvSpPr>
        <p:spPr>
          <a:xfrm>
            <a:off x="11338560" y="6446520"/>
            <a:ext cx="731520" cy="274320"/>
          </a:xfrm>
          <a:prstGeom prst="rect">
            <a:avLst/>
          </a:prstGeom>
          <a:noFill/>
        </p:spPr>
        <p:txBody>
          <a:bodyPr wrap="square" anchor="t" lIns="0" rIns="0" tIns="0" bIns="0">
            <a:spAutoFit/>
          </a:bodyPr>
          <a:lstStyle/>
          <a:p>
            <a:pPr algn="r"/>
            <a:r>
              <a:rPr sz="900" b="0">
                <a:solidFill>
                  <a:srgbClr val="8A8A8A"/>
                </a:solidFill>
                <a:latin typeface="Calibri"/>
              </a:rPr>
              <a:t>7 / 15</a:t>
            </a:r>
          </a:p>
        </p:txBody>
      </p:sp>
      <p:sp>
        <p:nvSpPr>
          <p:cNvPr id="6" name="TextBox 5"/>
          <p:cNvSpPr txBox="1"/>
          <p:nvPr/>
        </p:nvSpPr>
        <p:spPr>
          <a:xfrm>
            <a:off x="457200" y="6446520"/>
            <a:ext cx="7315200" cy="274320"/>
          </a:xfrm>
          <a:prstGeom prst="rect">
            <a:avLst/>
          </a:prstGeom>
          <a:noFill/>
        </p:spPr>
        <p:txBody>
          <a:bodyPr wrap="square" anchor="t" lIns="0" rIns="0" tIns="0" bIns="0">
            <a:spAutoFit/>
          </a:bodyPr>
          <a:lstStyle/>
          <a:p>
            <a:pPr algn="l"/>
            <a:r>
              <a:rPr sz="900" b="0">
                <a:solidFill>
                  <a:srgbClr val="8A8A8A"/>
                </a:solidFill>
                <a:latin typeface="Calibri"/>
              </a:rPr>
              <a:t>GetMyMoney · Confidential — Consumer Direct, Inc.</a:t>
            </a:r>
          </a:p>
        </p:txBody>
      </p:sp>
      <p:sp>
        <p:nvSpPr>
          <p:cNvPr id="7" name="TextBox 6"/>
          <p:cNvSpPr txBox="1"/>
          <p:nvPr/>
        </p:nvSpPr>
        <p:spPr>
          <a:xfrm>
            <a:off x="457200" y="749808"/>
            <a:ext cx="11430000" cy="502920"/>
          </a:xfrm>
          <a:prstGeom prst="rect">
            <a:avLst/>
          </a:prstGeom>
          <a:noFill/>
        </p:spPr>
        <p:txBody>
          <a:bodyPr wrap="square" anchor="t" lIns="0" rIns="0" tIns="0" bIns="0">
            <a:spAutoFit/>
          </a:bodyPr>
          <a:lstStyle/>
          <a:p>
            <a:pPr algn="l"/>
            <a:r>
              <a:rPr sz="2800" b="1">
                <a:solidFill>
                  <a:srgbClr val="493356"/>
                </a:solidFill>
                <a:latin typeface="Calibri"/>
              </a:rPr>
              <a:t>Data Availability: Top 10 States</a:t>
            </a:r>
          </a:p>
        </p:txBody>
      </p:sp>
      <p:sp>
        <p:nvSpPr>
          <p:cNvPr id="8" name="TextBox 7"/>
          <p:cNvSpPr txBox="1"/>
          <p:nvPr/>
        </p:nvSpPr>
        <p:spPr>
          <a:xfrm>
            <a:off x="457200" y="1353312"/>
            <a:ext cx="11430000" cy="457200"/>
          </a:xfrm>
          <a:prstGeom prst="rect">
            <a:avLst/>
          </a:prstGeom>
          <a:noFill/>
        </p:spPr>
        <p:txBody>
          <a:bodyPr wrap="square" anchor="t" lIns="0" rIns="0" tIns="0" bIns="0">
            <a:spAutoFit/>
          </a:bodyPr>
          <a:lstStyle/>
          <a:p>
            <a:pPr algn="l"/>
            <a:r>
              <a:rPr sz="1600" b="0">
                <a:solidFill>
                  <a:srgbClr val="414141"/>
                </a:solidFill>
                <a:latin typeface="Calibri"/>
              </a:rPr>
              <a:t>Our top 10 states by net actives — data available in 9 of 10.</a:t>
            </a:r>
          </a:p>
        </p:txBody>
      </p:sp>
      <p:sp>
        <p:nvSpPr>
          <p:cNvPr id="9" name="TextBox 8"/>
          <p:cNvSpPr txBox="1"/>
          <p:nvPr/>
        </p:nvSpPr>
        <p:spPr>
          <a:xfrm>
            <a:off x="457200" y="1783080"/>
            <a:ext cx="11430000" cy="457200"/>
          </a:xfrm>
          <a:prstGeom prst="rect">
            <a:avLst/>
          </a:prstGeom>
          <a:noFill/>
        </p:spPr>
        <p:txBody>
          <a:bodyPr wrap="square" anchor="t" lIns="0" rIns="0" tIns="0" bIns="0">
            <a:spAutoFit/>
          </a:bodyPr>
          <a:lstStyle/>
          <a:p>
            <a:pPr algn="l"/>
            <a:r>
              <a:rPr sz="1050" b="0">
                <a:solidFill>
                  <a:srgbClr val="8A8A8A"/>
                </a:solidFill>
                <a:latin typeface="Calibri"/>
              </a:rPr>
              <a:t>Top 10 = ~68% of 296,558 net actives. CA · TX · NY · FL · GA · NC · NJ · SC → 183,121 members (~62% of base); the full 50-state sweep reaches 44 jurisdictions = ~86%. Precedent: Credit Karma offered unclaimed-money search in 14 states. We need the DATA, not filing rights.</a:t>
            </a:r>
          </a:p>
        </p:txBody>
      </p:sp>
      <p:sp>
        <p:nvSpPr>
          <p:cNvPr id="10" name="Rectangle 9"/>
          <p:cNvSpPr/>
          <p:nvPr/>
        </p:nvSpPr>
        <p:spPr>
          <a:xfrm>
            <a:off x="457200" y="2331720"/>
            <a:ext cx="11247120" cy="274320"/>
          </a:xfrm>
          <a:prstGeom prst="rect">
            <a:avLst/>
          </a:prstGeom>
          <a:solidFill>
            <a:srgbClr val="493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377439"/>
            <a:ext cx="365760" cy="201168"/>
          </a:xfrm>
          <a:prstGeom prst="rect">
            <a:avLst/>
          </a:prstGeom>
          <a:noFill/>
        </p:spPr>
        <p:txBody>
          <a:bodyPr wrap="square" anchor="t" lIns="0" rIns="0" tIns="0" bIns="0">
            <a:spAutoFit/>
          </a:bodyPr>
          <a:lstStyle/>
          <a:p>
            <a:pPr algn="l"/>
            <a:r>
              <a:rPr sz="900" b="1">
                <a:solidFill>
                  <a:srgbClr val="FFFFFF"/>
                </a:solidFill>
                <a:latin typeface="Calibri"/>
              </a:rPr>
              <a:t>#</a:t>
            </a:r>
          </a:p>
        </p:txBody>
      </p:sp>
      <p:sp>
        <p:nvSpPr>
          <p:cNvPr id="12" name="TextBox 11"/>
          <p:cNvSpPr txBox="1"/>
          <p:nvPr/>
        </p:nvSpPr>
        <p:spPr>
          <a:xfrm>
            <a:off x="960120" y="2377439"/>
            <a:ext cx="685800" cy="201168"/>
          </a:xfrm>
          <a:prstGeom prst="rect">
            <a:avLst/>
          </a:prstGeom>
          <a:noFill/>
        </p:spPr>
        <p:txBody>
          <a:bodyPr wrap="square" anchor="t" lIns="0" rIns="0" tIns="0" bIns="0">
            <a:spAutoFit/>
          </a:bodyPr>
          <a:lstStyle/>
          <a:p>
            <a:pPr algn="l"/>
            <a:r>
              <a:rPr sz="900" b="1">
                <a:solidFill>
                  <a:srgbClr val="FFFFFF"/>
                </a:solidFill>
                <a:latin typeface="Calibri"/>
              </a:rPr>
              <a:t>STATE</a:t>
            </a:r>
          </a:p>
        </p:txBody>
      </p:sp>
      <p:sp>
        <p:nvSpPr>
          <p:cNvPr id="13" name="TextBox 12"/>
          <p:cNvSpPr txBox="1"/>
          <p:nvPr/>
        </p:nvSpPr>
        <p:spPr>
          <a:xfrm>
            <a:off x="1691640" y="2377439"/>
            <a:ext cx="1371600" cy="201168"/>
          </a:xfrm>
          <a:prstGeom prst="rect">
            <a:avLst/>
          </a:prstGeom>
          <a:noFill/>
        </p:spPr>
        <p:txBody>
          <a:bodyPr wrap="square" anchor="t" lIns="0" rIns="0" tIns="0" bIns="0">
            <a:spAutoFit/>
          </a:bodyPr>
          <a:lstStyle/>
          <a:p>
            <a:pPr algn="l"/>
            <a:r>
              <a:rPr sz="900" b="1">
                <a:solidFill>
                  <a:srgbClr val="FFFFFF"/>
                </a:solidFill>
                <a:latin typeface="Calibri"/>
              </a:rPr>
              <a:t>NET ACTIVES</a:t>
            </a:r>
          </a:p>
        </p:txBody>
      </p:sp>
      <p:sp>
        <p:nvSpPr>
          <p:cNvPr id="14" name="TextBox 13"/>
          <p:cNvSpPr txBox="1"/>
          <p:nvPr/>
        </p:nvSpPr>
        <p:spPr>
          <a:xfrm>
            <a:off x="3108960" y="2377439"/>
            <a:ext cx="1280160" cy="201168"/>
          </a:xfrm>
          <a:prstGeom prst="rect">
            <a:avLst/>
          </a:prstGeom>
          <a:noFill/>
        </p:spPr>
        <p:txBody>
          <a:bodyPr wrap="square" anchor="t" lIns="0" rIns="0" tIns="0" bIns="0">
            <a:spAutoFit/>
          </a:bodyPr>
          <a:lstStyle/>
          <a:p>
            <a:pPr algn="l"/>
            <a:r>
              <a:rPr sz="900" b="1">
                <a:solidFill>
                  <a:srgbClr val="FFFFFF"/>
                </a:solidFill>
                <a:latin typeface="Calibri"/>
              </a:rPr>
              <a:t>DATA AVAILABLE?</a:t>
            </a:r>
          </a:p>
        </p:txBody>
      </p:sp>
      <p:sp>
        <p:nvSpPr>
          <p:cNvPr id="15" name="TextBox 14"/>
          <p:cNvSpPr txBox="1"/>
          <p:nvPr/>
        </p:nvSpPr>
        <p:spPr>
          <a:xfrm>
            <a:off x="4480560" y="2377439"/>
            <a:ext cx="3291840" cy="201168"/>
          </a:xfrm>
          <a:prstGeom prst="rect">
            <a:avLst/>
          </a:prstGeom>
          <a:noFill/>
        </p:spPr>
        <p:txBody>
          <a:bodyPr wrap="square" anchor="t" lIns="0" rIns="0" tIns="0" bIns="0">
            <a:spAutoFit/>
          </a:bodyPr>
          <a:lstStyle/>
          <a:p>
            <a:pPr algn="l"/>
            <a:r>
              <a:rPr sz="900" b="1">
                <a:solidFill>
                  <a:srgbClr val="FFFFFF"/>
                </a:solidFill>
                <a:latin typeface="Calibri"/>
              </a:rPr>
              <a:t>DATA PATH</a:t>
            </a:r>
          </a:p>
        </p:txBody>
      </p:sp>
      <p:sp>
        <p:nvSpPr>
          <p:cNvPr id="16" name="TextBox 15"/>
          <p:cNvSpPr txBox="1"/>
          <p:nvPr/>
        </p:nvSpPr>
        <p:spPr>
          <a:xfrm>
            <a:off x="7863840" y="2377439"/>
            <a:ext cx="3794760" cy="201168"/>
          </a:xfrm>
          <a:prstGeom prst="rect">
            <a:avLst/>
          </a:prstGeom>
          <a:noFill/>
        </p:spPr>
        <p:txBody>
          <a:bodyPr wrap="square" anchor="t" lIns="0" rIns="0" tIns="0" bIns="0">
            <a:spAutoFit/>
          </a:bodyPr>
          <a:lstStyle/>
          <a:p>
            <a:pPr algn="l"/>
            <a:r>
              <a:rPr sz="900" b="1">
                <a:solidFill>
                  <a:srgbClr val="FFFFFF"/>
                </a:solidFill>
                <a:latin typeface="Calibri"/>
              </a:rPr>
              <a:t>LEGAL ACTION</a:t>
            </a:r>
          </a:p>
        </p:txBody>
      </p:sp>
      <p:sp>
        <p:nvSpPr>
          <p:cNvPr id="17" name="Rectangle 16"/>
          <p:cNvSpPr/>
          <p:nvPr/>
        </p:nvSpPr>
        <p:spPr>
          <a:xfrm>
            <a:off x="457200" y="2606039"/>
            <a:ext cx="11247120" cy="338328"/>
          </a:xfrm>
          <a:prstGeom prst="rect">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2679191"/>
            <a:ext cx="365760" cy="201168"/>
          </a:xfrm>
          <a:prstGeom prst="rect">
            <a:avLst/>
          </a:prstGeom>
          <a:noFill/>
        </p:spPr>
        <p:txBody>
          <a:bodyPr wrap="square" anchor="t" lIns="0" rIns="0" tIns="0" bIns="0">
            <a:spAutoFit/>
          </a:bodyPr>
          <a:lstStyle/>
          <a:p>
            <a:pPr algn="l"/>
            <a:r>
              <a:rPr sz="1000" b="1">
                <a:solidFill>
                  <a:srgbClr val="8A8A8A"/>
                </a:solidFill>
                <a:latin typeface="Calibri"/>
              </a:rPr>
              <a:t>1</a:t>
            </a:r>
          </a:p>
        </p:txBody>
      </p:sp>
      <p:sp>
        <p:nvSpPr>
          <p:cNvPr id="19" name="TextBox 18"/>
          <p:cNvSpPr txBox="1"/>
          <p:nvPr/>
        </p:nvSpPr>
        <p:spPr>
          <a:xfrm>
            <a:off x="960120" y="2660903"/>
            <a:ext cx="685800" cy="219456"/>
          </a:xfrm>
          <a:prstGeom prst="rect">
            <a:avLst/>
          </a:prstGeom>
          <a:noFill/>
        </p:spPr>
        <p:txBody>
          <a:bodyPr wrap="square" anchor="t" lIns="0" rIns="0" tIns="0" bIns="0">
            <a:spAutoFit/>
          </a:bodyPr>
          <a:lstStyle/>
          <a:p>
            <a:pPr algn="l"/>
            <a:r>
              <a:rPr sz="1300" b="1">
                <a:solidFill>
                  <a:srgbClr val="493356"/>
                </a:solidFill>
                <a:latin typeface="Calibri"/>
              </a:rPr>
              <a:t>FL</a:t>
            </a:r>
          </a:p>
        </p:txBody>
      </p:sp>
      <p:sp>
        <p:nvSpPr>
          <p:cNvPr id="20" name="TextBox 19"/>
          <p:cNvSpPr txBox="1"/>
          <p:nvPr/>
        </p:nvSpPr>
        <p:spPr>
          <a:xfrm>
            <a:off x="1691640" y="2679191"/>
            <a:ext cx="1371600" cy="201168"/>
          </a:xfrm>
          <a:prstGeom prst="rect">
            <a:avLst/>
          </a:prstGeom>
          <a:noFill/>
        </p:spPr>
        <p:txBody>
          <a:bodyPr wrap="square" anchor="t" lIns="0" rIns="0" tIns="0" bIns="0">
            <a:spAutoFit/>
          </a:bodyPr>
          <a:lstStyle/>
          <a:p>
            <a:pPr algn="l"/>
            <a:r>
              <a:rPr sz="1000" b="1">
                <a:solidFill>
                  <a:srgbClr val="493356"/>
                </a:solidFill>
                <a:latin typeface="Calibri"/>
              </a:rPr>
              <a:t>48,436 · 16.3%</a:t>
            </a:r>
          </a:p>
        </p:txBody>
      </p:sp>
      <p:sp>
        <p:nvSpPr>
          <p:cNvPr id="21" name="Rounded Rectangle 20"/>
          <p:cNvSpPr/>
          <p:nvPr/>
        </p:nvSpPr>
        <p:spPr>
          <a:xfrm>
            <a:off x="3154680" y="2670047"/>
            <a:ext cx="914400" cy="210312"/>
          </a:xfrm>
          <a:prstGeom prst="roundRect">
            <a:avLst>
              <a:gd name="adj" fmla="val 50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800" b="1">
                <a:solidFill>
                  <a:srgbClr val="FFFFFF"/>
                </a:solidFill>
                <a:latin typeface="Calibri"/>
              </a:rPr>
              <a:t>YES</a:t>
            </a:r>
          </a:p>
        </p:txBody>
      </p:sp>
      <p:sp>
        <p:nvSpPr>
          <p:cNvPr id="22" name="TextBox 21"/>
          <p:cNvSpPr txBox="1"/>
          <p:nvPr/>
        </p:nvSpPr>
        <p:spPr>
          <a:xfrm>
            <a:off x="4480560" y="2674620"/>
            <a:ext cx="3291840" cy="274320"/>
          </a:xfrm>
          <a:prstGeom prst="rect">
            <a:avLst/>
          </a:prstGeom>
          <a:noFill/>
        </p:spPr>
        <p:txBody>
          <a:bodyPr wrap="square" anchor="t" lIns="0" rIns="0" tIns="0" bIns="0">
            <a:spAutoFit/>
          </a:bodyPr>
          <a:lstStyle/>
          <a:p>
            <a:pPr algn="l"/>
            <a:r>
              <a:rPr sz="850" b="0">
                <a:solidFill>
                  <a:srgbClr val="414141"/>
                </a:solidFill>
                <a:latin typeface="Calibri"/>
              </a:rPr>
              <a:t>Records request → names only, no $ (after May 1 wave)</a:t>
            </a:r>
          </a:p>
        </p:txBody>
      </p:sp>
      <p:sp>
        <p:nvSpPr>
          <p:cNvPr id="23" name="TextBox 22"/>
          <p:cNvSpPr txBox="1"/>
          <p:nvPr/>
        </p:nvSpPr>
        <p:spPr>
          <a:xfrm>
            <a:off x="7863840" y="2674620"/>
            <a:ext cx="3794760" cy="274320"/>
          </a:xfrm>
          <a:prstGeom prst="rect">
            <a:avLst/>
          </a:prstGeom>
          <a:noFill/>
        </p:spPr>
        <p:txBody>
          <a:bodyPr wrap="square" anchor="t" lIns="0" rIns="0" tIns="0" bIns="0">
            <a:spAutoFit/>
          </a:bodyPr>
          <a:lstStyle/>
          <a:p>
            <a:pPr algn="l"/>
            <a:r>
              <a:rPr sz="850" b="0">
                <a:solidFill>
                  <a:srgbClr val="414141"/>
                </a:solidFill>
                <a:latin typeface="Calibri"/>
              </a:rPr>
              <a:t>Counsel: §717.1322(1)(j) bundle posture</a:t>
            </a:r>
          </a:p>
        </p:txBody>
      </p:sp>
      <p:sp>
        <p:nvSpPr>
          <p:cNvPr id="24" name="Rectangle 23"/>
          <p:cNvSpPr/>
          <p:nvPr/>
        </p:nvSpPr>
        <p:spPr>
          <a:xfrm>
            <a:off x="457200" y="2944368"/>
            <a:ext cx="11247120" cy="3383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017520"/>
            <a:ext cx="365760" cy="201168"/>
          </a:xfrm>
          <a:prstGeom prst="rect">
            <a:avLst/>
          </a:prstGeom>
          <a:noFill/>
        </p:spPr>
        <p:txBody>
          <a:bodyPr wrap="square" anchor="t" lIns="0" rIns="0" tIns="0" bIns="0">
            <a:spAutoFit/>
          </a:bodyPr>
          <a:lstStyle/>
          <a:p>
            <a:pPr algn="l"/>
            <a:r>
              <a:rPr sz="1000" b="1">
                <a:solidFill>
                  <a:srgbClr val="8A8A8A"/>
                </a:solidFill>
                <a:latin typeface="Calibri"/>
              </a:rPr>
              <a:t>2</a:t>
            </a:r>
          </a:p>
        </p:txBody>
      </p:sp>
      <p:sp>
        <p:nvSpPr>
          <p:cNvPr id="26" name="TextBox 25"/>
          <p:cNvSpPr txBox="1"/>
          <p:nvPr/>
        </p:nvSpPr>
        <p:spPr>
          <a:xfrm>
            <a:off x="960120" y="2999232"/>
            <a:ext cx="685800" cy="219456"/>
          </a:xfrm>
          <a:prstGeom prst="rect">
            <a:avLst/>
          </a:prstGeom>
          <a:noFill/>
        </p:spPr>
        <p:txBody>
          <a:bodyPr wrap="square" anchor="t" lIns="0" rIns="0" tIns="0" bIns="0">
            <a:spAutoFit/>
          </a:bodyPr>
          <a:lstStyle/>
          <a:p>
            <a:pPr algn="l"/>
            <a:r>
              <a:rPr sz="1300" b="1">
                <a:solidFill>
                  <a:srgbClr val="493356"/>
                </a:solidFill>
                <a:latin typeface="Calibri"/>
              </a:rPr>
              <a:t>TX</a:t>
            </a:r>
          </a:p>
        </p:txBody>
      </p:sp>
      <p:sp>
        <p:nvSpPr>
          <p:cNvPr id="27" name="TextBox 26"/>
          <p:cNvSpPr txBox="1"/>
          <p:nvPr/>
        </p:nvSpPr>
        <p:spPr>
          <a:xfrm>
            <a:off x="1691640" y="3017520"/>
            <a:ext cx="1371600" cy="201168"/>
          </a:xfrm>
          <a:prstGeom prst="rect">
            <a:avLst/>
          </a:prstGeom>
          <a:noFill/>
        </p:spPr>
        <p:txBody>
          <a:bodyPr wrap="square" anchor="t" lIns="0" rIns="0" tIns="0" bIns="0">
            <a:spAutoFit/>
          </a:bodyPr>
          <a:lstStyle/>
          <a:p>
            <a:pPr algn="l"/>
            <a:r>
              <a:rPr sz="1000" b="1">
                <a:solidFill>
                  <a:srgbClr val="493356"/>
                </a:solidFill>
                <a:latin typeface="Calibri"/>
              </a:rPr>
              <a:t>45,670 · 15.4%</a:t>
            </a:r>
          </a:p>
        </p:txBody>
      </p:sp>
      <p:sp>
        <p:nvSpPr>
          <p:cNvPr id="28" name="Rounded Rectangle 27"/>
          <p:cNvSpPr/>
          <p:nvPr/>
        </p:nvSpPr>
        <p:spPr>
          <a:xfrm>
            <a:off x="3154680" y="3008375"/>
            <a:ext cx="914400" cy="210312"/>
          </a:xfrm>
          <a:prstGeom prst="roundRect">
            <a:avLst>
              <a:gd name="adj" fmla="val 50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800" b="1">
                <a:solidFill>
                  <a:srgbClr val="FFFFFF"/>
                </a:solidFill>
                <a:latin typeface="Calibri"/>
              </a:rPr>
              <a:t>YES</a:t>
            </a:r>
          </a:p>
        </p:txBody>
      </p:sp>
      <p:sp>
        <p:nvSpPr>
          <p:cNvPr id="29" name="TextBox 28"/>
          <p:cNvSpPr txBox="1"/>
          <p:nvPr/>
        </p:nvSpPr>
        <p:spPr>
          <a:xfrm>
            <a:off x="4480560" y="3012948"/>
            <a:ext cx="3291840" cy="274320"/>
          </a:xfrm>
          <a:prstGeom prst="rect">
            <a:avLst/>
          </a:prstGeom>
          <a:noFill/>
        </p:spPr>
        <p:txBody>
          <a:bodyPr wrap="square" anchor="t" lIns="0" rIns="0" tIns="0" bIns="0">
            <a:spAutoFit/>
          </a:bodyPr>
          <a:lstStyle/>
          <a:p>
            <a:pPr algn="l"/>
            <a:r>
              <a:rPr sz="850" b="0">
                <a:solidFill>
                  <a:srgbClr val="414141"/>
                </a:solidFill>
                <a:latin typeface="Calibri"/>
              </a:rPr>
              <a:t>Email Comptroller → SIFT delivery (2019 stmt — reconfirm)</a:t>
            </a:r>
          </a:p>
        </p:txBody>
      </p:sp>
      <p:sp>
        <p:nvSpPr>
          <p:cNvPr id="30" name="TextBox 29"/>
          <p:cNvSpPr txBox="1"/>
          <p:nvPr/>
        </p:nvSpPr>
        <p:spPr>
          <a:xfrm>
            <a:off x="7863840" y="3012948"/>
            <a:ext cx="3794760" cy="274320"/>
          </a:xfrm>
          <a:prstGeom prst="rect">
            <a:avLst/>
          </a:prstGeom>
          <a:noFill/>
        </p:spPr>
        <p:txBody>
          <a:bodyPr wrap="square" anchor="t" lIns="0" rIns="0" tIns="0" bIns="0">
            <a:spAutoFit/>
          </a:bodyPr>
          <a:lstStyle/>
          <a:p>
            <a:pPr algn="l"/>
            <a:r>
              <a:rPr sz="850" b="0">
                <a:solidFill>
                  <a:srgbClr val="414141"/>
                </a:solidFill>
                <a:latin typeface="Calibri"/>
              </a:rPr>
              <a:t>Counsel: §1702.324(b)(5) exemption, TX DPS</a:t>
            </a:r>
          </a:p>
        </p:txBody>
      </p:sp>
      <p:sp>
        <p:nvSpPr>
          <p:cNvPr id="31" name="Rectangle 30"/>
          <p:cNvSpPr/>
          <p:nvPr/>
        </p:nvSpPr>
        <p:spPr>
          <a:xfrm>
            <a:off x="457200" y="3282696"/>
            <a:ext cx="11247120" cy="338328"/>
          </a:xfrm>
          <a:prstGeom prst="rect">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355848"/>
            <a:ext cx="365760" cy="201168"/>
          </a:xfrm>
          <a:prstGeom prst="rect">
            <a:avLst/>
          </a:prstGeom>
          <a:noFill/>
        </p:spPr>
        <p:txBody>
          <a:bodyPr wrap="square" anchor="t" lIns="0" rIns="0" tIns="0" bIns="0">
            <a:spAutoFit/>
          </a:bodyPr>
          <a:lstStyle/>
          <a:p>
            <a:pPr algn="l"/>
            <a:r>
              <a:rPr sz="1000" b="1">
                <a:solidFill>
                  <a:srgbClr val="8A8A8A"/>
                </a:solidFill>
                <a:latin typeface="Calibri"/>
              </a:rPr>
              <a:t>3</a:t>
            </a:r>
          </a:p>
        </p:txBody>
      </p:sp>
      <p:sp>
        <p:nvSpPr>
          <p:cNvPr id="33" name="TextBox 32"/>
          <p:cNvSpPr txBox="1"/>
          <p:nvPr/>
        </p:nvSpPr>
        <p:spPr>
          <a:xfrm>
            <a:off x="960120" y="3337560"/>
            <a:ext cx="685800" cy="219456"/>
          </a:xfrm>
          <a:prstGeom prst="rect">
            <a:avLst/>
          </a:prstGeom>
          <a:noFill/>
        </p:spPr>
        <p:txBody>
          <a:bodyPr wrap="square" anchor="t" lIns="0" rIns="0" tIns="0" bIns="0">
            <a:spAutoFit/>
          </a:bodyPr>
          <a:lstStyle/>
          <a:p>
            <a:pPr algn="l"/>
            <a:r>
              <a:rPr sz="1300" b="1">
                <a:solidFill>
                  <a:srgbClr val="493356"/>
                </a:solidFill>
                <a:latin typeface="Calibri"/>
              </a:rPr>
              <a:t>CA</a:t>
            </a:r>
          </a:p>
        </p:txBody>
      </p:sp>
      <p:sp>
        <p:nvSpPr>
          <p:cNvPr id="34" name="TextBox 33"/>
          <p:cNvSpPr txBox="1"/>
          <p:nvPr/>
        </p:nvSpPr>
        <p:spPr>
          <a:xfrm>
            <a:off x="1691640" y="3355848"/>
            <a:ext cx="1371600" cy="201168"/>
          </a:xfrm>
          <a:prstGeom prst="rect">
            <a:avLst/>
          </a:prstGeom>
          <a:noFill/>
        </p:spPr>
        <p:txBody>
          <a:bodyPr wrap="square" anchor="t" lIns="0" rIns="0" tIns="0" bIns="0">
            <a:spAutoFit/>
          </a:bodyPr>
          <a:lstStyle/>
          <a:p>
            <a:pPr algn="l"/>
            <a:r>
              <a:rPr sz="1000" b="1">
                <a:solidFill>
                  <a:srgbClr val="493356"/>
                </a:solidFill>
                <a:latin typeface="Calibri"/>
              </a:rPr>
              <a:t>31,110 · 10.5%</a:t>
            </a:r>
          </a:p>
        </p:txBody>
      </p:sp>
      <p:sp>
        <p:nvSpPr>
          <p:cNvPr id="35" name="Rounded Rectangle 34"/>
          <p:cNvSpPr/>
          <p:nvPr/>
        </p:nvSpPr>
        <p:spPr>
          <a:xfrm>
            <a:off x="3154680" y="3346703"/>
            <a:ext cx="914400" cy="210312"/>
          </a:xfrm>
          <a:prstGeom prst="roundRect">
            <a:avLst>
              <a:gd name="adj" fmla="val 50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800" b="1">
                <a:solidFill>
                  <a:srgbClr val="FFFFFF"/>
                </a:solidFill>
                <a:latin typeface="Calibri"/>
              </a:rPr>
              <a:t>YES</a:t>
            </a:r>
          </a:p>
        </p:txBody>
      </p:sp>
      <p:sp>
        <p:nvSpPr>
          <p:cNvPr id="36" name="TextBox 35"/>
          <p:cNvSpPr txBox="1"/>
          <p:nvPr/>
        </p:nvSpPr>
        <p:spPr>
          <a:xfrm>
            <a:off x="4480560" y="3351276"/>
            <a:ext cx="3291840" cy="274320"/>
          </a:xfrm>
          <a:prstGeom prst="rect">
            <a:avLst/>
          </a:prstGeom>
          <a:noFill/>
        </p:spPr>
        <p:txBody>
          <a:bodyPr wrap="square" anchor="t" lIns="0" rIns="0" tIns="0" bIns="0">
            <a:spAutoFit/>
          </a:bodyPr>
          <a:lstStyle/>
          <a:p>
            <a:pPr algn="l"/>
            <a:r>
              <a:rPr sz="850" b="0">
                <a:solidFill>
                  <a:srgbClr val="414141"/>
                </a:solidFill>
                <a:latin typeface="Calibri"/>
              </a:rPr>
              <a:t>Free public CSV, weekly — already live (92.4M rows) ✓</a:t>
            </a:r>
          </a:p>
        </p:txBody>
      </p:sp>
      <p:sp>
        <p:nvSpPr>
          <p:cNvPr id="37" name="TextBox 36"/>
          <p:cNvSpPr txBox="1"/>
          <p:nvPr/>
        </p:nvSpPr>
        <p:spPr>
          <a:xfrm>
            <a:off x="7863840" y="3351276"/>
            <a:ext cx="3794760" cy="274320"/>
          </a:xfrm>
          <a:prstGeom prst="rect">
            <a:avLst/>
          </a:prstGeom>
          <a:noFill/>
        </p:spPr>
        <p:txBody>
          <a:bodyPr wrap="square" anchor="t" lIns="0" rIns="0" tIns="0" bIns="0">
            <a:spAutoFit/>
          </a:bodyPr>
          <a:lstStyle/>
          <a:p>
            <a:pPr algn="l"/>
            <a:r>
              <a:rPr sz="850" b="0">
                <a:solidFill>
                  <a:srgbClr val="414141"/>
                </a:solidFill>
                <a:latin typeface="Calibri"/>
              </a:rPr>
              <a:t>Counsel: caching / redisplay sign-off</a:t>
            </a:r>
          </a:p>
        </p:txBody>
      </p:sp>
      <p:sp>
        <p:nvSpPr>
          <p:cNvPr id="38" name="Rectangle 37"/>
          <p:cNvSpPr/>
          <p:nvPr/>
        </p:nvSpPr>
        <p:spPr>
          <a:xfrm>
            <a:off x="457200" y="3621024"/>
            <a:ext cx="11247120" cy="3383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3694176"/>
            <a:ext cx="365760" cy="201168"/>
          </a:xfrm>
          <a:prstGeom prst="rect">
            <a:avLst/>
          </a:prstGeom>
          <a:noFill/>
        </p:spPr>
        <p:txBody>
          <a:bodyPr wrap="square" anchor="t" lIns="0" rIns="0" tIns="0" bIns="0">
            <a:spAutoFit/>
          </a:bodyPr>
          <a:lstStyle/>
          <a:p>
            <a:pPr algn="l"/>
            <a:r>
              <a:rPr sz="1000" b="1">
                <a:solidFill>
                  <a:srgbClr val="8A8A8A"/>
                </a:solidFill>
                <a:latin typeface="Calibri"/>
              </a:rPr>
              <a:t>4</a:t>
            </a:r>
          </a:p>
        </p:txBody>
      </p:sp>
      <p:sp>
        <p:nvSpPr>
          <p:cNvPr id="40" name="TextBox 39"/>
          <p:cNvSpPr txBox="1"/>
          <p:nvPr/>
        </p:nvSpPr>
        <p:spPr>
          <a:xfrm>
            <a:off x="960120" y="3675887"/>
            <a:ext cx="685800" cy="219456"/>
          </a:xfrm>
          <a:prstGeom prst="rect">
            <a:avLst/>
          </a:prstGeom>
          <a:noFill/>
        </p:spPr>
        <p:txBody>
          <a:bodyPr wrap="square" anchor="t" lIns="0" rIns="0" tIns="0" bIns="0">
            <a:spAutoFit/>
          </a:bodyPr>
          <a:lstStyle/>
          <a:p>
            <a:pPr algn="l"/>
            <a:r>
              <a:rPr sz="1300" b="1">
                <a:solidFill>
                  <a:srgbClr val="493356"/>
                </a:solidFill>
                <a:latin typeface="Calibri"/>
              </a:rPr>
              <a:t>GA</a:t>
            </a:r>
          </a:p>
        </p:txBody>
      </p:sp>
      <p:sp>
        <p:nvSpPr>
          <p:cNvPr id="41" name="TextBox 40"/>
          <p:cNvSpPr txBox="1"/>
          <p:nvPr/>
        </p:nvSpPr>
        <p:spPr>
          <a:xfrm>
            <a:off x="1691640" y="3694176"/>
            <a:ext cx="1371600" cy="201168"/>
          </a:xfrm>
          <a:prstGeom prst="rect">
            <a:avLst/>
          </a:prstGeom>
          <a:noFill/>
        </p:spPr>
        <p:txBody>
          <a:bodyPr wrap="square" anchor="t" lIns="0" rIns="0" tIns="0" bIns="0">
            <a:spAutoFit/>
          </a:bodyPr>
          <a:lstStyle/>
          <a:p>
            <a:pPr algn="l"/>
            <a:r>
              <a:rPr sz="1000" b="1">
                <a:solidFill>
                  <a:srgbClr val="493356"/>
                </a:solidFill>
                <a:latin typeface="Calibri"/>
              </a:rPr>
              <a:t>18,837 · 6.4%</a:t>
            </a:r>
          </a:p>
        </p:txBody>
      </p:sp>
      <p:sp>
        <p:nvSpPr>
          <p:cNvPr id="42" name="Rounded Rectangle 41"/>
          <p:cNvSpPr/>
          <p:nvPr/>
        </p:nvSpPr>
        <p:spPr>
          <a:xfrm>
            <a:off x="3154680" y="3685032"/>
            <a:ext cx="914400" cy="210312"/>
          </a:xfrm>
          <a:prstGeom prst="roundRect">
            <a:avLst>
              <a:gd name="adj" fmla="val 50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800" b="1">
                <a:solidFill>
                  <a:srgbClr val="FFFFFF"/>
                </a:solidFill>
                <a:latin typeface="Calibri"/>
              </a:rPr>
              <a:t>YES</a:t>
            </a:r>
          </a:p>
        </p:txBody>
      </p:sp>
      <p:sp>
        <p:nvSpPr>
          <p:cNvPr id="43" name="TextBox 42"/>
          <p:cNvSpPr txBox="1"/>
          <p:nvPr/>
        </p:nvSpPr>
        <p:spPr>
          <a:xfrm>
            <a:off x="4480560" y="3689604"/>
            <a:ext cx="3291840" cy="274320"/>
          </a:xfrm>
          <a:prstGeom prst="rect">
            <a:avLst/>
          </a:prstGeom>
          <a:noFill/>
        </p:spPr>
        <p:txBody>
          <a:bodyPr wrap="square" anchor="t" lIns="0" rIns="0" tIns="0" bIns="0">
            <a:spAutoFit/>
          </a:bodyPr>
          <a:lstStyle/>
          <a:p>
            <a:pPr algn="l"/>
            <a:r>
              <a:rPr sz="850" b="0">
                <a:solidFill>
                  <a:srgbClr val="414141"/>
                </a:solidFill>
                <a:latin typeface="Calibri"/>
              </a:rPr>
              <a:t>Owner data file via CDR registration ($1,200/4 yr, SB 103)</a:t>
            </a:r>
          </a:p>
        </p:txBody>
      </p:sp>
      <p:sp>
        <p:nvSpPr>
          <p:cNvPr id="44" name="TextBox 43"/>
          <p:cNvSpPr txBox="1"/>
          <p:nvPr/>
        </p:nvSpPr>
        <p:spPr>
          <a:xfrm>
            <a:off x="7863840" y="3689604"/>
            <a:ext cx="3794760" cy="274320"/>
          </a:xfrm>
          <a:prstGeom prst="rect">
            <a:avLst/>
          </a:prstGeom>
          <a:noFill/>
        </p:spPr>
        <p:txBody>
          <a:bodyPr wrap="square" anchor="t" lIns="0" rIns="0" tIns="0" bIns="0">
            <a:spAutoFit/>
          </a:bodyPr>
          <a:lstStyle/>
          <a:p>
            <a:pPr algn="l"/>
            <a:r>
              <a:rPr sz="850" b="0">
                <a:solidFill>
                  <a:srgbClr val="414141"/>
                </a:solidFill>
                <a:latin typeface="Calibri"/>
              </a:rPr>
              <a:t>Counsel: register as CDR; clear use restriction</a:t>
            </a:r>
          </a:p>
        </p:txBody>
      </p:sp>
      <p:sp>
        <p:nvSpPr>
          <p:cNvPr id="45" name="Rectangle 44"/>
          <p:cNvSpPr/>
          <p:nvPr/>
        </p:nvSpPr>
        <p:spPr>
          <a:xfrm>
            <a:off x="457200" y="3959352"/>
            <a:ext cx="11247120" cy="338328"/>
          </a:xfrm>
          <a:prstGeom prst="rect">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032504"/>
            <a:ext cx="365760" cy="201168"/>
          </a:xfrm>
          <a:prstGeom prst="rect">
            <a:avLst/>
          </a:prstGeom>
          <a:noFill/>
        </p:spPr>
        <p:txBody>
          <a:bodyPr wrap="square" anchor="t" lIns="0" rIns="0" tIns="0" bIns="0">
            <a:spAutoFit/>
          </a:bodyPr>
          <a:lstStyle/>
          <a:p>
            <a:pPr algn="l"/>
            <a:r>
              <a:rPr sz="1000" b="1">
                <a:solidFill>
                  <a:srgbClr val="8A8A8A"/>
                </a:solidFill>
                <a:latin typeface="Calibri"/>
              </a:rPr>
              <a:t>5</a:t>
            </a:r>
          </a:p>
        </p:txBody>
      </p:sp>
      <p:sp>
        <p:nvSpPr>
          <p:cNvPr id="47" name="TextBox 46"/>
          <p:cNvSpPr txBox="1"/>
          <p:nvPr/>
        </p:nvSpPr>
        <p:spPr>
          <a:xfrm>
            <a:off x="960120" y="4014215"/>
            <a:ext cx="685800" cy="219456"/>
          </a:xfrm>
          <a:prstGeom prst="rect">
            <a:avLst/>
          </a:prstGeom>
          <a:noFill/>
        </p:spPr>
        <p:txBody>
          <a:bodyPr wrap="square" anchor="t" lIns="0" rIns="0" tIns="0" bIns="0">
            <a:spAutoFit/>
          </a:bodyPr>
          <a:lstStyle/>
          <a:p>
            <a:pPr algn="l"/>
            <a:r>
              <a:rPr sz="1300" b="1">
                <a:solidFill>
                  <a:srgbClr val="493356"/>
                </a:solidFill>
                <a:latin typeface="Calibri"/>
              </a:rPr>
              <a:t>NY</a:t>
            </a:r>
          </a:p>
        </p:txBody>
      </p:sp>
      <p:sp>
        <p:nvSpPr>
          <p:cNvPr id="48" name="TextBox 47"/>
          <p:cNvSpPr txBox="1"/>
          <p:nvPr/>
        </p:nvSpPr>
        <p:spPr>
          <a:xfrm>
            <a:off x="1691640" y="4032504"/>
            <a:ext cx="1371600" cy="201168"/>
          </a:xfrm>
          <a:prstGeom prst="rect">
            <a:avLst/>
          </a:prstGeom>
          <a:noFill/>
        </p:spPr>
        <p:txBody>
          <a:bodyPr wrap="square" anchor="t" lIns="0" rIns="0" tIns="0" bIns="0">
            <a:spAutoFit/>
          </a:bodyPr>
          <a:lstStyle/>
          <a:p>
            <a:pPr algn="l"/>
            <a:r>
              <a:rPr sz="1000" b="1">
                <a:solidFill>
                  <a:srgbClr val="493356"/>
                </a:solidFill>
                <a:latin typeface="Calibri"/>
              </a:rPr>
              <a:t>15,001 · 5.1%</a:t>
            </a:r>
          </a:p>
        </p:txBody>
      </p:sp>
      <p:sp>
        <p:nvSpPr>
          <p:cNvPr id="49" name="Rounded Rectangle 48"/>
          <p:cNvSpPr/>
          <p:nvPr/>
        </p:nvSpPr>
        <p:spPr>
          <a:xfrm>
            <a:off x="3154680" y="4023360"/>
            <a:ext cx="914400" cy="210312"/>
          </a:xfrm>
          <a:prstGeom prst="roundRect">
            <a:avLst>
              <a:gd name="adj" fmla="val 50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800" b="1">
                <a:solidFill>
                  <a:srgbClr val="FFFFFF"/>
                </a:solidFill>
                <a:latin typeface="Calibri"/>
              </a:rPr>
              <a:t>YES</a:t>
            </a:r>
          </a:p>
        </p:txBody>
      </p:sp>
      <p:sp>
        <p:nvSpPr>
          <p:cNvPr id="50" name="TextBox 49"/>
          <p:cNvSpPr txBox="1"/>
          <p:nvPr/>
        </p:nvSpPr>
        <p:spPr>
          <a:xfrm>
            <a:off x="4480560" y="4027932"/>
            <a:ext cx="3291840" cy="274320"/>
          </a:xfrm>
          <a:prstGeom prst="rect">
            <a:avLst/>
          </a:prstGeom>
          <a:noFill/>
        </p:spPr>
        <p:txBody>
          <a:bodyPr wrap="square" anchor="t" lIns="0" rIns="0" tIns="0" bIns="0">
            <a:spAutoFit/>
          </a:bodyPr>
          <a:lstStyle/>
          <a:p>
            <a:pPr algn="l"/>
            <a:r>
              <a:rPr sz="850" b="0">
                <a:solidFill>
                  <a:srgbClr val="414141"/>
                </a:solidFill>
                <a:latin typeface="Calibri"/>
              </a:rPr>
              <a:t>OSC secure FTP, re-pull anytime; no $ amounts</a:t>
            </a:r>
          </a:p>
        </p:txBody>
      </p:sp>
      <p:sp>
        <p:nvSpPr>
          <p:cNvPr id="51" name="TextBox 50"/>
          <p:cNvSpPr txBox="1"/>
          <p:nvPr/>
        </p:nvSpPr>
        <p:spPr>
          <a:xfrm>
            <a:off x="7863840" y="4027932"/>
            <a:ext cx="3794760" cy="274320"/>
          </a:xfrm>
          <a:prstGeom prst="rect">
            <a:avLst/>
          </a:prstGeom>
          <a:noFill/>
        </p:spPr>
        <p:txBody>
          <a:bodyPr wrap="square" anchor="t" lIns="0" rIns="0" tIns="0" bIns="0">
            <a:spAutoFit/>
          </a:bodyPr>
          <a:lstStyle/>
          <a:p>
            <a:pPr algn="l"/>
            <a:r>
              <a:rPr sz="850" b="0">
                <a:solidFill>
                  <a:srgbClr val="414141"/>
                </a:solidFill>
                <a:latin typeface="Calibri"/>
              </a:rPr>
              <a:t>Counsel: APL §1416 'service for a fee'</a:t>
            </a:r>
          </a:p>
        </p:txBody>
      </p:sp>
      <p:sp>
        <p:nvSpPr>
          <p:cNvPr id="52" name="Rectangle 51"/>
          <p:cNvSpPr/>
          <p:nvPr/>
        </p:nvSpPr>
        <p:spPr>
          <a:xfrm>
            <a:off x="457200" y="4297680"/>
            <a:ext cx="11247120" cy="3383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48640" y="4370832"/>
            <a:ext cx="365760" cy="201168"/>
          </a:xfrm>
          <a:prstGeom prst="rect">
            <a:avLst/>
          </a:prstGeom>
          <a:noFill/>
        </p:spPr>
        <p:txBody>
          <a:bodyPr wrap="square" anchor="t" lIns="0" rIns="0" tIns="0" bIns="0">
            <a:spAutoFit/>
          </a:bodyPr>
          <a:lstStyle/>
          <a:p>
            <a:pPr algn="l"/>
            <a:r>
              <a:rPr sz="1000" b="1">
                <a:solidFill>
                  <a:srgbClr val="8A8A8A"/>
                </a:solidFill>
                <a:latin typeface="Calibri"/>
              </a:rPr>
              <a:t>6</a:t>
            </a:r>
          </a:p>
        </p:txBody>
      </p:sp>
      <p:sp>
        <p:nvSpPr>
          <p:cNvPr id="54" name="TextBox 53"/>
          <p:cNvSpPr txBox="1"/>
          <p:nvPr/>
        </p:nvSpPr>
        <p:spPr>
          <a:xfrm>
            <a:off x="960120" y="4352544"/>
            <a:ext cx="685800" cy="219456"/>
          </a:xfrm>
          <a:prstGeom prst="rect">
            <a:avLst/>
          </a:prstGeom>
          <a:noFill/>
        </p:spPr>
        <p:txBody>
          <a:bodyPr wrap="square" anchor="t" lIns="0" rIns="0" tIns="0" bIns="0">
            <a:spAutoFit/>
          </a:bodyPr>
          <a:lstStyle/>
          <a:p>
            <a:pPr algn="l"/>
            <a:r>
              <a:rPr sz="1300" b="1">
                <a:solidFill>
                  <a:srgbClr val="493356"/>
                </a:solidFill>
                <a:latin typeface="Calibri"/>
              </a:rPr>
              <a:t>IL</a:t>
            </a:r>
          </a:p>
        </p:txBody>
      </p:sp>
      <p:sp>
        <p:nvSpPr>
          <p:cNvPr id="55" name="TextBox 54"/>
          <p:cNvSpPr txBox="1"/>
          <p:nvPr/>
        </p:nvSpPr>
        <p:spPr>
          <a:xfrm>
            <a:off x="1691640" y="4370832"/>
            <a:ext cx="1371600" cy="201168"/>
          </a:xfrm>
          <a:prstGeom prst="rect">
            <a:avLst/>
          </a:prstGeom>
          <a:noFill/>
        </p:spPr>
        <p:txBody>
          <a:bodyPr wrap="square" anchor="t" lIns="0" rIns="0" tIns="0" bIns="0">
            <a:spAutoFit/>
          </a:bodyPr>
          <a:lstStyle/>
          <a:p>
            <a:pPr algn="l"/>
            <a:r>
              <a:rPr sz="1000" b="1">
                <a:solidFill>
                  <a:srgbClr val="493356"/>
                </a:solidFill>
                <a:latin typeface="Calibri"/>
              </a:rPr>
              <a:t>10,536 · 3.6%</a:t>
            </a:r>
          </a:p>
        </p:txBody>
      </p:sp>
      <p:sp>
        <p:nvSpPr>
          <p:cNvPr id="56" name="Rounded Rectangle 55"/>
          <p:cNvSpPr/>
          <p:nvPr/>
        </p:nvSpPr>
        <p:spPr>
          <a:xfrm>
            <a:off x="3154680" y="4361688"/>
            <a:ext cx="914400" cy="210312"/>
          </a:xfrm>
          <a:prstGeom prst="roundRect">
            <a:avLst>
              <a:gd name="adj" fmla="val 50000"/>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800" b="1">
                <a:solidFill>
                  <a:srgbClr val="FFFFFF"/>
                </a:solidFill>
                <a:latin typeface="Calibri"/>
              </a:rPr>
              <a:t>NO</a:t>
            </a:r>
          </a:p>
        </p:txBody>
      </p:sp>
      <p:sp>
        <p:nvSpPr>
          <p:cNvPr id="57" name="TextBox 56"/>
          <p:cNvSpPr txBox="1"/>
          <p:nvPr/>
        </p:nvSpPr>
        <p:spPr>
          <a:xfrm>
            <a:off x="4480560" y="4366260"/>
            <a:ext cx="3291840" cy="274320"/>
          </a:xfrm>
          <a:prstGeom prst="rect">
            <a:avLst/>
          </a:prstGeom>
          <a:noFill/>
        </p:spPr>
        <p:txBody>
          <a:bodyPr wrap="square" anchor="t" lIns="0" rIns="0" tIns="0" bIns="0">
            <a:spAutoFit/>
          </a:bodyPr>
          <a:lstStyle/>
          <a:p>
            <a:pPr algn="l"/>
            <a:r>
              <a:rPr sz="850" b="0">
                <a:solidFill>
                  <a:srgbClr val="414141"/>
                </a:solidFill>
                <a:latin typeface="Calibri"/>
              </a:rPr>
              <a:t>None — database is FOIA-exempt (765 ILCS 1026/15-1401)</a:t>
            </a:r>
          </a:p>
        </p:txBody>
      </p:sp>
      <p:sp>
        <p:nvSpPr>
          <p:cNvPr id="58" name="TextBox 57"/>
          <p:cNvSpPr txBox="1"/>
          <p:nvPr/>
        </p:nvSpPr>
        <p:spPr>
          <a:xfrm>
            <a:off x="7863840" y="4366260"/>
            <a:ext cx="3794760" cy="274320"/>
          </a:xfrm>
          <a:prstGeom prst="rect">
            <a:avLst/>
          </a:prstGeom>
          <a:noFill/>
        </p:spPr>
        <p:txBody>
          <a:bodyPr wrap="square" anchor="t" lIns="0" rIns="0" tIns="0" bIns="0">
            <a:spAutoFit/>
          </a:bodyPr>
          <a:lstStyle/>
          <a:p>
            <a:pPr algn="l"/>
            <a:r>
              <a:rPr sz="850" b="0">
                <a:solidFill>
                  <a:srgbClr val="414141"/>
                </a:solidFill>
                <a:latin typeface="Calibri"/>
              </a:rPr>
              <a:t>Deep-link only *</a:t>
            </a:r>
          </a:p>
        </p:txBody>
      </p:sp>
      <p:sp>
        <p:nvSpPr>
          <p:cNvPr id="59" name="Rectangle 58"/>
          <p:cNvSpPr/>
          <p:nvPr/>
        </p:nvSpPr>
        <p:spPr>
          <a:xfrm>
            <a:off x="457200" y="4636008"/>
            <a:ext cx="11247120" cy="338328"/>
          </a:xfrm>
          <a:prstGeom prst="rect">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4709160"/>
            <a:ext cx="365760" cy="201168"/>
          </a:xfrm>
          <a:prstGeom prst="rect">
            <a:avLst/>
          </a:prstGeom>
          <a:noFill/>
        </p:spPr>
        <p:txBody>
          <a:bodyPr wrap="square" anchor="t" lIns="0" rIns="0" tIns="0" bIns="0">
            <a:spAutoFit/>
          </a:bodyPr>
          <a:lstStyle/>
          <a:p>
            <a:pPr algn="l"/>
            <a:r>
              <a:rPr sz="1000" b="1">
                <a:solidFill>
                  <a:srgbClr val="8A8A8A"/>
                </a:solidFill>
                <a:latin typeface="Calibri"/>
              </a:rPr>
              <a:t>7</a:t>
            </a:r>
          </a:p>
        </p:txBody>
      </p:sp>
      <p:sp>
        <p:nvSpPr>
          <p:cNvPr id="61" name="TextBox 60"/>
          <p:cNvSpPr txBox="1"/>
          <p:nvPr/>
        </p:nvSpPr>
        <p:spPr>
          <a:xfrm>
            <a:off x="960120" y="4690872"/>
            <a:ext cx="685800" cy="219456"/>
          </a:xfrm>
          <a:prstGeom prst="rect">
            <a:avLst/>
          </a:prstGeom>
          <a:noFill/>
        </p:spPr>
        <p:txBody>
          <a:bodyPr wrap="square" anchor="t" lIns="0" rIns="0" tIns="0" bIns="0">
            <a:spAutoFit/>
          </a:bodyPr>
          <a:lstStyle/>
          <a:p>
            <a:pPr algn="l"/>
            <a:r>
              <a:rPr sz="1300" b="1">
                <a:solidFill>
                  <a:srgbClr val="493356"/>
                </a:solidFill>
                <a:latin typeface="Calibri"/>
              </a:rPr>
              <a:t>NC</a:t>
            </a:r>
          </a:p>
        </p:txBody>
      </p:sp>
      <p:sp>
        <p:nvSpPr>
          <p:cNvPr id="62" name="TextBox 61"/>
          <p:cNvSpPr txBox="1"/>
          <p:nvPr/>
        </p:nvSpPr>
        <p:spPr>
          <a:xfrm>
            <a:off x="1691640" y="4709160"/>
            <a:ext cx="1371600" cy="201168"/>
          </a:xfrm>
          <a:prstGeom prst="rect">
            <a:avLst/>
          </a:prstGeom>
          <a:noFill/>
        </p:spPr>
        <p:txBody>
          <a:bodyPr wrap="square" anchor="t" lIns="0" rIns="0" tIns="0" bIns="0">
            <a:spAutoFit/>
          </a:bodyPr>
          <a:lstStyle/>
          <a:p>
            <a:pPr algn="l"/>
            <a:r>
              <a:rPr sz="1000" b="1">
                <a:solidFill>
                  <a:srgbClr val="493356"/>
                </a:solidFill>
                <a:latin typeface="Calibri"/>
              </a:rPr>
              <a:t>9,549 · 3.2%</a:t>
            </a:r>
          </a:p>
        </p:txBody>
      </p:sp>
      <p:sp>
        <p:nvSpPr>
          <p:cNvPr id="63" name="Rounded Rectangle 62"/>
          <p:cNvSpPr/>
          <p:nvPr/>
        </p:nvSpPr>
        <p:spPr>
          <a:xfrm>
            <a:off x="3154680" y="4700016"/>
            <a:ext cx="914400" cy="210312"/>
          </a:xfrm>
          <a:prstGeom prst="roundRect">
            <a:avLst>
              <a:gd name="adj" fmla="val 50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800" b="1">
                <a:solidFill>
                  <a:srgbClr val="FFFFFF"/>
                </a:solidFill>
                <a:latin typeface="Calibri"/>
              </a:rPr>
              <a:t>YES</a:t>
            </a:r>
          </a:p>
        </p:txBody>
      </p:sp>
      <p:sp>
        <p:nvSpPr>
          <p:cNvPr id="64" name="TextBox 63"/>
          <p:cNvSpPr txBox="1"/>
          <p:nvPr/>
        </p:nvSpPr>
        <p:spPr>
          <a:xfrm>
            <a:off x="4480560" y="4704588"/>
            <a:ext cx="3291840" cy="274320"/>
          </a:xfrm>
          <a:prstGeom prst="rect">
            <a:avLst/>
          </a:prstGeom>
          <a:noFill/>
        </p:spPr>
        <p:txBody>
          <a:bodyPr wrap="square" anchor="t" lIns="0" rIns="0" tIns="0" bIns="0">
            <a:spAutoFit/>
          </a:bodyPr>
          <a:lstStyle/>
          <a:p>
            <a:pPr algn="l"/>
            <a:r>
              <a:rPr sz="850" b="0">
                <a:solidFill>
                  <a:srgbClr val="414141"/>
                </a:solidFill>
                <a:latin typeface="Calibri"/>
              </a:rPr>
              <a:t>Annual public list (G.S. 116B-62): names + addresses + holders</a:t>
            </a:r>
          </a:p>
        </p:txBody>
      </p:sp>
      <p:sp>
        <p:nvSpPr>
          <p:cNvPr id="65" name="TextBox 64"/>
          <p:cNvSpPr txBox="1"/>
          <p:nvPr/>
        </p:nvSpPr>
        <p:spPr>
          <a:xfrm>
            <a:off x="7863840" y="4704588"/>
            <a:ext cx="3794760" cy="274320"/>
          </a:xfrm>
          <a:prstGeom prst="rect">
            <a:avLst/>
          </a:prstGeom>
          <a:noFill/>
        </p:spPr>
        <p:txBody>
          <a:bodyPr wrap="square" anchor="t" lIns="0" rIns="0" tIns="0" bIns="0">
            <a:spAutoFit/>
          </a:bodyPr>
          <a:lstStyle/>
          <a:p>
            <a:pPr algn="l"/>
            <a:r>
              <a:rPr sz="850" b="0">
                <a:solidFill>
                  <a:srgbClr val="414141"/>
                </a:solidFill>
                <a:latin typeface="Calibri"/>
              </a:rPr>
              <a:t>Counsel: confirm reuse terms</a:t>
            </a:r>
          </a:p>
        </p:txBody>
      </p:sp>
      <p:sp>
        <p:nvSpPr>
          <p:cNvPr id="66" name="Rectangle 65"/>
          <p:cNvSpPr/>
          <p:nvPr/>
        </p:nvSpPr>
        <p:spPr>
          <a:xfrm>
            <a:off x="457200" y="4974336"/>
            <a:ext cx="11247120" cy="3383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48640" y="5047488"/>
            <a:ext cx="365760" cy="201168"/>
          </a:xfrm>
          <a:prstGeom prst="rect">
            <a:avLst/>
          </a:prstGeom>
          <a:noFill/>
        </p:spPr>
        <p:txBody>
          <a:bodyPr wrap="square" anchor="t" lIns="0" rIns="0" tIns="0" bIns="0">
            <a:spAutoFit/>
          </a:bodyPr>
          <a:lstStyle/>
          <a:p>
            <a:pPr algn="l"/>
            <a:r>
              <a:rPr sz="1000" b="1">
                <a:solidFill>
                  <a:srgbClr val="8A8A8A"/>
                </a:solidFill>
                <a:latin typeface="Calibri"/>
              </a:rPr>
              <a:t>8</a:t>
            </a:r>
          </a:p>
        </p:txBody>
      </p:sp>
      <p:sp>
        <p:nvSpPr>
          <p:cNvPr id="68" name="TextBox 67"/>
          <p:cNvSpPr txBox="1"/>
          <p:nvPr/>
        </p:nvSpPr>
        <p:spPr>
          <a:xfrm>
            <a:off x="960120" y="5029200"/>
            <a:ext cx="685800" cy="219456"/>
          </a:xfrm>
          <a:prstGeom prst="rect">
            <a:avLst/>
          </a:prstGeom>
          <a:noFill/>
        </p:spPr>
        <p:txBody>
          <a:bodyPr wrap="square" anchor="t" lIns="0" rIns="0" tIns="0" bIns="0">
            <a:spAutoFit/>
          </a:bodyPr>
          <a:lstStyle/>
          <a:p>
            <a:pPr algn="l"/>
            <a:r>
              <a:rPr sz="1300" b="1">
                <a:solidFill>
                  <a:srgbClr val="493356"/>
                </a:solidFill>
                <a:latin typeface="Calibri"/>
              </a:rPr>
              <a:t>NJ</a:t>
            </a:r>
          </a:p>
        </p:txBody>
      </p:sp>
      <p:sp>
        <p:nvSpPr>
          <p:cNvPr id="69" name="TextBox 68"/>
          <p:cNvSpPr txBox="1"/>
          <p:nvPr/>
        </p:nvSpPr>
        <p:spPr>
          <a:xfrm>
            <a:off x="1691640" y="5047488"/>
            <a:ext cx="1371600" cy="201168"/>
          </a:xfrm>
          <a:prstGeom prst="rect">
            <a:avLst/>
          </a:prstGeom>
          <a:noFill/>
        </p:spPr>
        <p:txBody>
          <a:bodyPr wrap="square" anchor="t" lIns="0" rIns="0" tIns="0" bIns="0">
            <a:spAutoFit/>
          </a:bodyPr>
          <a:lstStyle/>
          <a:p>
            <a:pPr algn="l"/>
            <a:r>
              <a:rPr sz="1000" b="1">
                <a:solidFill>
                  <a:srgbClr val="493356"/>
                </a:solidFill>
                <a:latin typeface="Calibri"/>
              </a:rPr>
              <a:t>8,526 · 2.9%</a:t>
            </a:r>
          </a:p>
        </p:txBody>
      </p:sp>
      <p:sp>
        <p:nvSpPr>
          <p:cNvPr id="70" name="Rounded Rectangle 69"/>
          <p:cNvSpPr/>
          <p:nvPr/>
        </p:nvSpPr>
        <p:spPr>
          <a:xfrm>
            <a:off x="3154680" y="5038344"/>
            <a:ext cx="914400" cy="210312"/>
          </a:xfrm>
          <a:prstGeom prst="roundRect">
            <a:avLst>
              <a:gd name="adj" fmla="val 50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800" b="1">
                <a:solidFill>
                  <a:srgbClr val="FFFFFF"/>
                </a:solidFill>
                <a:latin typeface="Calibri"/>
              </a:rPr>
              <a:t>YES</a:t>
            </a:r>
          </a:p>
        </p:txBody>
      </p:sp>
      <p:sp>
        <p:nvSpPr>
          <p:cNvPr id="71" name="TextBox 70"/>
          <p:cNvSpPr txBox="1"/>
          <p:nvPr/>
        </p:nvSpPr>
        <p:spPr>
          <a:xfrm>
            <a:off x="4480560" y="5042916"/>
            <a:ext cx="3291840" cy="274320"/>
          </a:xfrm>
          <a:prstGeom prst="rect">
            <a:avLst/>
          </a:prstGeom>
          <a:noFill/>
        </p:spPr>
        <p:txBody>
          <a:bodyPr wrap="square" anchor="t" lIns="0" rIns="0" tIns="0" bIns="0">
            <a:spAutoFit/>
          </a:bodyPr>
          <a:lstStyle/>
          <a:p>
            <a:pPr algn="l"/>
            <a:r>
              <a:rPr sz="850" b="0">
                <a:solidFill>
                  <a:srgbClr val="414141"/>
                </a:solidFill>
                <a:latin typeface="Calibri"/>
              </a:rPr>
              <a:t>OPRA request → name + address</a:t>
            </a:r>
          </a:p>
        </p:txBody>
      </p:sp>
      <p:sp>
        <p:nvSpPr>
          <p:cNvPr id="72" name="TextBox 71"/>
          <p:cNvSpPr txBox="1"/>
          <p:nvPr/>
        </p:nvSpPr>
        <p:spPr>
          <a:xfrm>
            <a:off x="7863840" y="5042916"/>
            <a:ext cx="3794760" cy="274320"/>
          </a:xfrm>
          <a:prstGeom prst="rect">
            <a:avLst/>
          </a:prstGeom>
          <a:noFill/>
        </p:spPr>
        <p:txBody>
          <a:bodyPr wrap="square" anchor="t" lIns="0" rIns="0" tIns="0" bIns="0">
            <a:spAutoFit/>
          </a:bodyPr>
          <a:lstStyle/>
          <a:p>
            <a:pPr algn="l"/>
            <a:r>
              <a:rPr sz="850" b="0">
                <a:solidFill>
                  <a:srgbClr val="414141"/>
                </a:solidFill>
                <a:latin typeface="Calibri"/>
              </a:rPr>
              <a:t>Commercial cert + fee (2024 rev)</a:t>
            </a:r>
          </a:p>
        </p:txBody>
      </p:sp>
      <p:sp>
        <p:nvSpPr>
          <p:cNvPr id="73" name="Rectangle 72"/>
          <p:cNvSpPr/>
          <p:nvPr/>
        </p:nvSpPr>
        <p:spPr>
          <a:xfrm>
            <a:off x="457200" y="5312664"/>
            <a:ext cx="11247120" cy="338328"/>
          </a:xfrm>
          <a:prstGeom prst="rect">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48640" y="5385816"/>
            <a:ext cx="365760" cy="201168"/>
          </a:xfrm>
          <a:prstGeom prst="rect">
            <a:avLst/>
          </a:prstGeom>
          <a:noFill/>
        </p:spPr>
        <p:txBody>
          <a:bodyPr wrap="square" anchor="t" lIns="0" rIns="0" tIns="0" bIns="0">
            <a:spAutoFit/>
          </a:bodyPr>
          <a:lstStyle/>
          <a:p>
            <a:pPr algn="l"/>
            <a:r>
              <a:rPr sz="1000" b="1">
                <a:solidFill>
                  <a:srgbClr val="8A8A8A"/>
                </a:solidFill>
                <a:latin typeface="Calibri"/>
              </a:rPr>
              <a:t>9</a:t>
            </a:r>
          </a:p>
        </p:txBody>
      </p:sp>
      <p:sp>
        <p:nvSpPr>
          <p:cNvPr id="75" name="TextBox 74"/>
          <p:cNvSpPr txBox="1"/>
          <p:nvPr/>
        </p:nvSpPr>
        <p:spPr>
          <a:xfrm>
            <a:off x="960120" y="5367528"/>
            <a:ext cx="685800" cy="219456"/>
          </a:xfrm>
          <a:prstGeom prst="rect">
            <a:avLst/>
          </a:prstGeom>
          <a:noFill/>
        </p:spPr>
        <p:txBody>
          <a:bodyPr wrap="square" anchor="t" lIns="0" rIns="0" tIns="0" bIns="0">
            <a:spAutoFit/>
          </a:bodyPr>
          <a:lstStyle/>
          <a:p>
            <a:pPr algn="l"/>
            <a:r>
              <a:rPr sz="1300" b="1">
                <a:solidFill>
                  <a:srgbClr val="493356"/>
                </a:solidFill>
                <a:latin typeface="Calibri"/>
              </a:rPr>
              <a:t>PA</a:t>
            </a:r>
          </a:p>
        </p:txBody>
      </p:sp>
      <p:sp>
        <p:nvSpPr>
          <p:cNvPr id="76" name="TextBox 75"/>
          <p:cNvSpPr txBox="1"/>
          <p:nvPr/>
        </p:nvSpPr>
        <p:spPr>
          <a:xfrm>
            <a:off x="1691640" y="5385816"/>
            <a:ext cx="1371600" cy="201168"/>
          </a:xfrm>
          <a:prstGeom prst="rect">
            <a:avLst/>
          </a:prstGeom>
          <a:noFill/>
        </p:spPr>
        <p:txBody>
          <a:bodyPr wrap="square" anchor="t" lIns="0" rIns="0" tIns="0" bIns="0">
            <a:spAutoFit/>
          </a:bodyPr>
          <a:lstStyle/>
          <a:p>
            <a:pPr algn="l"/>
            <a:r>
              <a:rPr sz="1000" b="1">
                <a:solidFill>
                  <a:srgbClr val="493356"/>
                </a:solidFill>
                <a:latin typeface="Calibri"/>
              </a:rPr>
              <a:t>8,172 · 2.8%</a:t>
            </a:r>
          </a:p>
        </p:txBody>
      </p:sp>
      <p:sp>
        <p:nvSpPr>
          <p:cNvPr id="77" name="Rounded Rectangle 76"/>
          <p:cNvSpPr/>
          <p:nvPr/>
        </p:nvSpPr>
        <p:spPr>
          <a:xfrm>
            <a:off x="3154680" y="5376672"/>
            <a:ext cx="914400" cy="210312"/>
          </a:xfrm>
          <a:prstGeom prst="roundRect">
            <a:avLst>
              <a:gd name="adj" fmla="val 50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800" b="1">
                <a:solidFill>
                  <a:srgbClr val="FFFFFF"/>
                </a:solidFill>
                <a:latin typeface="Calibri"/>
              </a:rPr>
              <a:t>YES</a:t>
            </a:r>
          </a:p>
        </p:txBody>
      </p:sp>
      <p:sp>
        <p:nvSpPr>
          <p:cNvPr id="78" name="TextBox 77"/>
          <p:cNvSpPr txBox="1"/>
          <p:nvPr/>
        </p:nvSpPr>
        <p:spPr>
          <a:xfrm>
            <a:off x="4480560" y="5381244"/>
            <a:ext cx="3291840" cy="274320"/>
          </a:xfrm>
          <a:prstGeom prst="rect">
            <a:avLst/>
          </a:prstGeom>
          <a:noFill/>
        </p:spPr>
        <p:txBody>
          <a:bodyPr wrap="square" anchor="t" lIns="0" rIns="0" tIns="0" bIns="0">
            <a:spAutoFit/>
          </a:bodyPr>
          <a:lstStyle/>
          <a:p>
            <a:pPr algn="l"/>
            <a:r>
              <a:rPr sz="850" b="0">
                <a:solidFill>
                  <a:srgbClr val="414141"/>
                </a:solidFill>
                <a:latin typeface="Calibri"/>
              </a:rPr>
              <a:t>Annual owner list published in the PA Bulletin + Treasury site</a:t>
            </a:r>
          </a:p>
        </p:txBody>
      </p:sp>
      <p:sp>
        <p:nvSpPr>
          <p:cNvPr id="79" name="TextBox 78"/>
          <p:cNvSpPr txBox="1"/>
          <p:nvPr/>
        </p:nvSpPr>
        <p:spPr>
          <a:xfrm>
            <a:off x="7863840" y="5381244"/>
            <a:ext cx="3794760" cy="274320"/>
          </a:xfrm>
          <a:prstGeom prst="rect">
            <a:avLst/>
          </a:prstGeom>
          <a:noFill/>
        </p:spPr>
        <p:txBody>
          <a:bodyPr wrap="square" anchor="t" lIns="0" rIns="0" tIns="0" bIns="0">
            <a:spAutoFit/>
          </a:bodyPr>
          <a:lstStyle/>
          <a:p>
            <a:pPr algn="l"/>
            <a:r>
              <a:rPr sz="850" b="0">
                <a:solidFill>
                  <a:srgbClr val="414141"/>
                </a:solidFill>
                <a:latin typeface="Calibri"/>
              </a:rPr>
              <a:t>Counsel: confirm reuse of the published list</a:t>
            </a:r>
          </a:p>
        </p:txBody>
      </p:sp>
      <p:sp>
        <p:nvSpPr>
          <p:cNvPr id="80" name="Rectangle 79"/>
          <p:cNvSpPr/>
          <p:nvPr/>
        </p:nvSpPr>
        <p:spPr>
          <a:xfrm>
            <a:off x="457200" y="5650992"/>
            <a:ext cx="11247120" cy="3383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48640" y="5724144"/>
            <a:ext cx="365760" cy="201168"/>
          </a:xfrm>
          <a:prstGeom prst="rect">
            <a:avLst/>
          </a:prstGeom>
          <a:noFill/>
        </p:spPr>
        <p:txBody>
          <a:bodyPr wrap="square" anchor="t" lIns="0" rIns="0" tIns="0" bIns="0">
            <a:spAutoFit/>
          </a:bodyPr>
          <a:lstStyle/>
          <a:p>
            <a:pPr algn="l"/>
            <a:r>
              <a:rPr sz="1000" b="1">
                <a:solidFill>
                  <a:srgbClr val="8A8A8A"/>
                </a:solidFill>
                <a:latin typeface="Calibri"/>
              </a:rPr>
              <a:t>10</a:t>
            </a:r>
          </a:p>
        </p:txBody>
      </p:sp>
      <p:sp>
        <p:nvSpPr>
          <p:cNvPr id="82" name="TextBox 81"/>
          <p:cNvSpPr txBox="1"/>
          <p:nvPr/>
        </p:nvSpPr>
        <p:spPr>
          <a:xfrm>
            <a:off x="960120" y="5705856"/>
            <a:ext cx="685800" cy="219456"/>
          </a:xfrm>
          <a:prstGeom prst="rect">
            <a:avLst/>
          </a:prstGeom>
          <a:noFill/>
        </p:spPr>
        <p:txBody>
          <a:bodyPr wrap="square" anchor="t" lIns="0" rIns="0" tIns="0" bIns="0">
            <a:spAutoFit/>
          </a:bodyPr>
          <a:lstStyle/>
          <a:p>
            <a:pPr algn="l"/>
            <a:r>
              <a:rPr sz="1300" b="1">
                <a:solidFill>
                  <a:srgbClr val="493356"/>
                </a:solidFill>
                <a:latin typeface="Calibri"/>
              </a:rPr>
              <a:t>SC</a:t>
            </a:r>
          </a:p>
        </p:txBody>
      </p:sp>
      <p:sp>
        <p:nvSpPr>
          <p:cNvPr id="83" name="TextBox 82"/>
          <p:cNvSpPr txBox="1"/>
          <p:nvPr/>
        </p:nvSpPr>
        <p:spPr>
          <a:xfrm>
            <a:off x="1691640" y="5724144"/>
            <a:ext cx="1371600" cy="201168"/>
          </a:xfrm>
          <a:prstGeom prst="rect">
            <a:avLst/>
          </a:prstGeom>
          <a:noFill/>
        </p:spPr>
        <p:txBody>
          <a:bodyPr wrap="square" anchor="t" lIns="0" rIns="0" tIns="0" bIns="0">
            <a:spAutoFit/>
          </a:bodyPr>
          <a:lstStyle/>
          <a:p>
            <a:pPr algn="l"/>
            <a:r>
              <a:rPr sz="1000" b="1">
                <a:solidFill>
                  <a:srgbClr val="493356"/>
                </a:solidFill>
                <a:latin typeface="Calibri"/>
              </a:rPr>
              <a:t>5,992 · 2.0%</a:t>
            </a:r>
          </a:p>
        </p:txBody>
      </p:sp>
      <p:sp>
        <p:nvSpPr>
          <p:cNvPr id="84" name="Rounded Rectangle 83"/>
          <p:cNvSpPr/>
          <p:nvPr/>
        </p:nvSpPr>
        <p:spPr>
          <a:xfrm>
            <a:off x="3154680" y="5715000"/>
            <a:ext cx="914400" cy="210312"/>
          </a:xfrm>
          <a:prstGeom prst="roundRect">
            <a:avLst>
              <a:gd name="adj" fmla="val 50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800" b="1">
                <a:solidFill>
                  <a:srgbClr val="FFFFFF"/>
                </a:solidFill>
                <a:latin typeface="Calibri"/>
              </a:rPr>
              <a:t>YES</a:t>
            </a:r>
          </a:p>
        </p:txBody>
      </p:sp>
      <p:sp>
        <p:nvSpPr>
          <p:cNvPr id="85" name="TextBox 84"/>
          <p:cNvSpPr txBox="1"/>
          <p:nvPr/>
        </p:nvSpPr>
        <p:spPr>
          <a:xfrm>
            <a:off x="4480560" y="5719572"/>
            <a:ext cx="3291840" cy="274320"/>
          </a:xfrm>
          <a:prstGeom prst="rect">
            <a:avLst/>
          </a:prstGeom>
          <a:noFill/>
        </p:spPr>
        <p:txBody>
          <a:bodyPr wrap="square" anchor="t" lIns="0" rIns="0" tIns="0" bIns="0">
            <a:spAutoFit/>
          </a:bodyPr>
          <a:lstStyle/>
          <a:p>
            <a:pPr algn="l"/>
            <a:r>
              <a:rPr sz="850" b="0">
                <a:solidFill>
                  <a:srgbClr val="414141"/>
                </a:solidFill>
                <a:latin typeface="Calibri"/>
              </a:rPr>
              <a:t>Annual FOIA report (flash drive, $10; &gt;24-mo, value bands)</a:t>
            </a:r>
          </a:p>
        </p:txBody>
      </p:sp>
      <p:sp>
        <p:nvSpPr>
          <p:cNvPr id="86" name="TextBox 85"/>
          <p:cNvSpPr txBox="1"/>
          <p:nvPr/>
        </p:nvSpPr>
        <p:spPr>
          <a:xfrm>
            <a:off x="7863840" y="5719572"/>
            <a:ext cx="3794760" cy="274320"/>
          </a:xfrm>
          <a:prstGeom prst="rect">
            <a:avLst/>
          </a:prstGeom>
          <a:noFill/>
        </p:spPr>
        <p:txBody>
          <a:bodyPr wrap="square" anchor="t" lIns="0" rIns="0" tIns="0" bIns="0">
            <a:spAutoFit/>
          </a:bodyPr>
          <a:lstStyle/>
          <a:p>
            <a:pPr algn="l"/>
            <a:r>
              <a:rPr sz="850" b="0">
                <a:solidFill>
                  <a:srgbClr val="414141"/>
                </a:solidFill>
                <a:latin typeface="Calibri"/>
              </a:rPr>
              <a:t>§30-2-50 bars commercial solicitation — counsel</a:t>
            </a:r>
          </a:p>
        </p:txBody>
      </p:sp>
      <p:sp>
        <p:nvSpPr>
          <p:cNvPr id="89" name="TextBox 88"/>
          <p:cNvSpPr txBox="1"/>
          <p:nvPr/>
        </p:nvSpPr>
        <p:spPr>
          <a:xfrm>
            <a:off x="640080" y="6254496"/>
            <a:ext cx="10972800" cy="164592"/>
          </a:xfrm>
          <a:prstGeom prst="rect">
            <a:avLst/>
          </a:prstGeom>
          <a:noFill/>
        </p:spPr>
        <p:txBody>
          <a:bodyPr wrap="square" anchor="t" lIns="0" rIns="0" tIns="0" bIns="0">
            <a:spAutoFit/>
          </a:bodyPr>
          <a:lstStyle/>
          <a:p>
            <a:pPr algn="l"/>
            <a:r>
              <a:rPr sz="850" b="0">
                <a:solidFill>
                  <a:srgbClr val="8A8A8A"/>
                </a:solidFill>
                <a:latin typeface="Calibri"/>
              </a:rPr>
              <a:t>* Deep-link only = we can't get this state's data, so we send the member to the state's official search page to look up and claim it themselves.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3058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2286000" cy="329184"/>
          </a:xfrm>
          <a:prstGeom prst="rect">
            <a:avLst/>
          </a:prstGeom>
          <a:noFill/>
        </p:spPr>
        <p:txBody>
          <a:bodyPr wrap="square" anchor="t" lIns="0" rIns="0" tIns="0" bIns="0">
            <a:spAutoFit/>
          </a:bodyPr>
          <a:lstStyle/>
          <a:p>
            <a:pPr algn="l"/>
            <a:r>
              <a:rPr sz="1600" b="1">
                <a:solidFill>
                  <a:srgbClr val="493356"/>
                </a:solidFill>
                <a:latin typeface="Calibri"/>
              </a:rPr>
              <a:t>CONSUMER</a:t>
            </a:r>
            <a:r>
              <a:rPr sz="1600" b="1">
                <a:solidFill>
                  <a:srgbClr val="3058A3"/>
                </a:solidFill>
                <a:latin typeface="Calibri"/>
              </a:rPr>
              <a:t>DIRECT</a:t>
            </a:r>
          </a:p>
        </p:txBody>
      </p:sp>
      <p:sp>
        <p:nvSpPr>
          <p:cNvPr id="5" name="TextBox 4"/>
          <p:cNvSpPr txBox="1"/>
          <p:nvPr/>
        </p:nvSpPr>
        <p:spPr>
          <a:xfrm>
            <a:off x="11338560" y="6446520"/>
            <a:ext cx="731520" cy="274320"/>
          </a:xfrm>
          <a:prstGeom prst="rect">
            <a:avLst/>
          </a:prstGeom>
          <a:noFill/>
        </p:spPr>
        <p:txBody>
          <a:bodyPr wrap="square" anchor="t" lIns="0" rIns="0" tIns="0" bIns="0">
            <a:spAutoFit/>
          </a:bodyPr>
          <a:lstStyle/>
          <a:p>
            <a:pPr algn="r"/>
            <a:r>
              <a:rPr sz="900" b="0">
                <a:solidFill>
                  <a:srgbClr val="8A8A8A"/>
                </a:solidFill>
                <a:latin typeface="Calibri"/>
              </a:rPr>
              <a:t>8 / 15</a:t>
            </a:r>
          </a:p>
        </p:txBody>
      </p:sp>
      <p:sp>
        <p:nvSpPr>
          <p:cNvPr id="6" name="TextBox 5"/>
          <p:cNvSpPr txBox="1"/>
          <p:nvPr/>
        </p:nvSpPr>
        <p:spPr>
          <a:xfrm>
            <a:off x="457200" y="6446520"/>
            <a:ext cx="7315200" cy="274320"/>
          </a:xfrm>
          <a:prstGeom prst="rect">
            <a:avLst/>
          </a:prstGeom>
          <a:noFill/>
        </p:spPr>
        <p:txBody>
          <a:bodyPr wrap="square" anchor="t" lIns="0" rIns="0" tIns="0" bIns="0">
            <a:spAutoFit/>
          </a:bodyPr>
          <a:lstStyle/>
          <a:p>
            <a:pPr algn="l"/>
            <a:r>
              <a:rPr sz="900" b="0">
                <a:solidFill>
                  <a:srgbClr val="8A8A8A"/>
                </a:solidFill>
                <a:latin typeface="Calibri"/>
              </a:rPr>
              <a:t>GetMyMoney · Confidential — Consumer Direct, Inc.</a:t>
            </a:r>
          </a:p>
        </p:txBody>
      </p:sp>
      <p:sp>
        <p:nvSpPr>
          <p:cNvPr id="7" name="TextBox 6"/>
          <p:cNvSpPr txBox="1"/>
          <p:nvPr/>
        </p:nvSpPr>
        <p:spPr>
          <a:xfrm>
            <a:off x="457200" y="749808"/>
            <a:ext cx="11430000" cy="502920"/>
          </a:xfrm>
          <a:prstGeom prst="rect">
            <a:avLst/>
          </a:prstGeom>
          <a:noFill/>
        </p:spPr>
        <p:txBody>
          <a:bodyPr wrap="square" anchor="t" lIns="0" rIns="0" tIns="0" bIns="0">
            <a:spAutoFit/>
          </a:bodyPr>
          <a:lstStyle/>
          <a:p>
            <a:pPr algn="l"/>
            <a:r>
              <a:rPr sz="2800" b="1">
                <a:solidFill>
                  <a:srgbClr val="493356"/>
                </a:solidFill>
                <a:latin typeface="Calibri"/>
              </a:rPr>
              <a:t>Data Availability: Current Matches in CA</a:t>
            </a:r>
          </a:p>
        </p:txBody>
      </p:sp>
      <p:sp>
        <p:nvSpPr>
          <p:cNvPr id="8" name="TextBox 7"/>
          <p:cNvSpPr txBox="1"/>
          <p:nvPr/>
        </p:nvSpPr>
        <p:spPr>
          <a:xfrm>
            <a:off x="457200" y="1353312"/>
            <a:ext cx="11430000" cy="457200"/>
          </a:xfrm>
          <a:prstGeom prst="rect">
            <a:avLst/>
          </a:prstGeom>
          <a:noFill/>
        </p:spPr>
        <p:txBody>
          <a:bodyPr wrap="square" anchor="t" lIns="0" rIns="0" tIns="0" bIns="0">
            <a:spAutoFit/>
          </a:bodyPr>
          <a:lstStyle/>
          <a:p>
            <a:pPr algn="l"/>
            <a:r>
              <a:rPr sz="1600" b="0">
                <a:solidFill>
                  <a:srgbClr val="414141"/>
                </a:solidFill>
                <a:latin typeface="Calibri"/>
              </a:rPr>
              <a:t>Matched 74.5% of our net actives in California.</a:t>
            </a:r>
          </a:p>
        </p:txBody>
      </p:sp>
      <p:sp>
        <p:nvSpPr>
          <p:cNvPr id="9" name="TextBox 8"/>
          <p:cNvSpPr txBox="1"/>
          <p:nvPr/>
        </p:nvSpPr>
        <p:spPr>
          <a:xfrm>
            <a:off x="457200" y="1673352"/>
            <a:ext cx="11430000" cy="365760"/>
          </a:xfrm>
          <a:prstGeom prst="rect">
            <a:avLst/>
          </a:prstGeom>
          <a:noFill/>
        </p:spPr>
        <p:txBody>
          <a:bodyPr wrap="square" anchor="t" lIns="0" rIns="0" tIns="0" bIns="0">
            <a:spAutoFit/>
          </a:bodyPr>
          <a:lstStyle/>
          <a:p>
            <a:pPr algn="l"/>
            <a:r>
              <a:rPr sz="1050" b="0">
                <a:solidFill>
                  <a:srgbClr val="8A8A8A"/>
                </a:solidFill>
                <a:latin typeface="Calibri"/>
              </a:rPr>
              <a:t>Left: name only — the upper bound, inflated by common names. Right: adding city — the defensible floor before production PII (DOB, SSN-last-4, full address).</a:t>
            </a:r>
          </a:p>
        </p:txBody>
      </p:sp>
      <p:sp>
        <p:nvSpPr>
          <p:cNvPr id="10" name="Rounded Rectangle 9"/>
          <p:cNvSpPr/>
          <p:nvPr/>
        </p:nvSpPr>
        <p:spPr>
          <a:xfrm>
            <a:off x="457200" y="2103120"/>
            <a:ext cx="5532120" cy="3840480"/>
          </a:xfrm>
          <a:prstGeom prst="roundRect">
            <a:avLst>
              <a:gd name="adj" fmla="val 5000"/>
            </a:avLst>
          </a:prstGeom>
          <a:solidFill>
            <a:srgbClr val="FFFFFF"/>
          </a:solidFill>
          <a:ln w="6350">
            <a:solidFill>
              <a:srgbClr val="E2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03120"/>
            <a:ext cx="5532120" cy="128016"/>
          </a:xfrm>
          <a:prstGeom prst="rect">
            <a:avLst/>
          </a:prstGeom>
          <a:solidFill>
            <a:srgbClr val="EF5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286000"/>
            <a:ext cx="5202936" cy="256032"/>
          </a:xfrm>
          <a:prstGeom prst="rect">
            <a:avLst/>
          </a:prstGeom>
          <a:noFill/>
        </p:spPr>
        <p:txBody>
          <a:bodyPr wrap="square" anchor="t" lIns="0" rIns="0" tIns="0" bIns="0">
            <a:spAutoFit/>
          </a:bodyPr>
          <a:lstStyle/>
          <a:p>
            <a:pPr algn="l"/>
            <a:r>
              <a:rPr sz="1150" b="1">
                <a:solidFill>
                  <a:srgbClr val="EF5E33"/>
                </a:solidFill>
                <a:latin typeface="Calibri"/>
              </a:rPr>
              <a:t>NAME ONLY · UPPER BOUND</a:t>
            </a:r>
          </a:p>
        </p:txBody>
      </p:sp>
      <p:sp>
        <p:nvSpPr>
          <p:cNvPr id="13" name="Rounded Rectangle 12"/>
          <p:cNvSpPr/>
          <p:nvPr/>
        </p:nvSpPr>
        <p:spPr>
          <a:xfrm>
            <a:off x="621792" y="2606040"/>
            <a:ext cx="1700784" cy="914400"/>
          </a:xfrm>
          <a:prstGeom prst="roundRect">
            <a:avLst>
              <a:gd name="adj" fmla="val 6000"/>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1" y="2679192"/>
            <a:ext cx="1517904" cy="411480"/>
          </a:xfrm>
          <a:prstGeom prst="rect">
            <a:avLst/>
          </a:prstGeom>
          <a:noFill/>
        </p:spPr>
        <p:txBody>
          <a:bodyPr wrap="square" anchor="t" lIns="0" rIns="0" tIns="0" bIns="0">
            <a:spAutoFit/>
          </a:bodyPr>
          <a:lstStyle/>
          <a:p>
            <a:pPr algn="l"/>
            <a:r>
              <a:rPr sz="1900" b="1">
                <a:solidFill>
                  <a:srgbClr val="EF5E33"/>
                </a:solidFill>
                <a:latin typeface="Calibri"/>
              </a:rPr>
              <a:t>23,166</a:t>
            </a:r>
          </a:p>
        </p:txBody>
      </p:sp>
      <p:sp>
        <p:nvSpPr>
          <p:cNvPr id="15" name="TextBox 14"/>
          <p:cNvSpPr txBox="1"/>
          <p:nvPr/>
        </p:nvSpPr>
        <p:spPr>
          <a:xfrm>
            <a:off x="713231" y="3108960"/>
            <a:ext cx="1517904" cy="365760"/>
          </a:xfrm>
          <a:prstGeom prst="rect">
            <a:avLst/>
          </a:prstGeom>
          <a:noFill/>
        </p:spPr>
        <p:txBody>
          <a:bodyPr wrap="square" anchor="t" lIns="0" rIns="0" tIns="0" bIns="0">
            <a:spAutoFit/>
          </a:bodyPr>
          <a:lstStyle/>
          <a:p>
            <a:pPr algn="l"/>
            <a:r>
              <a:rPr sz="850" b="0">
                <a:solidFill>
                  <a:srgbClr val="414141"/>
                </a:solidFill>
                <a:latin typeface="Calibri"/>
              </a:rPr>
              <a:t>matched · 74.5% of cohort</a:t>
            </a:r>
          </a:p>
        </p:txBody>
      </p:sp>
      <p:sp>
        <p:nvSpPr>
          <p:cNvPr id="16" name="Rounded Rectangle 15"/>
          <p:cNvSpPr/>
          <p:nvPr/>
        </p:nvSpPr>
        <p:spPr>
          <a:xfrm>
            <a:off x="2414016" y="2606040"/>
            <a:ext cx="1700784" cy="914400"/>
          </a:xfrm>
          <a:prstGeom prst="roundRect">
            <a:avLst>
              <a:gd name="adj" fmla="val 6000"/>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05456" y="2679192"/>
            <a:ext cx="1517904" cy="411480"/>
          </a:xfrm>
          <a:prstGeom prst="rect">
            <a:avLst/>
          </a:prstGeom>
          <a:noFill/>
        </p:spPr>
        <p:txBody>
          <a:bodyPr wrap="square" anchor="t" lIns="0" rIns="0" tIns="0" bIns="0">
            <a:spAutoFit/>
          </a:bodyPr>
          <a:lstStyle/>
          <a:p>
            <a:pPr algn="l"/>
            <a:r>
              <a:rPr sz="1900" b="1">
                <a:solidFill>
                  <a:srgbClr val="EF5E33"/>
                </a:solidFill>
                <a:latin typeface="Calibri"/>
              </a:rPr>
              <a:t>2.3M</a:t>
            </a:r>
          </a:p>
        </p:txBody>
      </p:sp>
      <p:sp>
        <p:nvSpPr>
          <p:cNvPr id="18" name="TextBox 17"/>
          <p:cNvSpPr txBox="1"/>
          <p:nvPr/>
        </p:nvSpPr>
        <p:spPr>
          <a:xfrm>
            <a:off x="2505456" y="3108960"/>
            <a:ext cx="1517904" cy="365760"/>
          </a:xfrm>
          <a:prstGeom prst="rect">
            <a:avLst/>
          </a:prstGeom>
          <a:noFill/>
        </p:spPr>
        <p:txBody>
          <a:bodyPr wrap="square" anchor="t" lIns="0" rIns="0" tIns="0" bIns="0">
            <a:spAutoFit/>
          </a:bodyPr>
          <a:lstStyle/>
          <a:p>
            <a:pPr algn="l"/>
            <a:r>
              <a:rPr sz="850" b="0">
                <a:solidFill>
                  <a:srgbClr val="414141"/>
                </a:solidFill>
                <a:latin typeface="Calibri"/>
              </a:rPr>
              <a:t>property records</a:t>
            </a:r>
          </a:p>
        </p:txBody>
      </p:sp>
      <p:sp>
        <p:nvSpPr>
          <p:cNvPr id="19" name="Rounded Rectangle 18"/>
          <p:cNvSpPr/>
          <p:nvPr/>
        </p:nvSpPr>
        <p:spPr>
          <a:xfrm>
            <a:off x="4206240" y="2606040"/>
            <a:ext cx="1700784" cy="914400"/>
          </a:xfrm>
          <a:prstGeom prst="roundRect">
            <a:avLst>
              <a:gd name="adj" fmla="val 6000"/>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97680" y="2679192"/>
            <a:ext cx="1517904" cy="411480"/>
          </a:xfrm>
          <a:prstGeom prst="rect">
            <a:avLst/>
          </a:prstGeom>
          <a:noFill/>
        </p:spPr>
        <p:txBody>
          <a:bodyPr wrap="square" anchor="t" lIns="0" rIns="0" tIns="0" bIns="0">
            <a:spAutoFit/>
          </a:bodyPr>
          <a:lstStyle/>
          <a:p>
            <a:pPr algn="l"/>
            <a:r>
              <a:rPr sz="1900" b="1">
                <a:solidFill>
                  <a:srgbClr val="EF5E33"/>
                </a:solidFill>
                <a:latin typeface="Calibri"/>
              </a:rPr>
              <a:t>$172M</a:t>
            </a:r>
          </a:p>
        </p:txBody>
      </p:sp>
      <p:sp>
        <p:nvSpPr>
          <p:cNvPr id="21" name="TextBox 20"/>
          <p:cNvSpPr txBox="1"/>
          <p:nvPr/>
        </p:nvSpPr>
        <p:spPr>
          <a:xfrm>
            <a:off x="4297680" y="3108960"/>
            <a:ext cx="1517904" cy="365760"/>
          </a:xfrm>
          <a:prstGeom prst="rect">
            <a:avLst/>
          </a:prstGeom>
          <a:noFill/>
        </p:spPr>
        <p:txBody>
          <a:bodyPr wrap="square" anchor="t" lIns="0" rIns="0" tIns="0" bIns="0">
            <a:spAutoFit/>
          </a:bodyPr>
          <a:lstStyle/>
          <a:p>
            <a:pPr algn="l"/>
            <a:r>
              <a:rPr sz="850" b="0">
                <a:solidFill>
                  <a:srgbClr val="414141"/>
                </a:solidFill>
                <a:latin typeface="Calibri"/>
              </a:rPr>
              <a:t>estimated value</a:t>
            </a:r>
          </a:p>
        </p:txBody>
      </p:sp>
      <p:sp>
        <p:nvSpPr>
          <p:cNvPr id="22" name="Rectangle 21"/>
          <p:cNvSpPr/>
          <p:nvPr/>
        </p:nvSpPr>
        <p:spPr>
          <a:xfrm>
            <a:off x="621792" y="3703320"/>
            <a:ext cx="5202936" cy="237744"/>
          </a:xfrm>
          <a:prstGeom prst="rect">
            <a:avLst/>
          </a:prstGeom>
          <a:solidFill>
            <a:srgbClr val="493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3739896"/>
            <a:ext cx="1371600" cy="182880"/>
          </a:xfrm>
          <a:prstGeom prst="rect">
            <a:avLst/>
          </a:prstGeom>
          <a:noFill/>
        </p:spPr>
        <p:txBody>
          <a:bodyPr wrap="square" anchor="t" lIns="0" rIns="0" tIns="0" bIns="0">
            <a:spAutoFit/>
          </a:bodyPr>
          <a:lstStyle/>
          <a:p>
            <a:pPr algn="l"/>
            <a:r>
              <a:rPr sz="900" b="1">
                <a:solidFill>
                  <a:srgbClr val="FFFFFF"/>
                </a:solidFill>
                <a:latin typeface="Calibri"/>
              </a:rPr>
              <a:t>Total owed</a:t>
            </a:r>
          </a:p>
        </p:txBody>
      </p:sp>
      <p:sp>
        <p:nvSpPr>
          <p:cNvPr id="24" name="TextBox 23"/>
          <p:cNvSpPr txBox="1"/>
          <p:nvPr/>
        </p:nvSpPr>
        <p:spPr>
          <a:xfrm>
            <a:off x="2148840" y="3739896"/>
            <a:ext cx="1143000" cy="182880"/>
          </a:xfrm>
          <a:prstGeom prst="rect">
            <a:avLst/>
          </a:prstGeom>
          <a:noFill/>
        </p:spPr>
        <p:txBody>
          <a:bodyPr wrap="square" anchor="t" lIns="0" rIns="0" tIns="0" bIns="0">
            <a:spAutoFit/>
          </a:bodyPr>
          <a:lstStyle/>
          <a:p>
            <a:pPr algn="l"/>
            <a:r>
              <a:rPr sz="900" b="1">
                <a:solidFill>
                  <a:srgbClr val="FFFFFF"/>
                </a:solidFill>
                <a:latin typeface="Calibri"/>
              </a:rPr>
              <a:t>Net actives</a:t>
            </a:r>
          </a:p>
        </p:txBody>
      </p:sp>
      <p:sp>
        <p:nvSpPr>
          <p:cNvPr id="25" name="TextBox 24"/>
          <p:cNvSpPr txBox="1"/>
          <p:nvPr/>
        </p:nvSpPr>
        <p:spPr>
          <a:xfrm>
            <a:off x="3383280" y="3739896"/>
            <a:ext cx="1234440" cy="182880"/>
          </a:xfrm>
          <a:prstGeom prst="rect">
            <a:avLst/>
          </a:prstGeom>
          <a:noFill/>
        </p:spPr>
        <p:txBody>
          <a:bodyPr wrap="square" anchor="t" lIns="0" rIns="0" tIns="0" bIns="0">
            <a:spAutoFit/>
          </a:bodyPr>
          <a:lstStyle/>
          <a:p>
            <a:pPr algn="l"/>
            <a:r>
              <a:rPr sz="900" b="1">
                <a:solidFill>
                  <a:srgbClr val="FFFFFF"/>
                </a:solidFill>
                <a:latin typeface="Calibri"/>
              </a:rPr>
              <a:t>Bucket $</a:t>
            </a:r>
          </a:p>
        </p:txBody>
      </p:sp>
      <p:sp>
        <p:nvSpPr>
          <p:cNvPr id="26" name="TextBox 25"/>
          <p:cNvSpPr txBox="1"/>
          <p:nvPr/>
        </p:nvSpPr>
        <p:spPr>
          <a:xfrm>
            <a:off x="4663440" y="3739896"/>
            <a:ext cx="1188720" cy="182880"/>
          </a:xfrm>
          <a:prstGeom prst="rect">
            <a:avLst/>
          </a:prstGeom>
          <a:noFill/>
        </p:spPr>
        <p:txBody>
          <a:bodyPr wrap="square" anchor="t" lIns="0" rIns="0" tIns="0" bIns="0">
            <a:spAutoFit/>
          </a:bodyPr>
          <a:lstStyle/>
          <a:p>
            <a:pPr algn="l"/>
            <a:r>
              <a:rPr sz="900" b="1">
                <a:solidFill>
                  <a:srgbClr val="FFFFFF"/>
                </a:solidFill>
                <a:latin typeface="Calibri"/>
              </a:rPr>
              <a:t>$ / member</a:t>
            </a:r>
          </a:p>
        </p:txBody>
      </p:sp>
      <p:sp>
        <p:nvSpPr>
          <p:cNvPr id="27" name="Rectangle 26"/>
          <p:cNvSpPr/>
          <p:nvPr/>
        </p:nvSpPr>
        <p:spPr>
          <a:xfrm>
            <a:off x="621792" y="3941063"/>
            <a:ext cx="5202936" cy="292608"/>
          </a:xfrm>
          <a:prstGeom prst="rect">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995927"/>
            <a:ext cx="1371600" cy="201168"/>
          </a:xfrm>
          <a:prstGeom prst="rect">
            <a:avLst/>
          </a:prstGeom>
          <a:noFill/>
        </p:spPr>
        <p:txBody>
          <a:bodyPr wrap="square" anchor="t" lIns="0" rIns="0" tIns="0" bIns="0">
            <a:spAutoFit/>
          </a:bodyPr>
          <a:lstStyle/>
          <a:p>
            <a:pPr algn="l"/>
            <a:r>
              <a:rPr sz="1000" b="1">
                <a:solidFill>
                  <a:srgbClr val="8A8A8A"/>
                </a:solidFill>
                <a:latin typeface="Calibri"/>
              </a:rPr>
              <a:t>$0–$9.99</a:t>
            </a:r>
          </a:p>
        </p:txBody>
      </p:sp>
      <p:sp>
        <p:nvSpPr>
          <p:cNvPr id="29" name="TextBox 28"/>
          <p:cNvSpPr txBox="1"/>
          <p:nvPr/>
        </p:nvSpPr>
        <p:spPr>
          <a:xfrm>
            <a:off x="2148840" y="3995927"/>
            <a:ext cx="1143000" cy="201168"/>
          </a:xfrm>
          <a:prstGeom prst="rect">
            <a:avLst/>
          </a:prstGeom>
          <a:noFill/>
        </p:spPr>
        <p:txBody>
          <a:bodyPr wrap="square" anchor="t" lIns="0" rIns="0" tIns="0" bIns="0">
            <a:spAutoFit/>
          </a:bodyPr>
          <a:lstStyle/>
          <a:p>
            <a:pPr algn="l"/>
            <a:r>
              <a:rPr sz="1000" b="0">
                <a:solidFill>
                  <a:srgbClr val="414141"/>
                </a:solidFill>
                <a:latin typeface="Calibri"/>
              </a:rPr>
              <a:t>2,774</a:t>
            </a:r>
          </a:p>
        </p:txBody>
      </p:sp>
      <p:sp>
        <p:nvSpPr>
          <p:cNvPr id="30" name="TextBox 29"/>
          <p:cNvSpPr txBox="1"/>
          <p:nvPr/>
        </p:nvSpPr>
        <p:spPr>
          <a:xfrm>
            <a:off x="3383280" y="3995927"/>
            <a:ext cx="1234440" cy="201168"/>
          </a:xfrm>
          <a:prstGeom prst="rect">
            <a:avLst/>
          </a:prstGeom>
          <a:noFill/>
        </p:spPr>
        <p:txBody>
          <a:bodyPr wrap="square" anchor="t" lIns="0" rIns="0" tIns="0" bIns="0">
            <a:spAutoFit/>
          </a:bodyPr>
          <a:lstStyle/>
          <a:p>
            <a:pPr algn="l"/>
            <a:r>
              <a:rPr sz="1000" b="1">
                <a:solidFill>
                  <a:srgbClr val="8A8A8A"/>
                </a:solidFill>
                <a:latin typeface="Calibri"/>
              </a:rPr>
              <a:t>$9K</a:t>
            </a:r>
          </a:p>
        </p:txBody>
      </p:sp>
      <p:sp>
        <p:nvSpPr>
          <p:cNvPr id="31" name="TextBox 30"/>
          <p:cNvSpPr txBox="1"/>
          <p:nvPr/>
        </p:nvSpPr>
        <p:spPr>
          <a:xfrm>
            <a:off x="4663440" y="3995927"/>
            <a:ext cx="1188720" cy="201168"/>
          </a:xfrm>
          <a:prstGeom prst="rect">
            <a:avLst/>
          </a:prstGeom>
          <a:noFill/>
        </p:spPr>
        <p:txBody>
          <a:bodyPr wrap="square" anchor="t" lIns="0" rIns="0" tIns="0" bIns="0">
            <a:spAutoFit/>
          </a:bodyPr>
          <a:lstStyle/>
          <a:p>
            <a:pPr algn="l"/>
            <a:r>
              <a:rPr sz="1000" b="0">
                <a:solidFill>
                  <a:srgbClr val="8A8A8A"/>
                </a:solidFill>
                <a:latin typeface="Calibri"/>
              </a:rPr>
              <a:t>$3</a:t>
            </a:r>
          </a:p>
        </p:txBody>
      </p:sp>
      <p:sp>
        <p:nvSpPr>
          <p:cNvPr id="32" name="Rectangle 31"/>
          <p:cNvSpPr/>
          <p:nvPr/>
        </p:nvSpPr>
        <p:spPr>
          <a:xfrm>
            <a:off x="621792" y="4233672"/>
            <a:ext cx="5202936"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4288536"/>
            <a:ext cx="1371600" cy="201168"/>
          </a:xfrm>
          <a:prstGeom prst="rect">
            <a:avLst/>
          </a:prstGeom>
          <a:noFill/>
        </p:spPr>
        <p:txBody>
          <a:bodyPr wrap="square" anchor="t" lIns="0" rIns="0" tIns="0" bIns="0">
            <a:spAutoFit/>
          </a:bodyPr>
          <a:lstStyle/>
          <a:p>
            <a:pPr algn="l"/>
            <a:r>
              <a:rPr sz="1000" b="1">
                <a:solidFill>
                  <a:srgbClr val="059669"/>
                </a:solidFill>
                <a:latin typeface="Calibri"/>
              </a:rPr>
              <a:t>$10–$99.99</a:t>
            </a:r>
          </a:p>
        </p:txBody>
      </p:sp>
      <p:sp>
        <p:nvSpPr>
          <p:cNvPr id="34" name="TextBox 33"/>
          <p:cNvSpPr txBox="1"/>
          <p:nvPr/>
        </p:nvSpPr>
        <p:spPr>
          <a:xfrm>
            <a:off x="2148840" y="4288536"/>
            <a:ext cx="1143000" cy="201168"/>
          </a:xfrm>
          <a:prstGeom prst="rect">
            <a:avLst/>
          </a:prstGeom>
          <a:noFill/>
        </p:spPr>
        <p:txBody>
          <a:bodyPr wrap="square" anchor="t" lIns="0" rIns="0" tIns="0" bIns="0">
            <a:spAutoFit/>
          </a:bodyPr>
          <a:lstStyle/>
          <a:p>
            <a:pPr algn="l"/>
            <a:r>
              <a:rPr sz="1000" b="0">
                <a:solidFill>
                  <a:srgbClr val="414141"/>
                </a:solidFill>
                <a:latin typeface="Calibri"/>
              </a:rPr>
              <a:t>4,526</a:t>
            </a:r>
          </a:p>
        </p:txBody>
      </p:sp>
      <p:sp>
        <p:nvSpPr>
          <p:cNvPr id="35" name="TextBox 34"/>
          <p:cNvSpPr txBox="1"/>
          <p:nvPr/>
        </p:nvSpPr>
        <p:spPr>
          <a:xfrm>
            <a:off x="3383280" y="4288536"/>
            <a:ext cx="1234440" cy="201168"/>
          </a:xfrm>
          <a:prstGeom prst="rect">
            <a:avLst/>
          </a:prstGeom>
          <a:noFill/>
        </p:spPr>
        <p:txBody>
          <a:bodyPr wrap="square" anchor="t" lIns="0" rIns="0" tIns="0" bIns="0">
            <a:spAutoFit/>
          </a:bodyPr>
          <a:lstStyle/>
          <a:p>
            <a:pPr algn="l"/>
            <a:r>
              <a:rPr sz="1000" b="1">
                <a:solidFill>
                  <a:srgbClr val="059669"/>
                </a:solidFill>
                <a:latin typeface="Calibri"/>
              </a:rPr>
              <a:t>$198K</a:t>
            </a:r>
          </a:p>
        </p:txBody>
      </p:sp>
      <p:sp>
        <p:nvSpPr>
          <p:cNvPr id="36" name="TextBox 35"/>
          <p:cNvSpPr txBox="1"/>
          <p:nvPr/>
        </p:nvSpPr>
        <p:spPr>
          <a:xfrm>
            <a:off x="4663440" y="4288536"/>
            <a:ext cx="1188720" cy="201168"/>
          </a:xfrm>
          <a:prstGeom prst="rect">
            <a:avLst/>
          </a:prstGeom>
          <a:noFill/>
        </p:spPr>
        <p:txBody>
          <a:bodyPr wrap="square" anchor="t" lIns="0" rIns="0" tIns="0" bIns="0">
            <a:spAutoFit/>
          </a:bodyPr>
          <a:lstStyle/>
          <a:p>
            <a:pPr algn="l"/>
            <a:r>
              <a:rPr sz="1000" b="0">
                <a:solidFill>
                  <a:srgbClr val="059669"/>
                </a:solidFill>
                <a:latin typeface="Calibri"/>
              </a:rPr>
              <a:t>$44</a:t>
            </a:r>
          </a:p>
        </p:txBody>
      </p:sp>
      <p:sp>
        <p:nvSpPr>
          <p:cNvPr id="37" name="Rectangle 36"/>
          <p:cNvSpPr/>
          <p:nvPr/>
        </p:nvSpPr>
        <p:spPr>
          <a:xfrm>
            <a:off x="621792" y="4526280"/>
            <a:ext cx="5202936" cy="292608"/>
          </a:xfrm>
          <a:prstGeom prst="rect">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3232" y="4581144"/>
            <a:ext cx="1371600" cy="201168"/>
          </a:xfrm>
          <a:prstGeom prst="rect">
            <a:avLst/>
          </a:prstGeom>
          <a:noFill/>
        </p:spPr>
        <p:txBody>
          <a:bodyPr wrap="square" anchor="t" lIns="0" rIns="0" tIns="0" bIns="0">
            <a:spAutoFit/>
          </a:bodyPr>
          <a:lstStyle/>
          <a:p>
            <a:pPr algn="l"/>
            <a:r>
              <a:rPr sz="1000" b="1">
                <a:solidFill>
                  <a:srgbClr val="FCC062"/>
                </a:solidFill>
                <a:latin typeface="Calibri"/>
              </a:rPr>
              <a:t>$100–$499.99</a:t>
            </a:r>
          </a:p>
        </p:txBody>
      </p:sp>
      <p:sp>
        <p:nvSpPr>
          <p:cNvPr id="39" name="TextBox 38"/>
          <p:cNvSpPr txBox="1"/>
          <p:nvPr/>
        </p:nvSpPr>
        <p:spPr>
          <a:xfrm>
            <a:off x="2148840" y="4581144"/>
            <a:ext cx="1143000" cy="201168"/>
          </a:xfrm>
          <a:prstGeom prst="rect">
            <a:avLst/>
          </a:prstGeom>
          <a:noFill/>
        </p:spPr>
        <p:txBody>
          <a:bodyPr wrap="square" anchor="t" lIns="0" rIns="0" tIns="0" bIns="0">
            <a:spAutoFit/>
          </a:bodyPr>
          <a:lstStyle/>
          <a:p>
            <a:pPr algn="l"/>
            <a:r>
              <a:rPr sz="1000" b="0">
                <a:solidFill>
                  <a:srgbClr val="414141"/>
                </a:solidFill>
                <a:latin typeface="Calibri"/>
              </a:rPr>
              <a:t>4,317</a:t>
            </a:r>
          </a:p>
        </p:txBody>
      </p:sp>
      <p:sp>
        <p:nvSpPr>
          <p:cNvPr id="40" name="TextBox 39"/>
          <p:cNvSpPr txBox="1"/>
          <p:nvPr/>
        </p:nvSpPr>
        <p:spPr>
          <a:xfrm>
            <a:off x="3383280" y="4581144"/>
            <a:ext cx="1234440" cy="201168"/>
          </a:xfrm>
          <a:prstGeom prst="rect">
            <a:avLst/>
          </a:prstGeom>
          <a:noFill/>
        </p:spPr>
        <p:txBody>
          <a:bodyPr wrap="square" anchor="t" lIns="0" rIns="0" tIns="0" bIns="0">
            <a:spAutoFit/>
          </a:bodyPr>
          <a:lstStyle/>
          <a:p>
            <a:pPr algn="l"/>
            <a:r>
              <a:rPr sz="1000" b="1">
                <a:solidFill>
                  <a:srgbClr val="FCC062"/>
                </a:solidFill>
                <a:latin typeface="Calibri"/>
              </a:rPr>
              <a:t>$1.06M</a:t>
            </a:r>
          </a:p>
        </p:txBody>
      </p:sp>
      <p:sp>
        <p:nvSpPr>
          <p:cNvPr id="41" name="TextBox 40"/>
          <p:cNvSpPr txBox="1"/>
          <p:nvPr/>
        </p:nvSpPr>
        <p:spPr>
          <a:xfrm>
            <a:off x="4663440" y="4581144"/>
            <a:ext cx="1188720" cy="201168"/>
          </a:xfrm>
          <a:prstGeom prst="rect">
            <a:avLst/>
          </a:prstGeom>
          <a:noFill/>
        </p:spPr>
        <p:txBody>
          <a:bodyPr wrap="square" anchor="t" lIns="0" rIns="0" tIns="0" bIns="0">
            <a:spAutoFit/>
          </a:bodyPr>
          <a:lstStyle/>
          <a:p>
            <a:pPr algn="l"/>
            <a:r>
              <a:rPr sz="1000" b="0">
                <a:solidFill>
                  <a:srgbClr val="FCC062"/>
                </a:solidFill>
                <a:latin typeface="Calibri"/>
              </a:rPr>
              <a:t>$245</a:t>
            </a:r>
          </a:p>
        </p:txBody>
      </p:sp>
      <p:sp>
        <p:nvSpPr>
          <p:cNvPr id="42" name="Rectangle 41"/>
          <p:cNvSpPr/>
          <p:nvPr/>
        </p:nvSpPr>
        <p:spPr>
          <a:xfrm>
            <a:off x="621792" y="4818888"/>
            <a:ext cx="5202936"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13232" y="4873752"/>
            <a:ext cx="1371600" cy="201168"/>
          </a:xfrm>
          <a:prstGeom prst="rect">
            <a:avLst/>
          </a:prstGeom>
          <a:noFill/>
        </p:spPr>
        <p:txBody>
          <a:bodyPr wrap="square" anchor="t" lIns="0" rIns="0" tIns="0" bIns="0">
            <a:spAutoFit/>
          </a:bodyPr>
          <a:lstStyle/>
          <a:p>
            <a:pPr algn="l"/>
            <a:r>
              <a:rPr sz="1000" b="1">
                <a:solidFill>
                  <a:srgbClr val="3058A3"/>
                </a:solidFill>
                <a:latin typeface="Calibri"/>
              </a:rPr>
              <a:t>$500+</a:t>
            </a:r>
          </a:p>
        </p:txBody>
      </p:sp>
      <p:sp>
        <p:nvSpPr>
          <p:cNvPr id="44" name="TextBox 43"/>
          <p:cNvSpPr txBox="1"/>
          <p:nvPr/>
        </p:nvSpPr>
        <p:spPr>
          <a:xfrm>
            <a:off x="2148840" y="4873752"/>
            <a:ext cx="1143000" cy="201168"/>
          </a:xfrm>
          <a:prstGeom prst="rect">
            <a:avLst/>
          </a:prstGeom>
          <a:noFill/>
        </p:spPr>
        <p:txBody>
          <a:bodyPr wrap="square" anchor="t" lIns="0" rIns="0" tIns="0" bIns="0">
            <a:spAutoFit/>
          </a:bodyPr>
          <a:lstStyle/>
          <a:p>
            <a:pPr algn="l"/>
            <a:r>
              <a:rPr sz="1000" b="0">
                <a:solidFill>
                  <a:srgbClr val="414141"/>
                </a:solidFill>
                <a:latin typeface="Calibri"/>
              </a:rPr>
              <a:t>11,549</a:t>
            </a:r>
          </a:p>
        </p:txBody>
      </p:sp>
      <p:sp>
        <p:nvSpPr>
          <p:cNvPr id="45" name="TextBox 44"/>
          <p:cNvSpPr txBox="1"/>
          <p:nvPr/>
        </p:nvSpPr>
        <p:spPr>
          <a:xfrm>
            <a:off x="3383280" y="4873752"/>
            <a:ext cx="1234440" cy="201168"/>
          </a:xfrm>
          <a:prstGeom prst="rect">
            <a:avLst/>
          </a:prstGeom>
          <a:noFill/>
        </p:spPr>
        <p:txBody>
          <a:bodyPr wrap="square" anchor="t" lIns="0" rIns="0" tIns="0" bIns="0">
            <a:spAutoFit/>
          </a:bodyPr>
          <a:lstStyle/>
          <a:p>
            <a:pPr algn="l"/>
            <a:r>
              <a:rPr sz="1000" b="1">
                <a:solidFill>
                  <a:srgbClr val="3058A3"/>
                </a:solidFill>
                <a:latin typeface="Calibri"/>
              </a:rPr>
              <a:t>$171M</a:t>
            </a:r>
          </a:p>
        </p:txBody>
      </p:sp>
      <p:sp>
        <p:nvSpPr>
          <p:cNvPr id="46" name="TextBox 45"/>
          <p:cNvSpPr txBox="1"/>
          <p:nvPr/>
        </p:nvSpPr>
        <p:spPr>
          <a:xfrm>
            <a:off x="4663440" y="4873752"/>
            <a:ext cx="1188720" cy="201168"/>
          </a:xfrm>
          <a:prstGeom prst="rect">
            <a:avLst/>
          </a:prstGeom>
          <a:noFill/>
        </p:spPr>
        <p:txBody>
          <a:bodyPr wrap="square" anchor="t" lIns="0" rIns="0" tIns="0" bIns="0">
            <a:spAutoFit/>
          </a:bodyPr>
          <a:lstStyle/>
          <a:p>
            <a:pPr algn="l"/>
            <a:r>
              <a:rPr sz="1000" b="0">
                <a:solidFill>
                  <a:srgbClr val="3058A3"/>
                </a:solidFill>
                <a:latin typeface="Calibri"/>
              </a:rPr>
              <a:t>$14,814</a:t>
            </a:r>
          </a:p>
        </p:txBody>
      </p:sp>
      <p:sp>
        <p:nvSpPr>
          <p:cNvPr id="47" name="TextBox 46"/>
          <p:cNvSpPr txBox="1"/>
          <p:nvPr/>
        </p:nvSpPr>
        <p:spPr>
          <a:xfrm>
            <a:off x="621792" y="5157216"/>
            <a:ext cx="5202936" cy="274320"/>
          </a:xfrm>
          <a:prstGeom prst="rect">
            <a:avLst/>
          </a:prstGeom>
          <a:noFill/>
        </p:spPr>
        <p:txBody>
          <a:bodyPr wrap="square" anchor="t" lIns="0" rIns="0" tIns="0" bIns="0">
            <a:spAutoFit/>
          </a:bodyPr>
          <a:lstStyle/>
          <a:p>
            <a:pPr algn="l"/>
            <a:r>
              <a:rPr sz="850" b="0">
                <a:solidFill>
                  <a:srgbClr val="8A8A8A"/>
                </a:solidFill>
                <a:latin typeface="Calibri"/>
              </a:rPr>
              <a:t>Each net active bucketed by the SUM of their matches; sums to 23,166.</a:t>
            </a:r>
          </a:p>
        </p:txBody>
      </p:sp>
      <p:sp>
        <p:nvSpPr>
          <p:cNvPr id="48" name="Rounded Rectangle 47"/>
          <p:cNvSpPr/>
          <p:nvPr/>
        </p:nvSpPr>
        <p:spPr>
          <a:xfrm>
            <a:off x="6199632" y="2103120"/>
            <a:ext cx="5532120" cy="3840480"/>
          </a:xfrm>
          <a:prstGeom prst="roundRect">
            <a:avLst>
              <a:gd name="adj" fmla="val 5000"/>
            </a:avLst>
          </a:prstGeom>
          <a:solidFill>
            <a:srgbClr val="FFFFFF"/>
          </a:solidFill>
          <a:ln w="6350">
            <a:solidFill>
              <a:srgbClr val="E2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99632" y="2103120"/>
            <a:ext cx="5532120" cy="12801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64224" y="2286000"/>
            <a:ext cx="5202936" cy="256032"/>
          </a:xfrm>
          <a:prstGeom prst="rect">
            <a:avLst/>
          </a:prstGeom>
          <a:noFill/>
        </p:spPr>
        <p:txBody>
          <a:bodyPr wrap="square" anchor="t" lIns="0" rIns="0" tIns="0" bIns="0">
            <a:spAutoFit/>
          </a:bodyPr>
          <a:lstStyle/>
          <a:p>
            <a:pPr algn="l"/>
            <a:r>
              <a:rPr sz="1150" b="1">
                <a:solidFill>
                  <a:srgbClr val="059669"/>
                </a:solidFill>
                <a:latin typeface="Calibri"/>
              </a:rPr>
              <a:t>NAME + CITY · DEFENSIBLE</a:t>
            </a:r>
          </a:p>
        </p:txBody>
      </p:sp>
      <p:sp>
        <p:nvSpPr>
          <p:cNvPr id="51" name="Rounded Rectangle 50"/>
          <p:cNvSpPr/>
          <p:nvPr/>
        </p:nvSpPr>
        <p:spPr>
          <a:xfrm>
            <a:off x="6364224" y="2606040"/>
            <a:ext cx="1700784" cy="914400"/>
          </a:xfrm>
          <a:prstGeom prst="roundRect">
            <a:avLst>
              <a:gd name="adj" fmla="val 6000"/>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55664" y="2679192"/>
            <a:ext cx="1517904" cy="411480"/>
          </a:xfrm>
          <a:prstGeom prst="rect">
            <a:avLst/>
          </a:prstGeom>
          <a:noFill/>
        </p:spPr>
        <p:txBody>
          <a:bodyPr wrap="square" anchor="t" lIns="0" rIns="0" tIns="0" bIns="0">
            <a:spAutoFit/>
          </a:bodyPr>
          <a:lstStyle/>
          <a:p>
            <a:pPr algn="l"/>
            <a:r>
              <a:rPr sz="1900" b="1">
                <a:solidFill>
                  <a:srgbClr val="059669"/>
                </a:solidFill>
                <a:latin typeface="Calibri"/>
              </a:rPr>
              <a:t>11,958</a:t>
            </a:r>
          </a:p>
        </p:txBody>
      </p:sp>
      <p:sp>
        <p:nvSpPr>
          <p:cNvPr id="53" name="TextBox 52"/>
          <p:cNvSpPr txBox="1"/>
          <p:nvPr/>
        </p:nvSpPr>
        <p:spPr>
          <a:xfrm>
            <a:off x="6455664" y="3108960"/>
            <a:ext cx="1517904" cy="365760"/>
          </a:xfrm>
          <a:prstGeom prst="rect">
            <a:avLst/>
          </a:prstGeom>
          <a:noFill/>
        </p:spPr>
        <p:txBody>
          <a:bodyPr wrap="square" anchor="t" lIns="0" rIns="0" tIns="0" bIns="0">
            <a:spAutoFit/>
          </a:bodyPr>
          <a:lstStyle/>
          <a:p>
            <a:pPr algn="l"/>
            <a:r>
              <a:rPr sz="850" b="0">
                <a:solidFill>
                  <a:srgbClr val="414141"/>
                </a:solidFill>
                <a:latin typeface="Calibri"/>
              </a:rPr>
              <a:t>matched · 38.4% of cohort</a:t>
            </a:r>
          </a:p>
        </p:txBody>
      </p:sp>
      <p:sp>
        <p:nvSpPr>
          <p:cNvPr id="54" name="Rounded Rectangle 53"/>
          <p:cNvSpPr/>
          <p:nvPr/>
        </p:nvSpPr>
        <p:spPr>
          <a:xfrm>
            <a:off x="8156448" y="2606040"/>
            <a:ext cx="1700784" cy="914400"/>
          </a:xfrm>
          <a:prstGeom prst="roundRect">
            <a:avLst>
              <a:gd name="adj" fmla="val 6000"/>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47888" y="2679192"/>
            <a:ext cx="1517904" cy="411480"/>
          </a:xfrm>
          <a:prstGeom prst="rect">
            <a:avLst/>
          </a:prstGeom>
          <a:noFill/>
        </p:spPr>
        <p:txBody>
          <a:bodyPr wrap="square" anchor="t" lIns="0" rIns="0" tIns="0" bIns="0">
            <a:spAutoFit/>
          </a:bodyPr>
          <a:lstStyle/>
          <a:p>
            <a:pPr algn="l"/>
            <a:r>
              <a:rPr sz="1900" b="1">
                <a:solidFill>
                  <a:srgbClr val="059669"/>
                </a:solidFill>
                <a:latin typeface="Calibri"/>
              </a:rPr>
              <a:t>69K</a:t>
            </a:r>
          </a:p>
        </p:txBody>
      </p:sp>
      <p:sp>
        <p:nvSpPr>
          <p:cNvPr id="56" name="TextBox 55"/>
          <p:cNvSpPr txBox="1"/>
          <p:nvPr/>
        </p:nvSpPr>
        <p:spPr>
          <a:xfrm>
            <a:off x="8247888" y="3108960"/>
            <a:ext cx="1517904" cy="365760"/>
          </a:xfrm>
          <a:prstGeom prst="rect">
            <a:avLst/>
          </a:prstGeom>
          <a:noFill/>
        </p:spPr>
        <p:txBody>
          <a:bodyPr wrap="square" anchor="t" lIns="0" rIns="0" tIns="0" bIns="0">
            <a:spAutoFit/>
          </a:bodyPr>
          <a:lstStyle/>
          <a:p>
            <a:pPr algn="l"/>
            <a:r>
              <a:rPr sz="850" b="0">
                <a:solidFill>
                  <a:srgbClr val="414141"/>
                </a:solidFill>
                <a:latin typeface="Calibri"/>
              </a:rPr>
              <a:t>property records</a:t>
            </a:r>
          </a:p>
        </p:txBody>
      </p:sp>
      <p:sp>
        <p:nvSpPr>
          <p:cNvPr id="57" name="Rounded Rectangle 56"/>
          <p:cNvSpPr/>
          <p:nvPr/>
        </p:nvSpPr>
        <p:spPr>
          <a:xfrm>
            <a:off x="9948672" y="2606040"/>
            <a:ext cx="1700784" cy="914400"/>
          </a:xfrm>
          <a:prstGeom prst="roundRect">
            <a:avLst>
              <a:gd name="adj" fmla="val 6000"/>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040112" y="2679192"/>
            <a:ext cx="1517904" cy="411480"/>
          </a:xfrm>
          <a:prstGeom prst="rect">
            <a:avLst/>
          </a:prstGeom>
          <a:noFill/>
        </p:spPr>
        <p:txBody>
          <a:bodyPr wrap="square" anchor="t" lIns="0" rIns="0" tIns="0" bIns="0">
            <a:spAutoFit/>
          </a:bodyPr>
          <a:lstStyle/>
          <a:p>
            <a:pPr algn="l"/>
            <a:r>
              <a:rPr sz="1900" b="1">
                <a:solidFill>
                  <a:srgbClr val="059669"/>
                </a:solidFill>
                <a:latin typeface="Calibri"/>
              </a:rPr>
              <a:t>$5.04M</a:t>
            </a:r>
          </a:p>
        </p:txBody>
      </p:sp>
      <p:sp>
        <p:nvSpPr>
          <p:cNvPr id="59" name="TextBox 58"/>
          <p:cNvSpPr txBox="1"/>
          <p:nvPr/>
        </p:nvSpPr>
        <p:spPr>
          <a:xfrm>
            <a:off x="10040112" y="3108960"/>
            <a:ext cx="1517904" cy="365760"/>
          </a:xfrm>
          <a:prstGeom prst="rect">
            <a:avLst/>
          </a:prstGeom>
          <a:noFill/>
        </p:spPr>
        <p:txBody>
          <a:bodyPr wrap="square" anchor="t" lIns="0" rIns="0" tIns="0" bIns="0">
            <a:spAutoFit/>
          </a:bodyPr>
          <a:lstStyle/>
          <a:p>
            <a:pPr algn="l"/>
            <a:r>
              <a:rPr sz="850" b="0">
                <a:solidFill>
                  <a:srgbClr val="414141"/>
                </a:solidFill>
                <a:latin typeface="Calibri"/>
              </a:rPr>
              <a:t>estimated value</a:t>
            </a:r>
          </a:p>
        </p:txBody>
      </p:sp>
      <p:sp>
        <p:nvSpPr>
          <p:cNvPr id="60" name="Rectangle 59"/>
          <p:cNvSpPr/>
          <p:nvPr/>
        </p:nvSpPr>
        <p:spPr>
          <a:xfrm>
            <a:off x="6364224" y="3703320"/>
            <a:ext cx="5202936" cy="237744"/>
          </a:xfrm>
          <a:prstGeom prst="rect">
            <a:avLst/>
          </a:prstGeom>
          <a:solidFill>
            <a:srgbClr val="493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455664" y="3739896"/>
            <a:ext cx="1371600" cy="182880"/>
          </a:xfrm>
          <a:prstGeom prst="rect">
            <a:avLst/>
          </a:prstGeom>
          <a:noFill/>
        </p:spPr>
        <p:txBody>
          <a:bodyPr wrap="square" anchor="t" lIns="0" rIns="0" tIns="0" bIns="0">
            <a:spAutoFit/>
          </a:bodyPr>
          <a:lstStyle/>
          <a:p>
            <a:pPr algn="l"/>
            <a:r>
              <a:rPr sz="900" b="1">
                <a:solidFill>
                  <a:srgbClr val="FFFFFF"/>
                </a:solidFill>
                <a:latin typeface="Calibri"/>
              </a:rPr>
              <a:t>Total owed</a:t>
            </a:r>
          </a:p>
        </p:txBody>
      </p:sp>
      <p:sp>
        <p:nvSpPr>
          <p:cNvPr id="62" name="TextBox 61"/>
          <p:cNvSpPr txBox="1"/>
          <p:nvPr/>
        </p:nvSpPr>
        <p:spPr>
          <a:xfrm>
            <a:off x="7891272" y="3739896"/>
            <a:ext cx="1143000" cy="182880"/>
          </a:xfrm>
          <a:prstGeom prst="rect">
            <a:avLst/>
          </a:prstGeom>
          <a:noFill/>
        </p:spPr>
        <p:txBody>
          <a:bodyPr wrap="square" anchor="t" lIns="0" rIns="0" tIns="0" bIns="0">
            <a:spAutoFit/>
          </a:bodyPr>
          <a:lstStyle/>
          <a:p>
            <a:pPr algn="l"/>
            <a:r>
              <a:rPr sz="900" b="1">
                <a:solidFill>
                  <a:srgbClr val="FFFFFF"/>
                </a:solidFill>
                <a:latin typeface="Calibri"/>
              </a:rPr>
              <a:t>Net actives</a:t>
            </a:r>
          </a:p>
        </p:txBody>
      </p:sp>
      <p:sp>
        <p:nvSpPr>
          <p:cNvPr id="63" name="TextBox 62"/>
          <p:cNvSpPr txBox="1"/>
          <p:nvPr/>
        </p:nvSpPr>
        <p:spPr>
          <a:xfrm>
            <a:off x="9125712" y="3739896"/>
            <a:ext cx="1234440" cy="182880"/>
          </a:xfrm>
          <a:prstGeom prst="rect">
            <a:avLst/>
          </a:prstGeom>
          <a:noFill/>
        </p:spPr>
        <p:txBody>
          <a:bodyPr wrap="square" anchor="t" lIns="0" rIns="0" tIns="0" bIns="0">
            <a:spAutoFit/>
          </a:bodyPr>
          <a:lstStyle/>
          <a:p>
            <a:pPr algn="l"/>
            <a:r>
              <a:rPr sz="900" b="1">
                <a:solidFill>
                  <a:srgbClr val="FFFFFF"/>
                </a:solidFill>
                <a:latin typeface="Calibri"/>
              </a:rPr>
              <a:t>Bucket $</a:t>
            </a:r>
          </a:p>
        </p:txBody>
      </p:sp>
      <p:sp>
        <p:nvSpPr>
          <p:cNvPr id="64" name="TextBox 63"/>
          <p:cNvSpPr txBox="1"/>
          <p:nvPr/>
        </p:nvSpPr>
        <p:spPr>
          <a:xfrm>
            <a:off x="10405872" y="3739896"/>
            <a:ext cx="1188720" cy="182880"/>
          </a:xfrm>
          <a:prstGeom prst="rect">
            <a:avLst/>
          </a:prstGeom>
          <a:noFill/>
        </p:spPr>
        <p:txBody>
          <a:bodyPr wrap="square" anchor="t" lIns="0" rIns="0" tIns="0" bIns="0">
            <a:spAutoFit/>
          </a:bodyPr>
          <a:lstStyle/>
          <a:p>
            <a:pPr algn="l"/>
            <a:r>
              <a:rPr sz="900" b="1">
                <a:solidFill>
                  <a:srgbClr val="FFFFFF"/>
                </a:solidFill>
                <a:latin typeface="Calibri"/>
              </a:rPr>
              <a:t>$ / member</a:t>
            </a:r>
          </a:p>
        </p:txBody>
      </p:sp>
      <p:sp>
        <p:nvSpPr>
          <p:cNvPr id="65" name="Rectangle 64"/>
          <p:cNvSpPr/>
          <p:nvPr/>
        </p:nvSpPr>
        <p:spPr>
          <a:xfrm>
            <a:off x="6364224" y="3941063"/>
            <a:ext cx="5202936" cy="292608"/>
          </a:xfrm>
          <a:prstGeom prst="rect">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55664" y="3995927"/>
            <a:ext cx="1371600" cy="201168"/>
          </a:xfrm>
          <a:prstGeom prst="rect">
            <a:avLst/>
          </a:prstGeom>
          <a:noFill/>
        </p:spPr>
        <p:txBody>
          <a:bodyPr wrap="square" anchor="t" lIns="0" rIns="0" tIns="0" bIns="0">
            <a:spAutoFit/>
          </a:bodyPr>
          <a:lstStyle/>
          <a:p>
            <a:pPr algn="l"/>
            <a:r>
              <a:rPr sz="1000" b="1">
                <a:solidFill>
                  <a:srgbClr val="8A8A8A"/>
                </a:solidFill>
                <a:latin typeface="Calibri"/>
              </a:rPr>
              <a:t>$0–$9.99</a:t>
            </a:r>
          </a:p>
        </p:txBody>
      </p:sp>
      <p:sp>
        <p:nvSpPr>
          <p:cNvPr id="67" name="TextBox 66"/>
          <p:cNvSpPr txBox="1"/>
          <p:nvPr/>
        </p:nvSpPr>
        <p:spPr>
          <a:xfrm>
            <a:off x="7891272" y="3995927"/>
            <a:ext cx="1143000" cy="201168"/>
          </a:xfrm>
          <a:prstGeom prst="rect">
            <a:avLst/>
          </a:prstGeom>
          <a:noFill/>
        </p:spPr>
        <p:txBody>
          <a:bodyPr wrap="square" anchor="t" lIns="0" rIns="0" tIns="0" bIns="0">
            <a:spAutoFit/>
          </a:bodyPr>
          <a:lstStyle/>
          <a:p>
            <a:pPr algn="l"/>
            <a:r>
              <a:rPr sz="1000" b="0">
                <a:solidFill>
                  <a:srgbClr val="414141"/>
                </a:solidFill>
                <a:latin typeface="Calibri"/>
              </a:rPr>
              <a:t>3,684</a:t>
            </a:r>
          </a:p>
        </p:txBody>
      </p:sp>
      <p:sp>
        <p:nvSpPr>
          <p:cNvPr id="68" name="TextBox 67"/>
          <p:cNvSpPr txBox="1"/>
          <p:nvPr/>
        </p:nvSpPr>
        <p:spPr>
          <a:xfrm>
            <a:off x="9125712" y="3995927"/>
            <a:ext cx="1234440" cy="201168"/>
          </a:xfrm>
          <a:prstGeom prst="rect">
            <a:avLst/>
          </a:prstGeom>
          <a:noFill/>
        </p:spPr>
        <p:txBody>
          <a:bodyPr wrap="square" anchor="t" lIns="0" rIns="0" tIns="0" bIns="0">
            <a:spAutoFit/>
          </a:bodyPr>
          <a:lstStyle/>
          <a:p>
            <a:pPr algn="l"/>
            <a:r>
              <a:rPr sz="1000" b="1">
                <a:solidFill>
                  <a:srgbClr val="8A8A8A"/>
                </a:solidFill>
                <a:latin typeface="Calibri"/>
              </a:rPr>
              <a:t>$11K</a:t>
            </a:r>
          </a:p>
        </p:txBody>
      </p:sp>
      <p:sp>
        <p:nvSpPr>
          <p:cNvPr id="69" name="TextBox 68"/>
          <p:cNvSpPr txBox="1"/>
          <p:nvPr/>
        </p:nvSpPr>
        <p:spPr>
          <a:xfrm>
            <a:off x="10405872" y="3995927"/>
            <a:ext cx="1188720" cy="201168"/>
          </a:xfrm>
          <a:prstGeom prst="rect">
            <a:avLst/>
          </a:prstGeom>
          <a:noFill/>
        </p:spPr>
        <p:txBody>
          <a:bodyPr wrap="square" anchor="t" lIns="0" rIns="0" tIns="0" bIns="0">
            <a:spAutoFit/>
          </a:bodyPr>
          <a:lstStyle/>
          <a:p>
            <a:pPr algn="l"/>
            <a:r>
              <a:rPr sz="1000" b="0">
                <a:solidFill>
                  <a:srgbClr val="8A8A8A"/>
                </a:solidFill>
                <a:latin typeface="Calibri"/>
              </a:rPr>
              <a:t>$3</a:t>
            </a:r>
          </a:p>
        </p:txBody>
      </p:sp>
      <p:sp>
        <p:nvSpPr>
          <p:cNvPr id="70" name="Rectangle 69"/>
          <p:cNvSpPr/>
          <p:nvPr/>
        </p:nvSpPr>
        <p:spPr>
          <a:xfrm>
            <a:off x="6364224" y="4233672"/>
            <a:ext cx="5202936"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455664" y="4288536"/>
            <a:ext cx="1371600" cy="201168"/>
          </a:xfrm>
          <a:prstGeom prst="rect">
            <a:avLst/>
          </a:prstGeom>
          <a:noFill/>
        </p:spPr>
        <p:txBody>
          <a:bodyPr wrap="square" anchor="t" lIns="0" rIns="0" tIns="0" bIns="0">
            <a:spAutoFit/>
          </a:bodyPr>
          <a:lstStyle/>
          <a:p>
            <a:pPr algn="l"/>
            <a:r>
              <a:rPr sz="1000" b="1">
                <a:solidFill>
                  <a:srgbClr val="059669"/>
                </a:solidFill>
                <a:latin typeface="Calibri"/>
              </a:rPr>
              <a:t>$10–$99.99</a:t>
            </a:r>
          </a:p>
        </p:txBody>
      </p:sp>
      <p:sp>
        <p:nvSpPr>
          <p:cNvPr id="72" name="TextBox 71"/>
          <p:cNvSpPr txBox="1"/>
          <p:nvPr/>
        </p:nvSpPr>
        <p:spPr>
          <a:xfrm>
            <a:off x="7891272" y="4288536"/>
            <a:ext cx="1143000" cy="201168"/>
          </a:xfrm>
          <a:prstGeom prst="rect">
            <a:avLst/>
          </a:prstGeom>
          <a:noFill/>
        </p:spPr>
        <p:txBody>
          <a:bodyPr wrap="square" anchor="t" lIns="0" rIns="0" tIns="0" bIns="0">
            <a:spAutoFit/>
          </a:bodyPr>
          <a:lstStyle/>
          <a:p>
            <a:pPr algn="l"/>
            <a:r>
              <a:rPr sz="1000" b="0">
                <a:solidFill>
                  <a:srgbClr val="414141"/>
                </a:solidFill>
                <a:latin typeface="Calibri"/>
              </a:rPr>
              <a:t>4,395</a:t>
            </a:r>
          </a:p>
        </p:txBody>
      </p:sp>
      <p:sp>
        <p:nvSpPr>
          <p:cNvPr id="73" name="TextBox 72"/>
          <p:cNvSpPr txBox="1"/>
          <p:nvPr/>
        </p:nvSpPr>
        <p:spPr>
          <a:xfrm>
            <a:off x="9125712" y="4288536"/>
            <a:ext cx="1234440" cy="201168"/>
          </a:xfrm>
          <a:prstGeom prst="rect">
            <a:avLst/>
          </a:prstGeom>
          <a:noFill/>
        </p:spPr>
        <p:txBody>
          <a:bodyPr wrap="square" anchor="t" lIns="0" rIns="0" tIns="0" bIns="0">
            <a:spAutoFit/>
          </a:bodyPr>
          <a:lstStyle/>
          <a:p>
            <a:pPr algn="l"/>
            <a:r>
              <a:rPr sz="1000" b="1">
                <a:solidFill>
                  <a:srgbClr val="059669"/>
                </a:solidFill>
                <a:latin typeface="Calibri"/>
              </a:rPr>
              <a:t>$174K</a:t>
            </a:r>
          </a:p>
        </p:txBody>
      </p:sp>
      <p:sp>
        <p:nvSpPr>
          <p:cNvPr id="74" name="TextBox 73"/>
          <p:cNvSpPr txBox="1"/>
          <p:nvPr/>
        </p:nvSpPr>
        <p:spPr>
          <a:xfrm>
            <a:off x="10405872" y="4288536"/>
            <a:ext cx="1188720" cy="201168"/>
          </a:xfrm>
          <a:prstGeom prst="rect">
            <a:avLst/>
          </a:prstGeom>
          <a:noFill/>
        </p:spPr>
        <p:txBody>
          <a:bodyPr wrap="square" anchor="t" lIns="0" rIns="0" tIns="0" bIns="0">
            <a:spAutoFit/>
          </a:bodyPr>
          <a:lstStyle/>
          <a:p>
            <a:pPr algn="l"/>
            <a:r>
              <a:rPr sz="1000" b="0">
                <a:solidFill>
                  <a:srgbClr val="059669"/>
                </a:solidFill>
                <a:latin typeface="Calibri"/>
              </a:rPr>
              <a:t>$40</a:t>
            </a:r>
          </a:p>
        </p:txBody>
      </p:sp>
      <p:sp>
        <p:nvSpPr>
          <p:cNvPr id="75" name="Rectangle 74"/>
          <p:cNvSpPr/>
          <p:nvPr/>
        </p:nvSpPr>
        <p:spPr>
          <a:xfrm>
            <a:off x="6364224" y="4526280"/>
            <a:ext cx="5202936" cy="292608"/>
          </a:xfrm>
          <a:prstGeom prst="rect">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455664" y="4581144"/>
            <a:ext cx="1371600" cy="201168"/>
          </a:xfrm>
          <a:prstGeom prst="rect">
            <a:avLst/>
          </a:prstGeom>
          <a:noFill/>
        </p:spPr>
        <p:txBody>
          <a:bodyPr wrap="square" anchor="t" lIns="0" rIns="0" tIns="0" bIns="0">
            <a:spAutoFit/>
          </a:bodyPr>
          <a:lstStyle/>
          <a:p>
            <a:pPr algn="l"/>
            <a:r>
              <a:rPr sz="1000" b="1">
                <a:solidFill>
                  <a:srgbClr val="FCC062"/>
                </a:solidFill>
                <a:latin typeface="Calibri"/>
              </a:rPr>
              <a:t>$100–$499.99</a:t>
            </a:r>
          </a:p>
        </p:txBody>
      </p:sp>
      <p:sp>
        <p:nvSpPr>
          <p:cNvPr id="77" name="TextBox 76"/>
          <p:cNvSpPr txBox="1"/>
          <p:nvPr/>
        </p:nvSpPr>
        <p:spPr>
          <a:xfrm>
            <a:off x="7891272" y="4581144"/>
            <a:ext cx="1143000" cy="201168"/>
          </a:xfrm>
          <a:prstGeom prst="rect">
            <a:avLst/>
          </a:prstGeom>
          <a:noFill/>
        </p:spPr>
        <p:txBody>
          <a:bodyPr wrap="square" anchor="t" lIns="0" rIns="0" tIns="0" bIns="0">
            <a:spAutoFit/>
          </a:bodyPr>
          <a:lstStyle/>
          <a:p>
            <a:pPr algn="l"/>
            <a:r>
              <a:rPr sz="1000" b="0">
                <a:solidFill>
                  <a:srgbClr val="414141"/>
                </a:solidFill>
                <a:latin typeface="Calibri"/>
              </a:rPr>
              <a:t>2,368</a:t>
            </a:r>
          </a:p>
        </p:txBody>
      </p:sp>
      <p:sp>
        <p:nvSpPr>
          <p:cNvPr id="78" name="TextBox 77"/>
          <p:cNvSpPr txBox="1"/>
          <p:nvPr/>
        </p:nvSpPr>
        <p:spPr>
          <a:xfrm>
            <a:off x="9125712" y="4581144"/>
            <a:ext cx="1234440" cy="201168"/>
          </a:xfrm>
          <a:prstGeom prst="rect">
            <a:avLst/>
          </a:prstGeom>
          <a:noFill/>
        </p:spPr>
        <p:txBody>
          <a:bodyPr wrap="square" anchor="t" lIns="0" rIns="0" tIns="0" bIns="0">
            <a:spAutoFit/>
          </a:bodyPr>
          <a:lstStyle/>
          <a:p>
            <a:pPr algn="l"/>
            <a:r>
              <a:rPr sz="1000" b="1">
                <a:solidFill>
                  <a:srgbClr val="FCC062"/>
                </a:solidFill>
                <a:latin typeface="Calibri"/>
              </a:rPr>
              <a:t>$534K</a:t>
            </a:r>
          </a:p>
        </p:txBody>
      </p:sp>
      <p:sp>
        <p:nvSpPr>
          <p:cNvPr id="79" name="TextBox 78"/>
          <p:cNvSpPr txBox="1"/>
          <p:nvPr/>
        </p:nvSpPr>
        <p:spPr>
          <a:xfrm>
            <a:off x="10405872" y="4581144"/>
            <a:ext cx="1188720" cy="201168"/>
          </a:xfrm>
          <a:prstGeom prst="rect">
            <a:avLst/>
          </a:prstGeom>
          <a:noFill/>
        </p:spPr>
        <p:txBody>
          <a:bodyPr wrap="square" anchor="t" lIns="0" rIns="0" tIns="0" bIns="0">
            <a:spAutoFit/>
          </a:bodyPr>
          <a:lstStyle/>
          <a:p>
            <a:pPr algn="l"/>
            <a:r>
              <a:rPr sz="1000" b="0">
                <a:solidFill>
                  <a:srgbClr val="FCC062"/>
                </a:solidFill>
                <a:latin typeface="Calibri"/>
              </a:rPr>
              <a:t>$225</a:t>
            </a:r>
          </a:p>
        </p:txBody>
      </p:sp>
      <p:sp>
        <p:nvSpPr>
          <p:cNvPr id="80" name="Rectangle 79"/>
          <p:cNvSpPr/>
          <p:nvPr/>
        </p:nvSpPr>
        <p:spPr>
          <a:xfrm>
            <a:off x="6364224" y="4818888"/>
            <a:ext cx="5202936"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455664" y="4873752"/>
            <a:ext cx="1371600" cy="201168"/>
          </a:xfrm>
          <a:prstGeom prst="rect">
            <a:avLst/>
          </a:prstGeom>
          <a:noFill/>
        </p:spPr>
        <p:txBody>
          <a:bodyPr wrap="square" anchor="t" lIns="0" rIns="0" tIns="0" bIns="0">
            <a:spAutoFit/>
          </a:bodyPr>
          <a:lstStyle/>
          <a:p>
            <a:pPr algn="l"/>
            <a:r>
              <a:rPr sz="1000" b="1">
                <a:solidFill>
                  <a:srgbClr val="3058A3"/>
                </a:solidFill>
                <a:latin typeface="Calibri"/>
              </a:rPr>
              <a:t>$500+</a:t>
            </a:r>
          </a:p>
        </p:txBody>
      </p:sp>
      <p:sp>
        <p:nvSpPr>
          <p:cNvPr id="82" name="TextBox 81"/>
          <p:cNvSpPr txBox="1"/>
          <p:nvPr/>
        </p:nvSpPr>
        <p:spPr>
          <a:xfrm>
            <a:off x="7891272" y="4873752"/>
            <a:ext cx="1143000" cy="201168"/>
          </a:xfrm>
          <a:prstGeom prst="rect">
            <a:avLst/>
          </a:prstGeom>
          <a:noFill/>
        </p:spPr>
        <p:txBody>
          <a:bodyPr wrap="square" anchor="t" lIns="0" rIns="0" tIns="0" bIns="0">
            <a:spAutoFit/>
          </a:bodyPr>
          <a:lstStyle/>
          <a:p>
            <a:pPr algn="l"/>
            <a:r>
              <a:rPr sz="1000" b="0">
                <a:solidFill>
                  <a:srgbClr val="414141"/>
                </a:solidFill>
                <a:latin typeface="Calibri"/>
              </a:rPr>
              <a:t>1,511</a:t>
            </a:r>
          </a:p>
        </p:txBody>
      </p:sp>
      <p:sp>
        <p:nvSpPr>
          <p:cNvPr id="83" name="TextBox 82"/>
          <p:cNvSpPr txBox="1"/>
          <p:nvPr/>
        </p:nvSpPr>
        <p:spPr>
          <a:xfrm>
            <a:off x="9125712" y="4873752"/>
            <a:ext cx="1234440" cy="201168"/>
          </a:xfrm>
          <a:prstGeom prst="rect">
            <a:avLst/>
          </a:prstGeom>
          <a:noFill/>
        </p:spPr>
        <p:txBody>
          <a:bodyPr wrap="square" anchor="t" lIns="0" rIns="0" tIns="0" bIns="0">
            <a:spAutoFit/>
          </a:bodyPr>
          <a:lstStyle/>
          <a:p>
            <a:pPr algn="l"/>
            <a:r>
              <a:rPr sz="1000" b="1">
                <a:solidFill>
                  <a:srgbClr val="3058A3"/>
                </a:solidFill>
                <a:latin typeface="Calibri"/>
              </a:rPr>
              <a:t>$4.32M</a:t>
            </a:r>
          </a:p>
        </p:txBody>
      </p:sp>
      <p:sp>
        <p:nvSpPr>
          <p:cNvPr id="84" name="TextBox 83"/>
          <p:cNvSpPr txBox="1"/>
          <p:nvPr/>
        </p:nvSpPr>
        <p:spPr>
          <a:xfrm>
            <a:off x="10405872" y="4873752"/>
            <a:ext cx="1188720" cy="201168"/>
          </a:xfrm>
          <a:prstGeom prst="rect">
            <a:avLst/>
          </a:prstGeom>
          <a:noFill/>
        </p:spPr>
        <p:txBody>
          <a:bodyPr wrap="square" anchor="t" lIns="0" rIns="0" tIns="0" bIns="0">
            <a:spAutoFit/>
          </a:bodyPr>
          <a:lstStyle/>
          <a:p>
            <a:pPr algn="l"/>
            <a:r>
              <a:rPr sz="1000" b="0">
                <a:solidFill>
                  <a:srgbClr val="3058A3"/>
                </a:solidFill>
                <a:latin typeface="Calibri"/>
              </a:rPr>
              <a:t>$2,859</a:t>
            </a:r>
          </a:p>
        </p:txBody>
      </p:sp>
      <p:sp>
        <p:nvSpPr>
          <p:cNvPr id="85" name="TextBox 84"/>
          <p:cNvSpPr txBox="1"/>
          <p:nvPr/>
        </p:nvSpPr>
        <p:spPr>
          <a:xfrm>
            <a:off x="6364224" y="5157216"/>
            <a:ext cx="5202936" cy="274320"/>
          </a:xfrm>
          <a:prstGeom prst="rect">
            <a:avLst/>
          </a:prstGeom>
          <a:noFill/>
        </p:spPr>
        <p:txBody>
          <a:bodyPr wrap="square" anchor="t" lIns="0" rIns="0" tIns="0" bIns="0">
            <a:spAutoFit/>
          </a:bodyPr>
          <a:lstStyle/>
          <a:p>
            <a:pPr algn="l"/>
            <a:r>
              <a:rPr sz="850" b="0">
                <a:solidFill>
                  <a:srgbClr val="8A8A8A"/>
                </a:solidFill>
                <a:latin typeface="Calibri"/>
              </a:rPr>
              <a:t>Each net active bucketed by the SUM of their matches; sums to 11,958.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88952" cy="6858000"/>
          </a:xfrm>
          <a:prstGeom prst="rect">
            <a:avLst/>
          </a:prstGeom>
          <a:solidFill>
            <a:srgbClr val="F5F4F7"/>
          </a:solidFill>
          <a:ln>
            <a:noFill/>
          </a:ln>
        </p:spPr>
        <p:txBody>
          <a:bodyPr/>
          <a:lstStyle/>
          <a:p/>
        </p:txBody>
      </p:sp>
      <p:sp>
        <p:nvSpPr>
          <p:cNvPr id="3" name="TopBar"/>
          <p:cNvSpPr/>
          <p:nvPr/>
        </p:nvSpPr>
        <p:spPr>
          <a:xfrm>
            <a:off x="0" y="0"/>
            <a:ext cx="12188952" cy="54864"/>
          </a:xfrm>
          <a:prstGeom prst="rect">
            <a:avLst/>
          </a:prstGeom>
          <a:solidFill>
            <a:srgbClr val="3058A3"/>
          </a:solidFill>
          <a:ln>
            <a:noFill/>
          </a:ln>
        </p:spPr>
        <p:txBody>
          <a:bodyPr/>
          <a:lstStyle/>
          <a:p/>
        </p:txBody>
      </p:sp>
      <p:sp>
        <p:nvSpPr>
          <p:cNvPr id="4" name="Logo"/>
          <p:cNvSpPr txBox="1"/>
          <p:nvPr/>
        </p:nvSpPr>
        <p:spPr>
          <a:xfrm>
            <a:off x="457200" y="164592"/>
            <a:ext cx="2286000" cy="329184"/>
          </a:xfrm>
          <a:prstGeom prst="rect">
            <a:avLst/>
          </a:prstGeom>
          <a:noFill/>
        </p:spPr>
        <p:txBody>
          <a:bodyPr wrap="square" anchor="t" lIns="0" rIns="0" tIns="0" bIns="0"/>
          <a:lstStyle/>
          <a:p>
            <a:pPr algn="l"/>
            <a:r>
              <a:rPr sz="1600" b="1">
                <a:solidFill>
                  <a:srgbClr val="493356"/>
                </a:solidFill>
                <a:latin typeface="Calibri"/>
              </a:rPr>
              <a:t>CONSUMER</a:t>
            </a:r>
            <a:r>
              <a:rPr sz="1600" b="1">
                <a:solidFill>
                  <a:srgbClr val="3058A3"/>
                </a:solidFill>
                <a:latin typeface="Calibri"/>
              </a:rPr>
              <a:t>DIRECT</a:t>
            </a:r>
          </a:p>
        </p:txBody>
      </p:sp>
      <p:sp>
        <p:nvSpPr>
          <p:cNvPr id="5" name="tx"/>
          <p:cNvSpPr txBox="1"/>
          <p:nvPr/>
        </p:nvSpPr>
        <p:spPr>
          <a:xfrm>
            <a:off x="457200" y="749808"/>
            <a:ext cx="11430000" cy="560000"/>
          </a:xfrm>
          <a:prstGeom prst="rect">
            <a:avLst/>
          </a:prstGeom>
          <a:noFill/>
        </p:spPr>
        <p:txBody>
          <a:bodyPr wrap="square" anchor="t" lIns="0" rIns="0" tIns="0" bIns="0"/>
          <a:lstStyle/>
          <a:p>
            <a:pPr algn="l"/>
            <a:r>
              <a:rPr sz="2800" b="1">
                <a:solidFill>
                  <a:srgbClr val="493356"/>
                </a:solidFill>
                <a:latin typeface="Calibri"/>
              </a:rPr>
              <a:t>Data Availability: Guided Filing</a:t>
            </a:r>
          </a:p>
        </p:txBody>
      </p:sp>
      <p:sp>
        <p:nvSpPr>
          <p:cNvPr id="6" name="tx"/>
          <p:cNvSpPr txBox="1"/>
          <p:nvPr/>
        </p:nvSpPr>
        <p:spPr>
          <a:xfrm>
            <a:off x="457200" y="1372000"/>
            <a:ext cx="11430000" cy="420000"/>
          </a:xfrm>
          <a:prstGeom prst="rect">
            <a:avLst/>
          </a:prstGeom>
          <a:noFill/>
        </p:spPr>
        <p:txBody>
          <a:bodyPr wrap="square" anchor="t" lIns="0" rIns="0" tIns="0" bIns="0"/>
          <a:lstStyle/>
          <a:p>
            <a:pPr algn="l"/>
            <a:r>
              <a:rPr sz="1500" b="0">
                <a:solidFill>
                  <a:srgbClr val="414141"/>
                </a:solidFill>
                <a:latin typeface="Calibri"/>
              </a:rPr>
              <a:t>For members in states we don’t index, the app returns the official portal + researched filing steps — all 50 states + Washington, D.C., display-only, no fee.</a:t>
            </a:r>
          </a:p>
        </p:txBody>
      </p:sp>
      <p:sp>
        <p:nvSpPr>
          <p:cNvPr id="7" name="tx"/>
          <p:cNvSpPr txBox="1"/>
          <p:nvPr/>
        </p:nvSpPr>
        <p:spPr>
          <a:xfrm>
            <a:off x="457200" y="6446520"/>
            <a:ext cx="7315200" cy="274320"/>
          </a:xfrm>
          <a:prstGeom prst="rect">
            <a:avLst/>
          </a:prstGeom>
          <a:noFill/>
        </p:spPr>
        <p:txBody>
          <a:bodyPr wrap="square" anchor="t" lIns="0" rIns="0" tIns="0" bIns="0"/>
          <a:lstStyle/>
          <a:p>
            <a:pPr algn="l"/>
            <a:r>
              <a:rPr sz="900" b="0">
                <a:solidFill>
                  <a:srgbClr val="8A8A8A"/>
                </a:solidFill>
                <a:latin typeface="Calibri"/>
              </a:rPr>
              <a:t>GetMyMoney · Confidential — Consumer Direct, Inc.</a:t>
            </a:r>
          </a:p>
        </p:txBody>
      </p:sp>
      <p:sp>
        <p:nvSpPr>
          <p:cNvPr id="8" name="tx"/>
          <p:cNvSpPr txBox="1"/>
          <p:nvPr/>
        </p:nvSpPr>
        <p:spPr>
          <a:xfrm>
            <a:off x="11338560" y="6446520"/>
            <a:ext cx="731520" cy="274320"/>
          </a:xfrm>
          <a:prstGeom prst="rect">
            <a:avLst/>
          </a:prstGeom>
          <a:noFill/>
        </p:spPr>
        <p:txBody>
          <a:bodyPr wrap="square" anchor="t" lIns="0" rIns="0" tIns="0" bIns="0"/>
          <a:lstStyle/>
          <a:p>
            <a:pPr algn="r"/>
            <a:r>
              <a:rPr sz="900" b="0">
                <a:solidFill>
                  <a:srgbClr val="8A8A8A"/>
                </a:solidFill>
                <a:latin typeface="Calibri"/>
              </a:rPr>
              <a:t>9 / 15</a:t>
            </a:r>
          </a:p>
        </p:txBody>
      </p:sp>
      <p:sp>
        <p:nvSpPr>
          <p:cNvPr id="9" name="card"/>
          <p:cNvSpPr/>
          <p:nvPr/>
        </p:nvSpPr>
        <p:spPr>
          <a:xfrm>
            <a:off x="457200" y="1880000"/>
            <a:ext cx="6260000" cy="4140000"/>
          </a:xfrm>
          <a:prstGeom prst="roundRect">
            <a:avLst>
              <a:gd name="adj" fmla="val 6000"/>
            </a:avLst>
          </a:prstGeom>
          <a:solidFill>
            <a:srgbClr val="FFFFFF"/>
          </a:solidFill>
          <a:ln>
            <a:noFill/>
          </a:ln>
        </p:spPr>
        <p:txBody>
          <a:bodyPr/>
          <a:lstStyle/>
          <a:p/>
        </p:txBody>
      </p:sp>
      <p:sp>
        <p:nvSpPr>
          <p:cNvPr id="10" name="acc"/>
          <p:cNvSpPr/>
          <p:nvPr/>
        </p:nvSpPr>
        <p:spPr>
          <a:xfrm>
            <a:off x="457200" y="1880000"/>
            <a:ext cx="68580" cy="4140000"/>
          </a:xfrm>
          <a:prstGeom prst="roundRect">
            <a:avLst>
              <a:gd name="adj" fmla="val 30000"/>
            </a:avLst>
          </a:prstGeom>
          <a:solidFill>
            <a:srgbClr val="FCC062"/>
          </a:solidFill>
          <a:ln>
            <a:noFill/>
          </a:ln>
        </p:spPr>
        <p:txBody>
          <a:bodyPr/>
          <a:lstStyle/>
          <a:p/>
        </p:txBody>
      </p:sp>
      <p:sp>
        <p:nvSpPr>
          <p:cNvPr id="11" name="tx"/>
          <p:cNvSpPr txBox="1"/>
          <p:nvPr/>
        </p:nvSpPr>
        <p:spPr>
          <a:xfrm>
            <a:off x="667200" y="2020000"/>
            <a:ext cx="5860000" cy="230000"/>
          </a:xfrm>
          <a:prstGeom prst="rect">
            <a:avLst/>
          </a:prstGeom>
          <a:noFill/>
        </p:spPr>
        <p:txBody>
          <a:bodyPr wrap="square" anchor="t" lIns="0" rIns="0" tIns="0" bIns="0"/>
          <a:lstStyle/>
          <a:p>
            <a:pPr algn="l"/>
            <a:r>
              <a:rPr sz="1000" b="1" spc="120">
                <a:solidFill>
                  <a:srgbClr val="FCC062"/>
                </a:solidFill>
                <a:latin typeface="Calibri"/>
              </a:rPr>
              <a:t>COVERAGE IN PROGRESS</a:t>
            </a:r>
          </a:p>
        </p:txBody>
      </p:sp>
      <p:sp>
        <p:nvSpPr>
          <p:cNvPr id="12" name="tx"/>
          <p:cNvSpPr txBox="1"/>
          <p:nvPr/>
        </p:nvSpPr>
        <p:spPr>
          <a:xfrm>
            <a:off x="667200" y="2250000"/>
            <a:ext cx="5860000" cy="300000"/>
          </a:xfrm>
          <a:prstGeom prst="rect">
            <a:avLst/>
          </a:prstGeom>
          <a:noFill/>
        </p:spPr>
        <p:txBody>
          <a:bodyPr wrap="square" anchor="t" lIns="0" rIns="0" tIns="0" bIns="0"/>
          <a:lstStyle/>
          <a:p>
            <a:pPr algn="l"/>
            <a:r>
              <a:rPr sz="1500" b="1">
                <a:solidFill>
                  <a:srgbClr val="493356"/>
                </a:solidFill>
                <a:latin typeface="Calibri"/>
              </a:rPr>
              <a:t>We’re not searching Texas just yet</a:t>
            </a:r>
          </a:p>
        </p:txBody>
      </p:sp>
      <p:sp>
        <p:nvSpPr>
          <p:cNvPr id="13" name="tx"/>
          <p:cNvSpPr txBox="1"/>
          <p:nvPr/>
        </p:nvSpPr>
        <p:spPr>
          <a:xfrm>
            <a:off x="667200" y="2640000"/>
            <a:ext cx="5860000" cy="210000"/>
          </a:xfrm>
          <a:prstGeom prst="rect">
            <a:avLst/>
          </a:prstGeom>
          <a:noFill/>
        </p:spPr>
        <p:txBody>
          <a:bodyPr wrap="square" anchor="t" lIns="0" rIns="0" tIns="0" bIns="0"/>
          <a:lstStyle/>
          <a:p>
            <a:pPr algn="l"/>
            <a:r>
              <a:rPr sz="900" b="1" spc="100">
                <a:solidFill>
                  <a:srgbClr val="8A8A8A"/>
                </a:solidFill>
                <a:latin typeface="Calibri"/>
              </a:rPr>
              <a:t>OFFICIAL PROGRAM</a:t>
            </a:r>
          </a:p>
        </p:txBody>
      </p:sp>
      <p:sp>
        <p:nvSpPr>
          <p:cNvPr id="14" name="tx"/>
          <p:cNvSpPr txBox="1"/>
          <p:nvPr/>
        </p:nvSpPr>
        <p:spPr>
          <a:xfrm>
            <a:off x="667200" y="2840000"/>
            <a:ext cx="5860000" cy="260000"/>
          </a:xfrm>
          <a:prstGeom prst="rect">
            <a:avLst/>
          </a:prstGeom>
          <a:noFill/>
        </p:spPr>
        <p:txBody>
          <a:bodyPr wrap="square" anchor="t" lIns="0" rIns="0" tIns="0" bIns="0"/>
          <a:lstStyle/>
          <a:p>
            <a:pPr algn="l"/>
            <a:r>
              <a:rPr sz="1200" b="1">
                <a:solidFill>
                  <a:srgbClr val="414141"/>
                </a:solidFill>
                <a:latin typeface="Calibri"/>
              </a:rPr>
              <a:t>Texas Comptroller (ClaimItTexas)</a:t>
            </a:r>
          </a:p>
        </p:txBody>
      </p:sp>
      <p:sp>
        <p:nvSpPr>
          <p:cNvPr id="15" name="btn"/>
          <p:cNvSpPr/>
          <p:nvPr/>
        </p:nvSpPr>
        <p:spPr>
          <a:xfrm>
            <a:off x="667200" y="3170000"/>
            <a:ext cx="2950000" cy="420000"/>
          </a:xfrm>
          <a:prstGeom prst="roundRect">
            <a:avLst>
              <a:gd name="adj" fmla="val 18000"/>
            </a:avLst>
          </a:prstGeom>
          <a:solidFill>
            <a:srgbClr val="EF5E33"/>
          </a:solidFill>
          <a:ln>
            <a:noFill/>
          </a:ln>
        </p:spPr>
        <p:txBody>
          <a:bodyPr/>
          <a:lstStyle/>
          <a:p/>
        </p:txBody>
      </p:sp>
      <p:sp>
        <p:nvSpPr>
          <p:cNvPr id="16" name="tx"/>
          <p:cNvSpPr txBox="1"/>
          <p:nvPr/>
        </p:nvSpPr>
        <p:spPr>
          <a:xfrm>
            <a:off x="667200" y="3270000"/>
            <a:ext cx="2950000" cy="260000"/>
          </a:xfrm>
          <a:prstGeom prst="rect">
            <a:avLst/>
          </a:prstGeom>
          <a:noFill/>
        </p:spPr>
        <p:txBody>
          <a:bodyPr wrap="square" anchor="t" lIns="0" rIns="0" tIns="0" bIns="0"/>
          <a:lstStyle/>
          <a:p>
            <a:pPr algn="ctr"/>
            <a:r>
              <a:rPr sz="1100" b="1">
                <a:solidFill>
                  <a:srgbClr val="FFFFFF"/>
                </a:solidFill>
                <a:latin typeface="Calibri"/>
              </a:rPr>
              <a:t>Open the Texas portal →</a:t>
            </a:r>
          </a:p>
        </p:txBody>
      </p:sp>
      <p:sp>
        <p:nvSpPr>
          <p:cNvPr id="17" name="tx"/>
          <p:cNvSpPr txBox="1"/>
          <p:nvPr/>
        </p:nvSpPr>
        <p:spPr>
          <a:xfrm>
            <a:off x="667200" y="3750000"/>
            <a:ext cx="5860000" cy="210000"/>
          </a:xfrm>
          <a:prstGeom prst="rect">
            <a:avLst/>
          </a:prstGeom>
          <a:noFill/>
        </p:spPr>
        <p:txBody>
          <a:bodyPr wrap="square" anchor="t" lIns="0" rIns="0" tIns="0" bIns="0"/>
          <a:lstStyle/>
          <a:p>
            <a:pPr algn="l"/>
            <a:r>
              <a:rPr sz="900" b="1" spc="100">
                <a:solidFill>
                  <a:srgbClr val="8A8A8A"/>
                </a:solidFill>
                <a:latin typeface="Calibri"/>
              </a:rPr>
              <a:t>HOW TO FILE IN TEXAS</a:t>
            </a:r>
          </a:p>
        </p:txBody>
      </p:sp>
      <p:sp>
        <p:nvSpPr>
          <p:cNvPr id="18" name="num"/>
          <p:cNvSpPr/>
          <p:nvPr/>
        </p:nvSpPr>
        <p:spPr>
          <a:xfrm>
            <a:off x="667200" y="4020000"/>
            <a:ext cx="280000" cy="280000"/>
          </a:xfrm>
          <a:prstGeom prst="ellipse">
            <a:avLst/>
          </a:prstGeom>
          <a:solidFill>
            <a:srgbClr val="3058A3"/>
          </a:solidFill>
          <a:ln>
            <a:noFill/>
          </a:ln>
        </p:spPr>
        <p:txBody>
          <a:bodyPr/>
          <a:lstStyle/>
          <a:p/>
        </p:txBody>
      </p:sp>
      <p:sp>
        <p:nvSpPr>
          <p:cNvPr id="19" name="tx"/>
          <p:cNvSpPr txBox="1"/>
          <p:nvPr/>
        </p:nvSpPr>
        <p:spPr>
          <a:xfrm>
            <a:off x="667200" y="4046000"/>
            <a:ext cx="280000" cy="280000"/>
          </a:xfrm>
          <a:prstGeom prst="rect">
            <a:avLst/>
          </a:prstGeom>
          <a:noFill/>
        </p:spPr>
        <p:txBody>
          <a:bodyPr wrap="square" anchor="t" lIns="0" rIns="0" tIns="0" bIns="0"/>
          <a:lstStyle/>
          <a:p>
            <a:pPr algn="ctr"/>
            <a:r>
              <a:rPr sz="1000" b="1">
                <a:solidFill>
                  <a:srgbClr val="FFFFFF"/>
                </a:solidFill>
                <a:latin typeface="Calibri"/>
              </a:rPr>
              <a:t>1</a:t>
            </a:r>
          </a:p>
        </p:txBody>
      </p:sp>
      <p:sp>
        <p:nvSpPr>
          <p:cNvPr id="20" name="tx"/>
          <p:cNvSpPr txBox="1"/>
          <p:nvPr/>
        </p:nvSpPr>
        <p:spPr>
          <a:xfrm>
            <a:off x="1047200" y="4050000"/>
            <a:ext cx="5440000" cy="260000"/>
          </a:xfrm>
          <a:prstGeom prst="rect">
            <a:avLst/>
          </a:prstGeom>
          <a:noFill/>
        </p:spPr>
        <p:txBody>
          <a:bodyPr wrap="square" anchor="t" lIns="0" rIns="0" tIns="0" bIns="0"/>
          <a:lstStyle/>
          <a:p>
            <a:pPr algn="l"/>
            <a:r>
              <a:rPr sz="1020" b="0">
                <a:solidFill>
                  <a:srgbClr val="414141"/>
                </a:solidFill>
                <a:latin typeface="Calibri"/>
              </a:rPr>
              <a:t>Search ClaimItTexas by entering your name</a:t>
            </a:r>
          </a:p>
        </p:txBody>
      </p:sp>
      <p:sp>
        <p:nvSpPr>
          <p:cNvPr id="21" name="num"/>
          <p:cNvSpPr/>
          <p:nvPr/>
        </p:nvSpPr>
        <p:spPr>
          <a:xfrm>
            <a:off x="667200" y="4400000"/>
            <a:ext cx="280000" cy="280000"/>
          </a:xfrm>
          <a:prstGeom prst="ellipse">
            <a:avLst/>
          </a:prstGeom>
          <a:solidFill>
            <a:srgbClr val="3058A3"/>
          </a:solidFill>
          <a:ln>
            <a:noFill/>
          </a:ln>
        </p:spPr>
        <p:txBody>
          <a:bodyPr/>
          <a:lstStyle/>
          <a:p/>
        </p:txBody>
      </p:sp>
      <p:sp>
        <p:nvSpPr>
          <p:cNvPr id="22" name="tx"/>
          <p:cNvSpPr txBox="1"/>
          <p:nvPr/>
        </p:nvSpPr>
        <p:spPr>
          <a:xfrm>
            <a:off x="667200" y="4426000"/>
            <a:ext cx="280000" cy="280000"/>
          </a:xfrm>
          <a:prstGeom prst="rect">
            <a:avLst/>
          </a:prstGeom>
          <a:noFill/>
        </p:spPr>
        <p:txBody>
          <a:bodyPr wrap="square" anchor="t" lIns="0" rIns="0" tIns="0" bIns="0"/>
          <a:lstStyle/>
          <a:p>
            <a:pPr algn="ctr"/>
            <a:r>
              <a:rPr sz="1000" b="1">
                <a:solidFill>
                  <a:srgbClr val="FFFFFF"/>
                </a:solidFill>
                <a:latin typeface="Calibri"/>
              </a:rPr>
              <a:t>2</a:t>
            </a:r>
          </a:p>
        </p:txBody>
      </p:sp>
      <p:sp>
        <p:nvSpPr>
          <p:cNvPr id="23" name="tx"/>
          <p:cNvSpPr txBox="1"/>
          <p:nvPr/>
        </p:nvSpPr>
        <p:spPr>
          <a:xfrm>
            <a:off x="1047200" y="4430000"/>
            <a:ext cx="5440000" cy="260000"/>
          </a:xfrm>
          <a:prstGeom prst="rect">
            <a:avLst/>
          </a:prstGeom>
          <a:noFill/>
        </p:spPr>
        <p:txBody>
          <a:bodyPr wrap="square" anchor="t" lIns="0" rIns="0" tIns="0" bIns="0"/>
          <a:lstStyle/>
          <a:p>
            <a:pPr algn="l"/>
            <a:r>
              <a:rPr sz="1020" b="0">
                <a:solidFill>
                  <a:srgbClr val="414141"/>
                </a:solidFill>
                <a:latin typeface="Calibri"/>
              </a:rPr>
              <a:t>Select the properties from the results that are yours</a:t>
            </a:r>
          </a:p>
        </p:txBody>
      </p:sp>
      <p:sp>
        <p:nvSpPr>
          <p:cNvPr id="24" name="num"/>
          <p:cNvSpPr/>
          <p:nvPr/>
        </p:nvSpPr>
        <p:spPr>
          <a:xfrm>
            <a:off x="667200" y="4780000"/>
            <a:ext cx="280000" cy="280000"/>
          </a:xfrm>
          <a:prstGeom prst="ellipse">
            <a:avLst/>
          </a:prstGeom>
          <a:solidFill>
            <a:srgbClr val="3058A3"/>
          </a:solidFill>
          <a:ln>
            <a:noFill/>
          </a:ln>
        </p:spPr>
        <p:txBody>
          <a:bodyPr/>
          <a:lstStyle/>
          <a:p/>
        </p:txBody>
      </p:sp>
      <p:sp>
        <p:nvSpPr>
          <p:cNvPr id="25" name="tx"/>
          <p:cNvSpPr txBox="1"/>
          <p:nvPr/>
        </p:nvSpPr>
        <p:spPr>
          <a:xfrm>
            <a:off x="667200" y="4806000"/>
            <a:ext cx="280000" cy="280000"/>
          </a:xfrm>
          <a:prstGeom prst="rect">
            <a:avLst/>
          </a:prstGeom>
          <a:noFill/>
        </p:spPr>
        <p:txBody>
          <a:bodyPr wrap="square" anchor="t" lIns="0" rIns="0" tIns="0" bIns="0"/>
          <a:lstStyle/>
          <a:p>
            <a:pPr algn="ctr"/>
            <a:r>
              <a:rPr sz="1000" b="1">
                <a:solidFill>
                  <a:srgbClr val="FFFFFF"/>
                </a:solidFill>
                <a:latin typeface="Calibri"/>
              </a:rPr>
              <a:t>3</a:t>
            </a:r>
          </a:p>
        </p:txBody>
      </p:sp>
      <p:sp>
        <p:nvSpPr>
          <p:cNvPr id="26" name="tx"/>
          <p:cNvSpPr txBox="1"/>
          <p:nvPr/>
        </p:nvSpPr>
        <p:spPr>
          <a:xfrm>
            <a:off x="1047200" y="4810000"/>
            <a:ext cx="5440000" cy="260000"/>
          </a:xfrm>
          <a:prstGeom prst="rect">
            <a:avLst/>
          </a:prstGeom>
          <a:noFill/>
        </p:spPr>
        <p:txBody>
          <a:bodyPr wrap="square" anchor="t" lIns="0" rIns="0" tIns="0" bIns="0"/>
          <a:lstStyle/>
          <a:p>
            <a:pPr algn="l"/>
            <a:r>
              <a:rPr sz="1020" b="0">
                <a:solidFill>
                  <a:srgbClr val="414141"/>
                </a:solidFill>
                <a:latin typeface="Calibri"/>
              </a:rPr>
              <a:t>Start the claim and complete the claimant information form</a:t>
            </a:r>
          </a:p>
        </p:txBody>
      </p:sp>
      <p:sp>
        <p:nvSpPr>
          <p:cNvPr id="27" name="num"/>
          <p:cNvSpPr/>
          <p:nvPr/>
        </p:nvSpPr>
        <p:spPr>
          <a:xfrm>
            <a:off x="667200" y="5160000"/>
            <a:ext cx="280000" cy="280000"/>
          </a:xfrm>
          <a:prstGeom prst="ellipse">
            <a:avLst/>
          </a:prstGeom>
          <a:solidFill>
            <a:srgbClr val="3058A3"/>
          </a:solidFill>
          <a:ln>
            <a:noFill/>
          </a:ln>
        </p:spPr>
        <p:txBody>
          <a:bodyPr/>
          <a:lstStyle/>
          <a:p/>
        </p:txBody>
      </p:sp>
      <p:sp>
        <p:nvSpPr>
          <p:cNvPr id="28" name="tx"/>
          <p:cNvSpPr txBox="1"/>
          <p:nvPr/>
        </p:nvSpPr>
        <p:spPr>
          <a:xfrm>
            <a:off x="667200" y="5186000"/>
            <a:ext cx="280000" cy="280000"/>
          </a:xfrm>
          <a:prstGeom prst="rect">
            <a:avLst/>
          </a:prstGeom>
          <a:noFill/>
        </p:spPr>
        <p:txBody>
          <a:bodyPr wrap="square" anchor="t" lIns="0" rIns="0" tIns="0" bIns="0"/>
          <a:lstStyle/>
          <a:p>
            <a:pPr algn="ctr"/>
            <a:r>
              <a:rPr sz="1000" b="1">
                <a:solidFill>
                  <a:srgbClr val="FFFFFF"/>
                </a:solidFill>
                <a:latin typeface="Calibri"/>
              </a:rPr>
              <a:t>4</a:t>
            </a:r>
          </a:p>
        </p:txBody>
      </p:sp>
      <p:sp>
        <p:nvSpPr>
          <p:cNvPr id="29" name="tx"/>
          <p:cNvSpPr txBox="1"/>
          <p:nvPr/>
        </p:nvSpPr>
        <p:spPr>
          <a:xfrm>
            <a:off x="1047200" y="5190000"/>
            <a:ext cx="5440000" cy="260000"/>
          </a:xfrm>
          <a:prstGeom prst="rect">
            <a:avLst/>
          </a:prstGeom>
          <a:noFill/>
        </p:spPr>
        <p:txBody>
          <a:bodyPr wrap="square" anchor="t" lIns="0" rIns="0" tIns="0" bIns="0"/>
          <a:lstStyle/>
          <a:p>
            <a:pPr algn="l"/>
            <a:r>
              <a:rPr sz="1020" b="0">
                <a:solidFill>
                  <a:srgbClr val="414141"/>
                </a:solidFill>
                <a:latin typeface="Calibri"/>
              </a:rPr>
              <a:t>Upload proof of identity + address, submit, and track your claim ID</a:t>
            </a:r>
          </a:p>
        </p:txBody>
      </p:sp>
      <p:sp>
        <p:nvSpPr>
          <p:cNvPr id="30" name="notify"/>
          <p:cNvSpPr/>
          <p:nvPr/>
        </p:nvSpPr>
        <p:spPr>
          <a:xfrm>
            <a:off x="667200" y="5580000"/>
            <a:ext cx="3400000" cy="380000"/>
          </a:xfrm>
          <a:prstGeom prst="roundRect">
            <a:avLst>
              <a:gd name="adj" fmla="val 20000"/>
            </a:avLst>
          </a:prstGeom>
          <a:solidFill>
            <a:srgbClr val="EF5E33"/>
          </a:solidFill>
          <a:ln>
            <a:noFill/>
          </a:ln>
        </p:spPr>
        <p:txBody>
          <a:bodyPr/>
          <a:lstStyle/>
          <a:p/>
        </p:txBody>
      </p:sp>
      <p:sp>
        <p:nvSpPr>
          <p:cNvPr id="31" name="tx"/>
          <p:cNvSpPr txBox="1"/>
          <p:nvPr/>
        </p:nvSpPr>
        <p:spPr>
          <a:xfrm>
            <a:off x="667200" y="5650000"/>
            <a:ext cx="3400000" cy="260000"/>
          </a:xfrm>
          <a:prstGeom prst="rect">
            <a:avLst/>
          </a:prstGeom>
          <a:noFill/>
        </p:spPr>
        <p:txBody>
          <a:bodyPr wrap="square" anchor="t" lIns="0" rIns="0" tIns="0" bIns="0"/>
          <a:lstStyle/>
          <a:p>
            <a:pPr algn="ctr"/>
            <a:r>
              <a:rPr sz="1000" b="1">
                <a:solidFill>
                  <a:srgbClr val="FFFFFF"/>
                </a:solidFill>
                <a:latin typeface="Calibri"/>
              </a:rPr>
              <a:t>Notify me when Texas is supported</a:t>
            </a:r>
          </a:p>
        </p:txBody>
      </p:sp>
      <p:sp>
        <p:nvSpPr>
          <p:cNvPr id="32" name="tx"/>
          <p:cNvSpPr txBox="1"/>
          <p:nvPr/>
        </p:nvSpPr>
        <p:spPr>
          <a:xfrm>
            <a:off x="457200" y="6090000"/>
            <a:ext cx="6260000" cy="250000"/>
          </a:xfrm>
          <a:prstGeom prst="rect">
            <a:avLst/>
          </a:prstGeom>
          <a:noFill/>
        </p:spPr>
        <p:txBody>
          <a:bodyPr wrap="square" anchor="t" lIns="0" rIns="0" tIns="0" bIns="0"/>
          <a:lstStyle/>
          <a:p>
            <a:pPr algn="l"/>
            <a:r>
              <a:rPr sz="900" b="0" i="1">
                <a:solidFill>
                  <a:srgbClr val="8A8A8A"/>
                </a:solidFill>
                <a:latin typeface="Calibri"/>
              </a:rPr>
              <a:t>ClaimItTexas is free; you can always search and claim directly with the state.</a:t>
            </a:r>
          </a:p>
        </p:txBody>
      </p:sp>
      <p:sp>
        <p:nvSpPr>
          <p:cNvPr id="33" name="tx"/>
          <p:cNvSpPr txBox="1"/>
          <p:nvPr/>
        </p:nvSpPr>
        <p:spPr>
          <a:xfrm>
            <a:off x="6980000" y="1880000"/>
            <a:ext cx="4751752" cy="230000"/>
          </a:xfrm>
          <a:prstGeom prst="rect">
            <a:avLst/>
          </a:prstGeom>
          <a:noFill/>
        </p:spPr>
        <p:txBody>
          <a:bodyPr wrap="square" anchor="t" lIns="0" rIns="0" tIns="0" bIns="0"/>
          <a:lstStyle/>
          <a:p>
            <a:pPr algn="l"/>
            <a:r>
              <a:rPr sz="1000" b="1" spc="100">
                <a:solidFill>
                  <a:srgbClr val="3058A3"/>
                </a:solidFill>
                <a:latin typeface="Calibri"/>
              </a:rPr>
              <a:t>WHY IT’S BUILT THIS WAY</a:t>
            </a:r>
          </a:p>
        </p:txBody>
      </p:sp>
      <p:sp>
        <p:nvSpPr>
          <p:cNvPr id="34" name="racc"/>
          <p:cNvSpPr/>
          <p:nvPr/>
        </p:nvSpPr>
        <p:spPr>
          <a:xfrm>
            <a:off x="6980000" y="2210000"/>
            <a:ext cx="68580" cy="640000"/>
          </a:xfrm>
          <a:prstGeom prst="roundRect">
            <a:avLst>
              <a:gd name="adj" fmla="val 30000"/>
            </a:avLst>
          </a:prstGeom>
          <a:solidFill>
            <a:srgbClr val="3058A3"/>
          </a:solidFill>
          <a:ln>
            <a:noFill/>
          </a:ln>
        </p:spPr>
        <p:txBody>
          <a:bodyPr/>
          <a:lstStyle/>
          <a:p/>
        </p:txBody>
      </p:sp>
      <p:sp>
        <p:nvSpPr>
          <p:cNvPr id="35" name="tx"/>
          <p:cNvSpPr txBox="1"/>
          <p:nvPr/>
        </p:nvSpPr>
        <p:spPr>
          <a:xfrm>
            <a:off x="7180000" y="2210000"/>
            <a:ext cx="4531752" cy="260000"/>
          </a:xfrm>
          <a:prstGeom prst="rect">
            <a:avLst/>
          </a:prstGeom>
          <a:noFill/>
        </p:spPr>
        <p:txBody>
          <a:bodyPr wrap="square" anchor="t" lIns="0" rIns="0" tIns="0" bIns="0"/>
          <a:lstStyle/>
          <a:p>
            <a:pPr algn="l"/>
            <a:r>
              <a:rPr sz="1250" b="1">
                <a:solidFill>
                  <a:srgbClr val="493356"/>
                </a:solidFill>
                <a:latin typeface="Calibri"/>
              </a:rPr>
              <a:t>Day-one national coverage</a:t>
            </a:r>
          </a:p>
        </p:txBody>
      </p:sp>
      <p:sp>
        <p:nvSpPr>
          <p:cNvPr id="36" name="tx"/>
          <p:cNvSpPr txBox="1"/>
          <p:nvPr/>
        </p:nvSpPr>
        <p:spPr>
          <a:xfrm>
            <a:off x="7180000" y="2510000"/>
            <a:ext cx="4531752" cy="520000"/>
          </a:xfrm>
          <a:prstGeom prst="rect">
            <a:avLst/>
          </a:prstGeom>
          <a:noFill/>
        </p:spPr>
        <p:txBody>
          <a:bodyPr wrap="square" anchor="t" lIns="0" rIns="0" tIns="0" bIns="0"/>
          <a:lstStyle/>
          <a:p>
            <a:pPr algn="l">
              <a:lnSpc>
                <a:spcPct val="106000"/>
              </a:lnSpc>
            </a:pPr>
            <a:r>
              <a:rPr sz="1020" b="0">
                <a:solidFill>
                  <a:srgbClr val="414141"/>
                </a:solidFill>
                <a:latin typeface="Calibri"/>
              </a:rPr>
              <a:t>Every state + D.C. deep-links to its official portal with researched, state-specific filing steps.</a:t>
            </a:r>
          </a:p>
        </p:txBody>
      </p:sp>
      <p:sp>
        <p:nvSpPr>
          <p:cNvPr id="37" name="racc"/>
          <p:cNvSpPr/>
          <p:nvPr/>
        </p:nvSpPr>
        <p:spPr>
          <a:xfrm>
            <a:off x="6980000" y="3125000"/>
            <a:ext cx="68580" cy="640000"/>
          </a:xfrm>
          <a:prstGeom prst="roundRect">
            <a:avLst>
              <a:gd name="adj" fmla="val 30000"/>
            </a:avLst>
          </a:prstGeom>
          <a:solidFill>
            <a:srgbClr val="3058A3"/>
          </a:solidFill>
          <a:ln>
            <a:noFill/>
          </a:ln>
        </p:spPr>
        <p:txBody>
          <a:bodyPr/>
          <a:lstStyle/>
          <a:p/>
        </p:txBody>
      </p:sp>
      <p:sp>
        <p:nvSpPr>
          <p:cNvPr id="38" name="tx"/>
          <p:cNvSpPr txBox="1"/>
          <p:nvPr/>
        </p:nvSpPr>
        <p:spPr>
          <a:xfrm>
            <a:off x="7180000" y="3125000"/>
            <a:ext cx="4531752" cy="260000"/>
          </a:xfrm>
          <a:prstGeom prst="rect">
            <a:avLst/>
          </a:prstGeom>
          <a:noFill/>
        </p:spPr>
        <p:txBody>
          <a:bodyPr wrap="square" anchor="t" lIns="0" rIns="0" tIns="0" bIns="0"/>
          <a:lstStyle/>
          <a:p>
            <a:pPr algn="l"/>
            <a:r>
              <a:rPr sz="1250" b="1">
                <a:solidFill>
                  <a:srgbClr val="493356"/>
                </a:solidFill>
                <a:latin typeface="Calibri"/>
              </a:rPr>
              <a:t>Compliant by construction</a:t>
            </a:r>
          </a:p>
        </p:txBody>
      </p:sp>
      <p:sp>
        <p:nvSpPr>
          <p:cNvPr id="39" name="tx"/>
          <p:cNvSpPr txBox="1"/>
          <p:nvPr/>
        </p:nvSpPr>
        <p:spPr>
          <a:xfrm>
            <a:off x="7180000" y="3425000"/>
            <a:ext cx="4531752" cy="520000"/>
          </a:xfrm>
          <a:prstGeom prst="rect">
            <a:avLst/>
          </a:prstGeom>
          <a:noFill/>
        </p:spPr>
        <p:txBody>
          <a:bodyPr wrap="square" anchor="t" lIns="0" rIns="0" tIns="0" bIns="0"/>
          <a:lstStyle/>
          <a:p>
            <a:pPr algn="l">
              <a:lnSpc>
                <a:spcPct val="106000"/>
              </a:lnSpc>
            </a:pPr>
            <a:r>
              <a:rPr sz="1020" b="0">
                <a:solidFill>
                  <a:srgbClr val="414141"/>
                </a:solidFill>
                <a:latin typeface="Calibri"/>
              </a:rPr>
              <a:t>Display-only handoff: no fee, no claim handling, explicit non-affiliation.</a:t>
            </a:r>
          </a:p>
        </p:txBody>
      </p:sp>
      <p:sp>
        <p:nvSpPr>
          <p:cNvPr id="40" name="racc"/>
          <p:cNvSpPr/>
          <p:nvPr/>
        </p:nvSpPr>
        <p:spPr>
          <a:xfrm>
            <a:off x="6980000" y="4040000"/>
            <a:ext cx="68580" cy="640000"/>
          </a:xfrm>
          <a:prstGeom prst="roundRect">
            <a:avLst>
              <a:gd name="adj" fmla="val 30000"/>
            </a:avLst>
          </a:prstGeom>
          <a:solidFill>
            <a:srgbClr val="EF5E33"/>
          </a:solidFill>
          <a:ln>
            <a:noFill/>
          </a:ln>
        </p:spPr>
        <p:txBody>
          <a:bodyPr/>
          <a:lstStyle/>
          <a:p/>
        </p:txBody>
      </p:sp>
      <p:sp>
        <p:nvSpPr>
          <p:cNvPr id="41" name="tx"/>
          <p:cNvSpPr txBox="1"/>
          <p:nvPr/>
        </p:nvSpPr>
        <p:spPr>
          <a:xfrm>
            <a:off x="7180000" y="4040000"/>
            <a:ext cx="4531752" cy="260000"/>
          </a:xfrm>
          <a:prstGeom prst="rect">
            <a:avLst/>
          </a:prstGeom>
          <a:noFill/>
        </p:spPr>
        <p:txBody>
          <a:bodyPr wrap="square" anchor="t" lIns="0" rIns="0" tIns="0" bIns="0"/>
          <a:lstStyle/>
          <a:p>
            <a:pPr algn="l"/>
            <a:r>
              <a:rPr sz="1250" b="1">
                <a:solidFill>
                  <a:srgbClr val="493356"/>
                </a:solidFill>
                <a:latin typeface="Calibri"/>
              </a:rPr>
              <a:t>Demand signal for rollout</a:t>
            </a:r>
          </a:p>
        </p:txBody>
      </p:sp>
      <p:sp>
        <p:nvSpPr>
          <p:cNvPr id="42" name="tx"/>
          <p:cNvSpPr txBox="1"/>
          <p:nvPr/>
        </p:nvSpPr>
        <p:spPr>
          <a:xfrm>
            <a:off x="7180000" y="4340000"/>
            <a:ext cx="4531752" cy="520000"/>
          </a:xfrm>
          <a:prstGeom prst="rect">
            <a:avLst/>
          </a:prstGeom>
          <a:noFill/>
        </p:spPr>
        <p:txBody>
          <a:bodyPr wrap="square" anchor="t" lIns="0" rIns="0" tIns="0" bIns="0"/>
          <a:lstStyle/>
          <a:p>
            <a:pPr algn="l">
              <a:lnSpc>
                <a:spcPct val="106000"/>
              </a:lnSpc>
            </a:pPr>
            <a:r>
              <a:rPr sz="1020" b="0">
                <a:solidFill>
                  <a:srgbClr val="414141"/>
                </a:solidFill>
                <a:latin typeface="Calibri"/>
              </a:rPr>
              <a:t>“Notify me” builds a per-state waitlist — members tell us what to unlock next.</a:t>
            </a:r>
          </a:p>
        </p:txBody>
      </p:sp>
      <p:sp>
        <p:nvSpPr>
          <p:cNvPr id="43" name="racc"/>
          <p:cNvSpPr/>
          <p:nvPr/>
        </p:nvSpPr>
        <p:spPr>
          <a:xfrm>
            <a:off x="6980000" y="4955000"/>
            <a:ext cx="68580" cy="640000"/>
          </a:xfrm>
          <a:prstGeom prst="roundRect">
            <a:avLst>
              <a:gd name="adj" fmla="val 30000"/>
            </a:avLst>
          </a:prstGeom>
          <a:solidFill>
            <a:srgbClr val="FCC062"/>
          </a:solidFill>
          <a:ln>
            <a:noFill/>
          </a:ln>
        </p:spPr>
        <p:txBody>
          <a:bodyPr/>
          <a:lstStyle/>
          <a:p/>
        </p:txBody>
      </p:sp>
      <p:sp>
        <p:nvSpPr>
          <p:cNvPr id="44" name="tx"/>
          <p:cNvSpPr txBox="1"/>
          <p:nvPr/>
        </p:nvSpPr>
        <p:spPr>
          <a:xfrm>
            <a:off x="7180000" y="4955000"/>
            <a:ext cx="4531752" cy="260000"/>
          </a:xfrm>
          <a:prstGeom prst="rect">
            <a:avLst/>
          </a:prstGeom>
          <a:noFill/>
        </p:spPr>
        <p:txBody>
          <a:bodyPr wrap="square" anchor="t" lIns="0" rIns="0" tIns="0" bIns="0"/>
          <a:lstStyle/>
          <a:p>
            <a:pPr algn="l"/>
            <a:r>
              <a:rPr sz="1250" b="1">
                <a:solidFill>
                  <a:srgbClr val="493356"/>
                </a:solidFill>
                <a:latin typeface="Calibri"/>
              </a:rPr>
              <a:t>Cross-state matching still runs</a:t>
            </a:r>
          </a:p>
        </p:txBody>
      </p:sp>
      <p:sp>
        <p:nvSpPr>
          <p:cNvPr id="45" name="tx"/>
          <p:cNvSpPr txBox="1"/>
          <p:nvPr/>
        </p:nvSpPr>
        <p:spPr>
          <a:xfrm>
            <a:off x="7180000" y="5255000"/>
            <a:ext cx="4531752" cy="520000"/>
          </a:xfrm>
          <a:prstGeom prst="rect">
            <a:avLst/>
          </a:prstGeom>
          <a:noFill/>
        </p:spPr>
        <p:txBody>
          <a:bodyPr wrap="square" anchor="t" lIns="0" rIns="0" tIns="0" bIns="0"/>
          <a:lstStyle/>
          <a:p>
            <a:pPr algn="l">
              <a:lnSpc>
                <a:spcPct val="106000"/>
              </a:lnSpc>
            </a:pPr>
            <a:r>
              <a:rPr sz="1020" b="0">
                <a:solidFill>
                  <a:srgbClr val="414141"/>
                </a:solidFill>
                <a:latin typeface="Calibri"/>
              </a:rPr>
              <a:t>Members in guided states still get auto-matches from all 44 data-available jurisdictions.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3058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2286000" cy="329184"/>
          </a:xfrm>
          <a:prstGeom prst="rect">
            <a:avLst/>
          </a:prstGeom>
          <a:noFill/>
        </p:spPr>
        <p:txBody>
          <a:bodyPr wrap="square" anchor="t" lIns="0" rIns="0" tIns="0" bIns="0">
            <a:spAutoFit/>
          </a:bodyPr>
          <a:lstStyle/>
          <a:p>
            <a:pPr algn="l"/>
            <a:r>
              <a:rPr sz="1600" b="1">
                <a:solidFill>
                  <a:srgbClr val="493356"/>
                </a:solidFill>
                <a:latin typeface="Calibri"/>
              </a:rPr>
              <a:t>CONSUMER</a:t>
            </a:r>
            <a:r>
              <a:rPr sz="1600" b="1">
                <a:solidFill>
                  <a:srgbClr val="3058A3"/>
                </a:solidFill>
                <a:latin typeface="Calibri"/>
              </a:rPr>
              <a:t>DIRECT</a:t>
            </a:r>
          </a:p>
        </p:txBody>
      </p:sp>
      <p:sp>
        <p:nvSpPr>
          <p:cNvPr id="5" name="TextBox 4"/>
          <p:cNvSpPr txBox="1"/>
          <p:nvPr/>
        </p:nvSpPr>
        <p:spPr>
          <a:xfrm>
            <a:off x="11338560" y="6446520"/>
            <a:ext cx="731520" cy="274320"/>
          </a:xfrm>
          <a:prstGeom prst="rect">
            <a:avLst/>
          </a:prstGeom>
          <a:noFill/>
        </p:spPr>
        <p:txBody>
          <a:bodyPr wrap="square" anchor="t" lIns="0" rIns="0" tIns="0" bIns="0">
            <a:spAutoFit/>
          </a:bodyPr>
          <a:lstStyle/>
          <a:p>
            <a:pPr algn="r"/>
            <a:r>
              <a:rPr sz="900" b="0">
                <a:solidFill>
                  <a:srgbClr val="8A8A8A"/>
                </a:solidFill>
                <a:latin typeface="Calibri"/>
              </a:rPr>
              <a:t>10 / 15</a:t>
            </a:r>
          </a:p>
        </p:txBody>
      </p:sp>
      <p:sp>
        <p:nvSpPr>
          <p:cNvPr id="6" name="TextBox 5"/>
          <p:cNvSpPr txBox="1"/>
          <p:nvPr/>
        </p:nvSpPr>
        <p:spPr>
          <a:xfrm>
            <a:off x="457200" y="6446520"/>
            <a:ext cx="7315200" cy="274320"/>
          </a:xfrm>
          <a:prstGeom prst="rect">
            <a:avLst/>
          </a:prstGeom>
          <a:noFill/>
        </p:spPr>
        <p:txBody>
          <a:bodyPr wrap="square" anchor="t" lIns="0" rIns="0" tIns="0" bIns="0">
            <a:spAutoFit/>
          </a:bodyPr>
          <a:lstStyle/>
          <a:p>
            <a:pPr algn="l"/>
            <a:r>
              <a:rPr sz="900" b="0">
                <a:solidFill>
                  <a:srgbClr val="8A8A8A"/>
                </a:solidFill>
                <a:latin typeface="Calibri"/>
              </a:rPr>
              <a:t>GetMyMoney · Confidential — Consumer Direct, Inc.</a:t>
            </a:r>
          </a:p>
        </p:txBody>
      </p:sp>
      <p:sp>
        <p:nvSpPr>
          <p:cNvPr id="7" name="TextBox 6"/>
          <p:cNvSpPr txBox="1"/>
          <p:nvPr/>
        </p:nvSpPr>
        <p:spPr>
          <a:xfrm>
            <a:off x="457200" y="749808"/>
            <a:ext cx="11430000" cy="502920"/>
          </a:xfrm>
          <a:prstGeom prst="rect">
            <a:avLst/>
          </a:prstGeom>
          <a:noFill/>
        </p:spPr>
        <p:txBody>
          <a:bodyPr wrap="square" anchor="t" lIns="0" rIns="0" tIns="0" bIns="0">
            <a:spAutoFit/>
          </a:bodyPr>
          <a:lstStyle/>
          <a:p>
            <a:pPr algn="l"/>
            <a:r>
              <a:rPr sz="2800" b="1">
                <a:solidFill>
                  <a:srgbClr val="493356"/>
                </a:solidFill>
                <a:latin typeface="Calibri"/>
              </a:rPr>
              <a:t>Go-To-Market: Rollout</a:t>
            </a:r>
          </a:p>
        </p:txBody>
      </p:sp>
      <p:sp>
        <p:nvSpPr>
          <p:cNvPr id="9" name="Rounded Rectangle 8"/>
          <p:cNvSpPr/>
          <p:nvPr/>
        </p:nvSpPr>
        <p:spPr>
          <a:xfrm>
            <a:off x="2743200" y="1433080"/>
            <a:ext cx="6675120" cy="868680"/>
          </a:xfrm>
          <a:prstGeom prst="roundRect">
            <a:avLst>
              <a:gd name="adj" fmla="val 7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971800" y="1698256"/>
            <a:ext cx="329184" cy="329184"/>
          </a:xfrm>
          <a:prstGeom prst="roundRect">
            <a:avLst>
              <a:gd name="adj" fmla="val 50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200" b="1">
                <a:solidFill>
                  <a:srgbClr val="FFFFFF"/>
                </a:solidFill>
                <a:latin typeface="Calibri"/>
              </a:rPr>
              <a:t>✓</a:t>
            </a:r>
          </a:p>
        </p:txBody>
      </p:sp>
      <p:sp>
        <p:nvSpPr>
          <p:cNvPr id="11" name="TextBox 10"/>
          <p:cNvSpPr txBox="1"/>
          <p:nvPr/>
        </p:nvSpPr>
        <p:spPr>
          <a:xfrm>
            <a:off x="3429000" y="1533664"/>
            <a:ext cx="5760720" cy="274320"/>
          </a:xfrm>
          <a:prstGeom prst="rect">
            <a:avLst/>
          </a:prstGeom>
          <a:noFill/>
        </p:spPr>
        <p:txBody>
          <a:bodyPr wrap="square" anchor="t" lIns="0" rIns="0" tIns="0" bIns="0">
            <a:spAutoFit/>
          </a:bodyPr>
          <a:lstStyle/>
          <a:p>
            <a:pPr algn="l"/>
            <a:r>
              <a:rPr sz="1300" b="1">
                <a:solidFill>
                  <a:srgbClr val="493356"/>
                </a:solidFill>
                <a:latin typeface="Calibri"/>
              </a:rPr>
              <a:t>Opt in: “Search unclaimed money in my name”</a:t>
            </a:r>
          </a:p>
        </p:txBody>
      </p:sp>
      <p:sp>
        <p:nvSpPr>
          <p:cNvPr id="12" name="TextBox 11"/>
          <p:cNvSpPr txBox="1"/>
          <p:nvPr/>
        </p:nvSpPr>
        <p:spPr>
          <a:xfrm>
            <a:off x="3429000" y="1862848"/>
            <a:ext cx="5760720" cy="384048"/>
          </a:xfrm>
          <a:prstGeom prst="rect">
            <a:avLst/>
          </a:prstGeom>
          <a:noFill/>
        </p:spPr>
        <p:txBody>
          <a:bodyPr wrap="square" anchor="t" lIns="0" rIns="0" tIns="0" bIns="0">
            <a:spAutoFit/>
          </a:bodyPr>
          <a:lstStyle/>
          <a:p>
            <a:pPr algn="l"/>
            <a:r>
              <a:rPr sz="950" b="0">
                <a:solidFill>
                  <a:srgbClr val="414141"/>
                </a:solidFill>
                <a:latin typeface="Calibri"/>
              </a:rPr>
              <a:t>Default off · no finder's fee · you decide on any match · turn off anytime.</a:t>
            </a:r>
          </a:p>
        </p:txBody>
      </p:sp>
      <p:sp>
        <p:nvSpPr>
          <p:cNvPr id="13" name="Down Arrow 12"/>
          <p:cNvSpPr/>
          <p:nvPr/>
        </p:nvSpPr>
        <p:spPr>
          <a:xfrm>
            <a:off x="3063240" y="3031488"/>
            <a:ext cx="457200" cy="411480"/>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8778240" y="3031488"/>
            <a:ext cx="457200" cy="411480"/>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57200" y="3561840"/>
            <a:ext cx="5486400" cy="2606040"/>
          </a:xfrm>
          <a:prstGeom prst="roundRect">
            <a:avLst>
              <a:gd name="adj" fmla="val 4000"/>
            </a:avLst>
          </a:prstGeom>
          <a:solidFill>
            <a:srgbClr val="FFFFFF"/>
          </a:solidFill>
          <a:ln w="6350">
            <a:solidFill>
              <a:srgbClr val="E2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561840"/>
            <a:ext cx="5486400" cy="14630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63008"/>
            <a:ext cx="5084064" cy="274320"/>
          </a:xfrm>
          <a:prstGeom prst="rect">
            <a:avLst/>
          </a:prstGeom>
          <a:noFill/>
        </p:spPr>
        <p:txBody>
          <a:bodyPr wrap="square" anchor="t" lIns="0" rIns="0" tIns="0" bIns="0">
            <a:spAutoFit/>
          </a:bodyPr>
          <a:lstStyle/>
          <a:p>
            <a:pPr algn="l"/>
            <a:r>
              <a:rPr sz="1300" b="1">
                <a:solidFill>
                  <a:srgbClr val="059669"/>
                </a:solidFill>
                <a:latin typeface="Calibri"/>
              </a:rPr>
              <a:t>STATE DATA AVAILABLE</a:t>
            </a:r>
          </a:p>
        </p:txBody>
      </p:sp>
      <p:sp>
        <p:nvSpPr>
          <p:cNvPr id="18" name="TextBox 17"/>
          <p:cNvSpPr txBox="1"/>
          <p:nvPr/>
        </p:nvSpPr>
        <p:spPr>
          <a:xfrm>
            <a:off x="658368" y="4046472"/>
            <a:ext cx="5084064" cy="237744"/>
          </a:xfrm>
          <a:prstGeom prst="rect">
            <a:avLst/>
          </a:prstGeom>
          <a:noFill/>
        </p:spPr>
        <p:txBody>
          <a:bodyPr wrap="square" anchor="t" lIns="0" rIns="0" tIns="0" bIns="0">
            <a:spAutoFit/>
          </a:bodyPr>
          <a:lstStyle/>
          <a:p>
            <a:pPr algn="l"/>
            <a:r>
              <a:rPr sz="950" b="1">
                <a:solidFill>
                  <a:srgbClr val="8A8A8A"/>
                </a:solidFill>
                <a:latin typeface="Calibri"/>
              </a:rPr>
              <a:t>44 jurisdictions · ~86% of members</a:t>
            </a:r>
          </a:p>
        </p:txBody>
      </p:sp>
      <p:sp>
        <p:nvSpPr>
          <p:cNvPr id="19" name="Rounded Rectangle 18"/>
          <p:cNvSpPr/>
          <p:nvPr/>
        </p:nvSpPr>
        <p:spPr>
          <a:xfrm>
            <a:off x="658368" y="4448807"/>
            <a:ext cx="237744" cy="237744"/>
          </a:xfrm>
          <a:prstGeom prst="roundRect">
            <a:avLst>
              <a:gd name="adj" fmla="val 50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800" b="1">
                <a:solidFill>
                  <a:srgbClr val="FFFFFF"/>
                </a:solidFill>
                <a:latin typeface="Calibri"/>
              </a:rPr>
              <a:t>✓</a:t>
            </a:r>
          </a:p>
        </p:txBody>
      </p:sp>
      <p:sp>
        <p:nvSpPr>
          <p:cNvPr id="20" name="TextBox 19"/>
          <p:cNvSpPr txBox="1"/>
          <p:nvPr/>
        </p:nvSpPr>
        <p:spPr>
          <a:xfrm>
            <a:off x="1005840" y="4412232"/>
            <a:ext cx="4736592" cy="237744"/>
          </a:xfrm>
          <a:prstGeom prst="rect">
            <a:avLst/>
          </a:prstGeom>
          <a:noFill/>
        </p:spPr>
        <p:txBody>
          <a:bodyPr wrap="square" anchor="t" lIns="0" rIns="0" tIns="0" bIns="0">
            <a:spAutoFit/>
          </a:bodyPr>
          <a:lstStyle/>
          <a:p>
            <a:pPr algn="l"/>
            <a:r>
              <a:rPr sz="1100" b="1">
                <a:solidFill>
                  <a:srgbClr val="493356"/>
                </a:solidFill>
                <a:latin typeface="Calibri"/>
              </a:rPr>
              <a:t>Potential matches</a:t>
            </a:r>
          </a:p>
        </p:txBody>
      </p:sp>
      <p:sp>
        <p:nvSpPr>
          <p:cNvPr id="21" name="TextBox 20"/>
          <p:cNvSpPr txBox="1"/>
          <p:nvPr/>
        </p:nvSpPr>
        <p:spPr>
          <a:xfrm>
            <a:off x="1005840" y="4640832"/>
            <a:ext cx="4736592" cy="237744"/>
          </a:xfrm>
          <a:prstGeom prst="rect">
            <a:avLst/>
          </a:prstGeom>
          <a:noFill/>
        </p:spPr>
        <p:txBody>
          <a:bodyPr wrap="square" anchor="t" lIns="0" rIns="0" tIns="0" bIns="0">
            <a:spAutoFit/>
          </a:bodyPr>
          <a:lstStyle/>
          <a:p>
            <a:pPr algn="l"/>
            <a:r>
              <a:rPr sz="900" b="0">
                <a:solidFill>
                  <a:srgbClr val="414141"/>
                </a:solidFill>
                <a:latin typeface="Calibri"/>
              </a:rPr>
              <a:t>We surface possible matches from the state's own records</a:t>
            </a:r>
          </a:p>
        </p:txBody>
      </p:sp>
      <p:sp>
        <p:nvSpPr>
          <p:cNvPr id="22" name="Rounded Rectangle 21"/>
          <p:cNvSpPr/>
          <p:nvPr/>
        </p:nvSpPr>
        <p:spPr>
          <a:xfrm>
            <a:off x="658368" y="4868807"/>
            <a:ext cx="237744" cy="237744"/>
          </a:xfrm>
          <a:prstGeom prst="roundRect">
            <a:avLst>
              <a:gd name="adj" fmla="val 50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800" b="1">
                <a:solidFill>
                  <a:srgbClr val="FFFFFF"/>
                </a:solidFill>
                <a:latin typeface="Calibri"/>
              </a:rPr>
              <a:t>✓</a:t>
            </a:r>
          </a:p>
        </p:txBody>
      </p:sp>
      <p:sp>
        <p:nvSpPr>
          <p:cNvPr id="23" name="TextBox 22"/>
          <p:cNvSpPr txBox="1"/>
          <p:nvPr/>
        </p:nvSpPr>
        <p:spPr>
          <a:xfrm>
            <a:off x="1005840" y="4832232"/>
            <a:ext cx="4736592" cy="237744"/>
          </a:xfrm>
          <a:prstGeom prst="rect">
            <a:avLst/>
          </a:prstGeom>
          <a:noFill/>
        </p:spPr>
        <p:txBody>
          <a:bodyPr wrap="square" anchor="t" lIns="0" rIns="0" tIns="0" bIns="0">
            <a:spAutoFit/>
          </a:bodyPr>
          <a:lstStyle/>
          <a:p>
            <a:pPr algn="l"/>
            <a:r>
              <a:rPr sz="1100" b="1">
                <a:solidFill>
                  <a:srgbClr val="493356"/>
                </a:solidFill>
                <a:latin typeface="Calibri"/>
              </a:rPr>
              <a:t>Monitoring</a:t>
            </a:r>
          </a:p>
        </p:txBody>
      </p:sp>
      <p:sp>
        <p:nvSpPr>
          <p:cNvPr id="24" name="TextBox 23"/>
          <p:cNvSpPr txBox="1"/>
          <p:nvPr/>
        </p:nvSpPr>
        <p:spPr>
          <a:xfrm>
            <a:off x="1005840" y="5060832"/>
            <a:ext cx="4736592" cy="237744"/>
          </a:xfrm>
          <a:prstGeom prst="rect">
            <a:avLst/>
          </a:prstGeom>
          <a:noFill/>
        </p:spPr>
        <p:txBody>
          <a:bodyPr wrap="square" anchor="t" lIns="0" rIns="0" tIns="0" bIns="0">
            <a:spAutoFit/>
          </a:bodyPr>
          <a:lstStyle/>
          <a:p>
            <a:pPr algn="l"/>
            <a:r>
              <a:rPr sz="900" b="0">
                <a:solidFill>
                  <a:srgbClr val="414141"/>
                </a:solidFill>
                <a:latin typeface="Calibri"/>
              </a:rPr>
              <a:t>We keep watching and alert on new matches over time</a:t>
            </a:r>
          </a:p>
        </p:txBody>
      </p:sp>
      <p:sp>
        <p:nvSpPr>
          <p:cNvPr id="25" name="Rounded Rectangle 24"/>
          <p:cNvSpPr/>
          <p:nvPr/>
        </p:nvSpPr>
        <p:spPr>
          <a:xfrm>
            <a:off x="658368" y="5288807"/>
            <a:ext cx="237744" cy="237744"/>
          </a:xfrm>
          <a:prstGeom prst="roundRect">
            <a:avLst>
              <a:gd name="adj" fmla="val 50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800" b="1">
                <a:solidFill>
                  <a:srgbClr val="FFFFFF"/>
                </a:solidFill>
                <a:latin typeface="Calibri"/>
              </a:rPr>
              <a:t>✓</a:t>
            </a:r>
          </a:p>
        </p:txBody>
      </p:sp>
      <p:sp>
        <p:nvSpPr>
          <p:cNvPr id="26" name="TextBox 25"/>
          <p:cNvSpPr txBox="1"/>
          <p:nvPr/>
        </p:nvSpPr>
        <p:spPr>
          <a:xfrm>
            <a:off x="1005840" y="5252232"/>
            <a:ext cx="4736592" cy="237744"/>
          </a:xfrm>
          <a:prstGeom prst="rect">
            <a:avLst/>
          </a:prstGeom>
          <a:noFill/>
        </p:spPr>
        <p:txBody>
          <a:bodyPr wrap="square" anchor="t" lIns="0" rIns="0" tIns="0" bIns="0">
            <a:spAutoFit/>
          </a:bodyPr>
          <a:lstStyle/>
          <a:p>
            <a:pPr algn="l"/>
            <a:r>
              <a:rPr sz="1100" b="1">
                <a:solidFill>
                  <a:srgbClr val="493356"/>
                </a:solidFill>
                <a:latin typeface="Calibri"/>
              </a:rPr>
              <a:t>Deep link to claim</a:t>
            </a:r>
          </a:p>
        </p:txBody>
      </p:sp>
      <p:sp>
        <p:nvSpPr>
          <p:cNvPr id="27" name="TextBox 26"/>
          <p:cNvSpPr txBox="1"/>
          <p:nvPr/>
        </p:nvSpPr>
        <p:spPr>
          <a:xfrm>
            <a:off x="1005840" y="5480832"/>
            <a:ext cx="4736592" cy="237744"/>
          </a:xfrm>
          <a:prstGeom prst="rect">
            <a:avLst/>
          </a:prstGeom>
          <a:noFill/>
        </p:spPr>
        <p:txBody>
          <a:bodyPr wrap="square" anchor="t" lIns="0" rIns="0" tIns="0" bIns="0">
            <a:spAutoFit/>
          </a:bodyPr>
          <a:lstStyle/>
          <a:p>
            <a:pPr algn="l"/>
            <a:r>
              <a:rPr sz="900" b="0">
                <a:solidFill>
                  <a:srgbClr val="414141"/>
                </a:solidFill>
                <a:latin typeface="Calibri"/>
              </a:rPr>
              <a:t>One tap to the official state claim portal</a:t>
            </a:r>
          </a:p>
        </p:txBody>
      </p:sp>
      <p:sp>
        <p:nvSpPr>
          <p:cNvPr id="28" name="Rounded Rectangle 27"/>
          <p:cNvSpPr/>
          <p:nvPr/>
        </p:nvSpPr>
        <p:spPr>
          <a:xfrm>
            <a:off x="658368" y="5708807"/>
            <a:ext cx="237744" cy="237744"/>
          </a:xfrm>
          <a:prstGeom prst="roundRect">
            <a:avLst>
              <a:gd name="adj" fmla="val 50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800" b="1">
                <a:solidFill>
                  <a:srgbClr val="FFFFFF"/>
                </a:solidFill>
                <a:latin typeface="Calibri"/>
              </a:rPr>
              <a:t>✓</a:t>
            </a:r>
          </a:p>
        </p:txBody>
      </p:sp>
      <p:sp>
        <p:nvSpPr>
          <p:cNvPr id="29" name="TextBox 28"/>
          <p:cNvSpPr txBox="1"/>
          <p:nvPr/>
        </p:nvSpPr>
        <p:spPr>
          <a:xfrm>
            <a:off x="1005840" y="5672232"/>
            <a:ext cx="4736592" cy="237744"/>
          </a:xfrm>
          <a:prstGeom prst="rect">
            <a:avLst/>
          </a:prstGeom>
          <a:noFill/>
        </p:spPr>
        <p:txBody>
          <a:bodyPr wrap="square" anchor="t" lIns="0" rIns="0" tIns="0" bIns="0">
            <a:spAutoFit/>
          </a:bodyPr>
          <a:lstStyle/>
          <a:p>
            <a:pPr algn="l"/>
            <a:r>
              <a:rPr sz="1100" b="1">
                <a:solidFill>
                  <a:srgbClr val="493356"/>
                </a:solidFill>
                <a:latin typeface="Calibri"/>
              </a:rPr>
              <a:t>Guided filing</a:t>
            </a:r>
          </a:p>
        </p:txBody>
      </p:sp>
      <p:sp>
        <p:nvSpPr>
          <p:cNvPr id="30" name="TextBox 29"/>
          <p:cNvSpPr txBox="1"/>
          <p:nvPr/>
        </p:nvSpPr>
        <p:spPr>
          <a:xfrm>
            <a:off x="1005840" y="5900832"/>
            <a:ext cx="4736592" cy="237744"/>
          </a:xfrm>
          <a:prstGeom prst="rect">
            <a:avLst/>
          </a:prstGeom>
          <a:noFill/>
        </p:spPr>
        <p:txBody>
          <a:bodyPr wrap="square" anchor="t" lIns="0" rIns="0" tIns="0" bIns="0">
            <a:spAutoFit/>
          </a:bodyPr>
          <a:lstStyle/>
          <a:p>
            <a:pPr algn="l"/>
            <a:r>
              <a:rPr sz="900" b="0">
                <a:solidFill>
                  <a:srgbClr val="414141"/>
                </a:solidFill>
                <a:latin typeface="Calibri"/>
              </a:rPr>
              <a:t>State-specific steps to file directly — always free</a:t>
            </a:r>
          </a:p>
        </p:txBody>
      </p:sp>
      <p:sp>
        <p:nvSpPr>
          <p:cNvPr id="31" name="Rounded Rectangle 30"/>
          <p:cNvSpPr/>
          <p:nvPr/>
        </p:nvSpPr>
        <p:spPr>
          <a:xfrm>
            <a:off x="6245352" y="3561840"/>
            <a:ext cx="5486400" cy="2606040"/>
          </a:xfrm>
          <a:prstGeom prst="roundRect">
            <a:avLst>
              <a:gd name="adj" fmla="val 4000"/>
            </a:avLst>
          </a:prstGeom>
          <a:solidFill>
            <a:srgbClr val="FFFFFF"/>
          </a:solidFill>
          <a:ln w="6350">
            <a:solidFill>
              <a:srgbClr val="E2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45352" y="3561840"/>
            <a:ext cx="5486400" cy="146304"/>
          </a:xfrm>
          <a:prstGeom prst="rect">
            <a:avLst/>
          </a:prstGeom>
          <a:solidFill>
            <a:srgbClr val="FCC0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3763008"/>
            <a:ext cx="5084064" cy="274320"/>
          </a:xfrm>
          <a:prstGeom prst="rect">
            <a:avLst/>
          </a:prstGeom>
          <a:noFill/>
        </p:spPr>
        <p:txBody>
          <a:bodyPr wrap="square" anchor="t" lIns="0" rIns="0" tIns="0" bIns="0">
            <a:spAutoFit/>
          </a:bodyPr>
          <a:lstStyle/>
          <a:p>
            <a:pPr algn="l"/>
            <a:r>
              <a:rPr sz="1300" b="1">
                <a:solidFill>
                  <a:srgbClr val="FCC062"/>
                </a:solidFill>
                <a:latin typeface="Calibri"/>
              </a:rPr>
              <a:t>DATA NOT AVAILABLE</a:t>
            </a:r>
          </a:p>
        </p:txBody>
      </p:sp>
      <p:sp>
        <p:nvSpPr>
          <p:cNvPr id="34" name="TextBox 33"/>
          <p:cNvSpPr txBox="1"/>
          <p:nvPr/>
        </p:nvSpPr>
        <p:spPr>
          <a:xfrm>
            <a:off x="6446520" y="4046472"/>
            <a:ext cx="5084064" cy="237744"/>
          </a:xfrm>
          <a:prstGeom prst="rect">
            <a:avLst/>
          </a:prstGeom>
          <a:noFill/>
        </p:spPr>
        <p:txBody>
          <a:bodyPr wrap="square" anchor="t" lIns="0" rIns="0" tIns="0" bIns="0">
            <a:spAutoFit/>
          </a:bodyPr>
          <a:lstStyle/>
          <a:p>
            <a:pPr algn="l"/>
            <a:r>
              <a:rPr sz="950" b="1">
                <a:solidFill>
                  <a:srgbClr val="8A8A8A"/>
                </a:solidFill>
                <a:latin typeface="Calibri"/>
              </a:rPr>
              <a:t>12 jurisdictions · ~14% of members</a:t>
            </a:r>
          </a:p>
        </p:txBody>
      </p:sp>
      <p:sp>
        <p:nvSpPr>
          <p:cNvPr id="35" name="Rounded Rectangle 34"/>
          <p:cNvSpPr/>
          <p:nvPr/>
        </p:nvSpPr>
        <p:spPr>
          <a:xfrm>
            <a:off x="6446520" y="4448807"/>
            <a:ext cx="237744" cy="237744"/>
          </a:xfrm>
          <a:prstGeom prst="roundRect">
            <a:avLst>
              <a:gd name="adj" fmla="val 50000"/>
            </a:avLst>
          </a:prstGeom>
          <a:solidFill>
            <a:srgbClr val="FCC062"/>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800" b="1">
                <a:solidFill>
                  <a:srgbClr val="FFFFFF"/>
                </a:solidFill>
                <a:latin typeface="Calibri"/>
              </a:rPr>
              <a:t>✓</a:t>
            </a:r>
          </a:p>
        </p:txBody>
      </p:sp>
      <p:sp>
        <p:nvSpPr>
          <p:cNvPr id="36" name="TextBox 35"/>
          <p:cNvSpPr txBox="1"/>
          <p:nvPr/>
        </p:nvSpPr>
        <p:spPr>
          <a:xfrm>
            <a:off x="6793992" y="4412232"/>
            <a:ext cx="4736592" cy="237744"/>
          </a:xfrm>
          <a:prstGeom prst="rect">
            <a:avLst/>
          </a:prstGeom>
          <a:noFill/>
        </p:spPr>
        <p:txBody>
          <a:bodyPr wrap="square" anchor="t" lIns="0" rIns="0" tIns="0" bIns="0">
            <a:spAutoFit/>
          </a:bodyPr>
          <a:lstStyle/>
          <a:p>
            <a:pPr algn="l"/>
            <a:r>
              <a:rPr sz="1100" b="1">
                <a:solidFill>
                  <a:srgbClr val="493356"/>
                </a:solidFill>
                <a:latin typeface="Calibri"/>
              </a:rPr>
              <a:t>Guided filing</a:t>
            </a:r>
          </a:p>
        </p:txBody>
      </p:sp>
      <p:sp>
        <p:nvSpPr>
          <p:cNvPr id="37" name="TextBox 36"/>
          <p:cNvSpPr txBox="1"/>
          <p:nvPr/>
        </p:nvSpPr>
        <p:spPr>
          <a:xfrm>
            <a:off x="6793992" y="4640832"/>
            <a:ext cx="4736592" cy="237744"/>
          </a:xfrm>
          <a:prstGeom prst="rect">
            <a:avLst/>
          </a:prstGeom>
          <a:noFill/>
        </p:spPr>
        <p:txBody>
          <a:bodyPr wrap="square" anchor="t" lIns="0" rIns="0" tIns="0" bIns="0">
            <a:spAutoFit/>
          </a:bodyPr>
          <a:lstStyle/>
          <a:p>
            <a:pPr algn="l"/>
            <a:r>
              <a:rPr sz="900" b="0">
                <a:solidFill>
                  <a:srgbClr val="414141"/>
                </a:solidFill>
                <a:latin typeface="Calibri"/>
              </a:rPr>
              <a:t>Official portal + researched filing steps — all 50 states + DC</a:t>
            </a:r>
          </a:p>
        </p:txBody>
      </p:sp>
      <p:sp>
        <p:nvSpPr>
          <p:cNvPr id="38" name="Rounded Rectangle 37"/>
          <p:cNvSpPr/>
          <p:nvPr/>
        </p:nvSpPr>
        <p:spPr>
          <a:xfrm>
            <a:off x="6446520" y="4868807"/>
            <a:ext cx="237744" cy="237744"/>
          </a:xfrm>
          <a:prstGeom prst="roundRect">
            <a:avLst>
              <a:gd name="adj" fmla="val 50000"/>
            </a:avLst>
          </a:prstGeom>
          <a:solidFill>
            <a:srgbClr val="FCC062"/>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800" b="1">
                <a:solidFill>
                  <a:srgbClr val="FFFFFF"/>
                </a:solidFill>
                <a:latin typeface="Calibri"/>
              </a:rPr>
              <a:t>✓</a:t>
            </a:r>
          </a:p>
        </p:txBody>
      </p:sp>
      <p:sp>
        <p:nvSpPr>
          <p:cNvPr id="39" name="TextBox 38"/>
          <p:cNvSpPr txBox="1"/>
          <p:nvPr/>
        </p:nvSpPr>
        <p:spPr>
          <a:xfrm>
            <a:off x="6793992" y="4832232"/>
            <a:ext cx="4736592" cy="237744"/>
          </a:xfrm>
          <a:prstGeom prst="rect">
            <a:avLst/>
          </a:prstGeom>
          <a:noFill/>
        </p:spPr>
        <p:txBody>
          <a:bodyPr wrap="square" anchor="t" lIns="0" rIns="0" tIns="0" bIns="0">
            <a:spAutoFit/>
          </a:bodyPr>
          <a:lstStyle/>
          <a:p>
            <a:pPr algn="l"/>
            <a:r>
              <a:rPr sz="1100" b="1">
                <a:solidFill>
                  <a:srgbClr val="493356"/>
                </a:solidFill>
                <a:latin typeface="Calibri"/>
              </a:rPr>
              <a:t>Video explainer</a:t>
            </a:r>
          </a:p>
        </p:txBody>
      </p:sp>
      <p:sp>
        <p:nvSpPr>
          <p:cNvPr id="40" name="TextBox 39"/>
          <p:cNvSpPr txBox="1"/>
          <p:nvPr/>
        </p:nvSpPr>
        <p:spPr>
          <a:xfrm>
            <a:off x="6793992" y="5060832"/>
            <a:ext cx="4736592" cy="237744"/>
          </a:xfrm>
          <a:prstGeom prst="rect">
            <a:avLst/>
          </a:prstGeom>
          <a:noFill/>
        </p:spPr>
        <p:txBody>
          <a:bodyPr wrap="square" anchor="t" lIns="0" rIns="0" tIns="0" bIns="0">
            <a:spAutoFit/>
          </a:bodyPr>
          <a:lstStyle/>
          <a:p>
            <a:pPr algn="l"/>
            <a:r>
              <a:rPr sz="900" b="0">
                <a:solidFill>
                  <a:srgbClr val="414141"/>
                </a:solidFill>
                <a:latin typeface="Calibri"/>
              </a:rPr>
              <a:t>What unclaimed money is, and how to claim it directly</a:t>
            </a:r>
          </a:p>
        </p:txBody>
      </p:sp>
      <p:sp>
        <p:nvSpPr>
          <p:cNvPr id="201" name="NotifyHdr"/>
          <p:cNvSpPr txBox="1"/>
          <p:nvPr/>
        </p:nvSpPr>
        <p:spPr>
          <a:xfrm>
            <a:off x="6793992" y="5252232"/>
            <a:ext cx="4736592" cy="237744"/>
          </a:xfrm>
          <a:prstGeom prst="rect">
            <a:avLst/>
          </a:prstGeom>
          <a:noFill/>
        </p:spPr>
        <p:txBody>
          <a:bodyPr wrap="square" anchor="t" lIns="0" rIns="0" tIns="0" bIns="0">
            <a:spAutoFit/>
          </a:bodyPr>
          <a:lstStyle/>
          <a:p>
            <a:pPr algn="l"/>
            <a:r>
              <a:rPr sz="1100" b="1">
                <a:solidFill>
                  <a:srgbClr val="493356"/>
                </a:solidFill>
                <a:latin typeface="Calibri"/>
              </a:rPr>
              <a:t>Notify me when available</a:t>
            </a:r>
          </a:p>
        </p:txBody>
      </p:sp>
      <p:sp>
        <p:nvSpPr>
          <p:cNvPr id="202" name="NotifyChk"/>
          <p:cNvSpPr/>
          <p:nvPr/>
        </p:nvSpPr>
        <p:spPr>
          <a:xfrm>
            <a:off x="6446520" y="5288807"/>
            <a:ext cx="237744" cy="237744"/>
          </a:xfrm>
          <a:prstGeom prst="roundRect">
            <a:avLst>
              <a:gd name="adj" fmla="val 50000"/>
            </a:avLst>
          </a:prstGeom>
          <a:solidFill>
            <a:srgbClr val="FCC062"/>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800" b="1">
                <a:solidFill>
                  <a:srgbClr val="FFFFFF"/>
                </a:solidFill>
                <a:latin typeface="Calibri"/>
              </a:rPr>
              <a:t>✓</a:t>
            </a:r>
          </a:p>
        </p:txBody>
      </p:sp>
      <p:sp>
        <p:nvSpPr>
          <p:cNvPr id="203" name="NotifyDesc"/>
          <p:cNvSpPr txBox="1"/>
          <p:nvPr/>
        </p:nvSpPr>
        <p:spPr>
          <a:xfrm>
            <a:off x="6793992" y="5480832"/>
            <a:ext cx="4736592" cy="237744"/>
          </a:xfrm>
          <a:prstGeom prst="rect">
            <a:avLst/>
          </a:prstGeom>
          <a:noFill/>
        </p:spPr>
        <p:txBody>
          <a:bodyPr wrap="square" anchor="t" lIns="0" rIns="0" tIns="0" bIns="0">
            <a:spAutoFit/>
          </a:bodyPr>
          <a:lstStyle/>
          <a:p>
            <a:pPr algn="l"/>
            <a:r>
              <a:rPr sz="900" b="0">
                <a:solidFill>
                  <a:srgbClr val="414141"/>
                </a:solidFill>
                <a:latin typeface="Calibri"/>
              </a:rPr>
              <a:t>Join a waitlist; we alert you when your state goes live.</a:t>
            </a:r>
          </a:p>
        </p:txBody>
      </p:sp>
      <p:sp>
        <p:nvSpPr>
          <p:cNvPr id="210" name="Step2Banner"/>
          <p:cNvSpPr/>
          <p:nvPr/>
        </p:nvSpPr>
        <p:spPr>
          <a:xfrm>
            <a:off x="2743200" y="2360000"/>
            <a:ext cx="6675120" cy="560000"/>
          </a:xfrm>
          <a:prstGeom prst="roundRect">
            <a:avLst>
              <a:gd name="adj" fmla="val 12000"/>
            </a:avLst>
          </a:prstGeom>
          <a:solidFill>
            <a:srgbClr val="E4ECF7"/>
          </a:solidFill>
          <a:ln>
            <a:noFill/>
          </a:ln>
        </p:spPr>
        <p:txBody>
          <a:bodyPr/>
          <a:lstStyle/>
          <a:p/>
        </p:txBody>
      </p:sp>
      <p:sp>
        <p:nvSpPr>
          <p:cNvPr id="211" name="Step2Dot"/>
          <p:cNvSpPr/>
          <p:nvPr/>
        </p:nvSpPr>
        <p:spPr>
          <a:xfrm>
            <a:off x="2971800" y="2500000"/>
            <a:ext cx="329184" cy="329184"/>
          </a:xfrm>
          <a:prstGeom prst="ellipse">
            <a:avLst/>
          </a:prstGeom>
          <a:solidFill>
            <a:srgbClr val="3058A3"/>
          </a:solidFill>
          <a:ln>
            <a:noFill/>
          </a:ln>
        </p:spPr>
        <p:txBody>
          <a:bodyPr/>
          <a:lstStyle/>
          <a:p/>
        </p:txBody>
      </p:sp>
      <p:sp>
        <p:nvSpPr>
          <p:cNvPr id="212" name="Step2Num"/>
          <p:cNvSpPr txBox="1"/>
          <p:nvPr/>
        </p:nvSpPr>
        <p:spPr>
          <a:xfrm>
            <a:off x="2971800" y="2555000"/>
            <a:ext cx="329184" cy="260000"/>
          </a:xfrm>
          <a:prstGeom prst="rect">
            <a:avLst/>
          </a:prstGeom>
          <a:noFill/>
        </p:spPr>
        <p:txBody>
          <a:bodyPr wrap="square" anchor="t" lIns="0" rIns="0" tIns="0" bIns="0"/>
          <a:lstStyle/>
          <a:p>
            <a:pPr algn="ctr"/>
            <a:r>
              <a:rPr sz="1400" b="1">
                <a:solidFill>
                  <a:srgbClr val="FFFFFF"/>
                </a:solidFill>
                <a:latin typeface="Calibri"/>
              </a:rPr>
              <a:t>2</a:t>
            </a:r>
          </a:p>
        </p:txBody>
      </p:sp>
      <p:sp>
        <p:nvSpPr>
          <p:cNvPr id="213" name="Step2Title"/>
          <p:cNvSpPr txBox="1"/>
          <p:nvPr/>
        </p:nvSpPr>
        <p:spPr>
          <a:xfrm>
            <a:off x="3429000" y="2455000"/>
            <a:ext cx="5760720" cy="250000"/>
          </a:xfrm>
          <a:prstGeom prst="rect">
            <a:avLst/>
          </a:prstGeom>
          <a:noFill/>
        </p:spPr>
        <p:txBody>
          <a:bodyPr wrap="square" anchor="t" lIns="0" rIns="0" tIns="0" bIns="0"/>
          <a:lstStyle/>
          <a:p>
            <a:pPr algn="l"/>
            <a:r>
              <a:rPr sz="1400" b="1">
                <a:solidFill>
                  <a:srgbClr val="493356"/>
                </a:solidFill>
                <a:latin typeface="Calibri"/>
              </a:rPr>
              <a:t>Select the states you’ve lived in</a:t>
            </a:r>
          </a:p>
        </p:txBody>
      </p:sp>
      <p:sp>
        <p:nvSpPr>
          <p:cNvPr id="214" name="Step2Sub"/>
          <p:cNvSpPr txBox="1"/>
          <p:nvPr/>
        </p:nvSpPr>
        <p:spPr>
          <a:xfrm>
            <a:off x="3429000" y="2720000"/>
            <a:ext cx="5760720" cy="230000"/>
          </a:xfrm>
          <a:prstGeom prst="rect">
            <a:avLst/>
          </a:prstGeom>
          <a:noFill/>
        </p:spPr>
        <p:txBody>
          <a:bodyPr wrap="square" anchor="t" lIns="0" rIns="0" tIns="0" bIns="0"/>
          <a:lstStyle/>
          <a:p>
            <a:pPr algn="l"/>
            <a:r>
              <a:rPr sz="1000" b="0">
                <a:solidFill>
                  <a:srgbClr val="414141"/>
                </a:solidFill>
                <a:latin typeface="Calibri"/>
              </a:rPr>
              <a:t>Current + past addresses — we widen the search to catch money you may have left behind.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88952" cy="6858000"/>
          </a:xfrm>
          <a:prstGeom prst="rect">
            <a:avLst/>
          </a:prstGeom>
          <a:solidFill>
            <a:srgbClr val="F5F4F7"/>
          </a:solidFill>
          <a:ln>
            <a:noFill/>
          </a:ln>
        </p:spPr>
        <p:txBody>
          <a:bodyPr/>
          <a:lstStyle/>
          <a:p/>
        </p:txBody>
      </p:sp>
      <p:sp>
        <p:nvSpPr>
          <p:cNvPr id="3" name="TopBar"/>
          <p:cNvSpPr/>
          <p:nvPr/>
        </p:nvSpPr>
        <p:spPr>
          <a:xfrm>
            <a:off x="0" y="0"/>
            <a:ext cx="12188952" cy="54864"/>
          </a:xfrm>
          <a:prstGeom prst="rect">
            <a:avLst/>
          </a:prstGeom>
          <a:solidFill>
            <a:srgbClr val="3058A3"/>
          </a:solidFill>
          <a:ln>
            <a:noFill/>
          </a:ln>
        </p:spPr>
        <p:txBody>
          <a:bodyPr/>
          <a:lstStyle/>
          <a:p/>
        </p:txBody>
      </p:sp>
      <p:sp>
        <p:nvSpPr>
          <p:cNvPr id="4" name="Logo"/>
          <p:cNvSpPr txBox="1"/>
          <p:nvPr/>
        </p:nvSpPr>
        <p:spPr>
          <a:xfrm>
            <a:off x="457200" y="164592"/>
            <a:ext cx="2286000" cy="329184"/>
          </a:xfrm>
          <a:prstGeom prst="rect">
            <a:avLst/>
          </a:prstGeom>
          <a:noFill/>
        </p:spPr>
        <p:txBody>
          <a:bodyPr wrap="square" anchor="t" lIns="0" rIns="0" tIns="0" bIns="0"/>
          <a:lstStyle/>
          <a:p>
            <a:pPr algn="l"/>
            <a:r>
              <a:rPr sz="1600" b="1">
                <a:solidFill>
                  <a:srgbClr val="493356"/>
                </a:solidFill>
                <a:latin typeface="Calibri"/>
              </a:rPr>
              <a:t>CONSUMER</a:t>
            </a:r>
            <a:r>
              <a:rPr sz="1600" b="1">
                <a:solidFill>
                  <a:srgbClr val="3058A3"/>
                </a:solidFill>
                <a:latin typeface="Calibri"/>
              </a:rPr>
              <a:t>DIRECT</a:t>
            </a:r>
          </a:p>
        </p:txBody>
      </p:sp>
      <p:sp>
        <p:nvSpPr>
          <p:cNvPr id="5" name="tx"/>
          <p:cNvSpPr txBox="1"/>
          <p:nvPr/>
        </p:nvSpPr>
        <p:spPr>
          <a:xfrm>
            <a:off x="457200" y="749808"/>
            <a:ext cx="11430000" cy="560000"/>
          </a:xfrm>
          <a:prstGeom prst="rect">
            <a:avLst/>
          </a:prstGeom>
          <a:noFill/>
        </p:spPr>
        <p:txBody>
          <a:bodyPr wrap="square" anchor="t" lIns="0" rIns="0" tIns="0" bIns="0"/>
          <a:lstStyle/>
          <a:p>
            <a:pPr algn="l"/>
            <a:r>
              <a:rPr sz="2800" b="1">
                <a:solidFill>
                  <a:srgbClr val="493356"/>
                </a:solidFill>
                <a:latin typeface="Calibri"/>
              </a:rPr>
              <a:t>Go-To-Market: Landing Page</a:t>
            </a:r>
          </a:p>
        </p:txBody>
      </p:sp>
      <p:sp>
        <p:nvSpPr>
          <p:cNvPr id="6" name="tx"/>
          <p:cNvSpPr txBox="1"/>
          <p:nvPr/>
        </p:nvSpPr>
        <p:spPr>
          <a:xfrm>
            <a:off x="457200" y="1372000"/>
            <a:ext cx="11430000" cy="420000"/>
          </a:xfrm>
          <a:prstGeom prst="rect">
            <a:avLst/>
          </a:prstGeom>
          <a:noFill/>
        </p:spPr>
        <p:txBody>
          <a:bodyPr wrap="square" anchor="t" lIns="0" rIns="0" tIns="0" bIns="0"/>
          <a:lstStyle/>
          <a:p>
            <a:pPr algn="l"/>
            <a:r>
              <a:rPr sz="1500" b="0">
                <a:solidFill>
                  <a:srgbClr val="414141"/>
                </a:solidFill>
                <a:latin typeface="Calibri"/>
              </a:rPr>
              <a:t>Example consumer landing page — the smartcredit.com look, running the unclaimed-money search.</a:t>
            </a:r>
          </a:p>
        </p:txBody>
      </p:sp>
      <p:sp>
        <p:nvSpPr>
          <p:cNvPr id="7" name="tx"/>
          <p:cNvSpPr txBox="1"/>
          <p:nvPr/>
        </p:nvSpPr>
        <p:spPr>
          <a:xfrm>
            <a:off x="457200" y="6446520"/>
            <a:ext cx="7315200" cy="274320"/>
          </a:xfrm>
          <a:prstGeom prst="rect">
            <a:avLst/>
          </a:prstGeom>
          <a:noFill/>
        </p:spPr>
        <p:txBody>
          <a:bodyPr wrap="square" anchor="t" lIns="0" rIns="0" tIns="0" bIns="0"/>
          <a:lstStyle/>
          <a:p>
            <a:pPr algn="l"/>
            <a:r>
              <a:rPr sz="900" b="0">
                <a:solidFill>
                  <a:srgbClr val="8A8A8A"/>
                </a:solidFill>
                <a:latin typeface="Calibri"/>
              </a:rPr>
              <a:t>GetMyMoney · Confidential — Consumer Direct, Inc.</a:t>
            </a:r>
          </a:p>
        </p:txBody>
      </p:sp>
      <p:sp>
        <p:nvSpPr>
          <p:cNvPr id="8" name="tx"/>
          <p:cNvSpPr txBox="1"/>
          <p:nvPr/>
        </p:nvSpPr>
        <p:spPr>
          <a:xfrm>
            <a:off x="11338560" y="6446520"/>
            <a:ext cx="731520" cy="274320"/>
          </a:xfrm>
          <a:prstGeom prst="rect">
            <a:avLst/>
          </a:prstGeom>
          <a:noFill/>
        </p:spPr>
        <p:txBody>
          <a:bodyPr wrap="square" anchor="t" lIns="0" rIns="0" tIns="0" bIns="0"/>
          <a:lstStyle/>
          <a:p>
            <a:pPr algn="r"/>
            <a:r>
              <a:rPr sz="900" b="0">
                <a:solidFill>
                  <a:srgbClr val="8A8A8A"/>
                </a:solidFill>
                <a:latin typeface="Calibri"/>
              </a:rPr>
              <a:t>11 / 15</a:t>
            </a:r>
          </a:p>
        </p:txBody>
      </p:sp>
      <p:sp>
        <p:nvSpPr>
          <p:cNvPr id="9" name="frame"/>
          <p:cNvSpPr/>
          <p:nvPr/>
        </p:nvSpPr>
        <p:spPr>
          <a:xfrm>
            <a:off x="457200" y="1820000"/>
            <a:ext cx="11274552" cy="4540000"/>
          </a:xfrm>
          <a:prstGeom prst="roundRect">
            <a:avLst>
              <a:gd name="adj" fmla="val 4000"/>
            </a:avLst>
          </a:prstGeom>
          <a:solidFill>
            <a:srgbClr val="FFFFFF"/>
          </a:solidFill>
          <a:ln>
            <a:noFill/>
          </a:ln>
        </p:spPr>
        <p:txBody>
          <a:bodyPr/>
          <a:lstStyle/>
          <a:p/>
        </p:txBody>
      </p:sp>
      <p:sp>
        <p:nvSpPr>
          <p:cNvPr id="10" name="chrome"/>
          <p:cNvSpPr/>
          <p:nvPr/>
        </p:nvSpPr>
        <p:spPr>
          <a:xfrm>
            <a:off x="457200" y="1820000"/>
            <a:ext cx="11274552" cy="300000"/>
          </a:xfrm>
          <a:prstGeom prst="roundRect">
            <a:avLst>
              <a:gd name="adj" fmla="val 4000"/>
            </a:avLst>
          </a:prstGeom>
          <a:solidFill>
            <a:srgbClr val="E7E6E6"/>
          </a:solidFill>
          <a:ln>
            <a:noFill/>
          </a:ln>
        </p:spPr>
        <p:txBody>
          <a:bodyPr/>
          <a:lstStyle/>
          <a:p/>
        </p:txBody>
      </p:sp>
      <p:sp>
        <p:nvSpPr>
          <p:cNvPr id="11" name="chromefill"/>
          <p:cNvSpPr/>
          <p:nvPr/>
        </p:nvSpPr>
        <p:spPr>
          <a:xfrm>
            <a:off x="457200" y="1970000"/>
            <a:ext cx="11274552" cy="150000"/>
          </a:xfrm>
          <a:prstGeom prst="rect">
            <a:avLst/>
          </a:prstGeom>
          <a:solidFill>
            <a:srgbClr val="E7E6E6"/>
          </a:solidFill>
          <a:ln>
            <a:noFill/>
          </a:ln>
        </p:spPr>
        <p:txBody>
          <a:bodyPr/>
          <a:lstStyle/>
          <a:p/>
        </p:txBody>
      </p:sp>
      <p:sp>
        <p:nvSpPr>
          <p:cNvPr id="12" name="dot"/>
          <p:cNvSpPr/>
          <p:nvPr/>
        </p:nvSpPr>
        <p:spPr>
          <a:xfrm>
            <a:off x="657200" y="1925000"/>
            <a:ext cx="90000" cy="90000"/>
          </a:xfrm>
          <a:prstGeom prst="ellipse">
            <a:avLst/>
          </a:prstGeom>
          <a:solidFill>
            <a:srgbClr val="F96167"/>
          </a:solidFill>
          <a:ln>
            <a:noFill/>
          </a:ln>
        </p:spPr>
        <p:txBody>
          <a:bodyPr/>
          <a:lstStyle/>
          <a:p/>
        </p:txBody>
      </p:sp>
      <p:sp>
        <p:nvSpPr>
          <p:cNvPr id="13" name="dot"/>
          <p:cNvSpPr/>
          <p:nvPr/>
        </p:nvSpPr>
        <p:spPr>
          <a:xfrm>
            <a:off x="857200" y="1925000"/>
            <a:ext cx="90000" cy="90000"/>
          </a:xfrm>
          <a:prstGeom prst="ellipse">
            <a:avLst/>
          </a:prstGeom>
          <a:solidFill>
            <a:srgbClr val="FCC062"/>
          </a:solidFill>
          <a:ln>
            <a:noFill/>
          </a:ln>
        </p:spPr>
        <p:txBody>
          <a:bodyPr/>
          <a:lstStyle/>
          <a:p/>
        </p:txBody>
      </p:sp>
      <p:sp>
        <p:nvSpPr>
          <p:cNvPr id="14" name="dot"/>
          <p:cNvSpPr/>
          <p:nvPr/>
        </p:nvSpPr>
        <p:spPr>
          <a:xfrm>
            <a:off x="1057200" y="1925000"/>
            <a:ext cx="90000" cy="90000"/>
          </a:xfrm>
          <a:prstGeom prst="ellipse">
            <a:avLst/>
          </a:prstGeom>
          <a:solidFill>
            <a:srgbClr val="059669"/>
          </a:solidFill>
          <a:ln>
            <a:noFill/>
          </a:ln>
        </p:spPr>
        <p:txBody>
          <a:bodyPr/>
          <a:lstStyle/>
          <a:p/>
        </p:txBody>
      </p:sp>
      <p:sp>
        <p:nvSpPr>
          <p:cNvPr id="15" name="urlpill"/>
          <p:cNvSpPr/>
          <p:nvPr/>
        </p:nvSpPr>
        <p:spPr>
          <a:xfrm>
            <a:off x="1277200" y="1890000"/>
            <a:ext cx="3600000" cy="165000"/>
          </a:xfrm>
          <a:prstGeom prst="roundRect">
            <a:avLst>
              <a:gd name="adj" fmla="val 40000"/>
            </a:avLst>
          </a:prstGeom>
          <a:solidFill>
            <a:srgbClr val="FFFFFF"/>
          </a:solidFill>
          <a:ln>
            <a:noFill/>
          </a:ln>
        </p:spPr>
        <p:txBody>
          <a:bodyPr/>
          <a:lstStyle/>
          <a:p/>
        </p:txBody>
      </p:sp>
      <p:sp>
        <p:nvSpPr>
          <p:cNvPr id="16" name="tx"/>
          <p:cNvSpPr txBox="1"/>
          <p:nvPr/>
        </p:nvSpPr>
        <p:spPr>
          <a:xfrm>
            <a:off x="1417200" y="1915000"/>
            <a:ext cx="3400000" cy="150000"/>
          </a:xfrm>
          <a:prstGeom prst="rect">
            <a:avLst/>
          </a:prstGeom>
          <a:noFill/>
        </p:spPr>
        <p:txBody>
          <a:bodyPr wrap="square" anchor="t" lIns="0" rIns="0" tIns="0" bIns="0"/>
          <a:lstStyle/>
          <a:p>
            <a:pPr algn="l"/>
            <a:r>
              <a:rPr sz="850" b="0">
                <a:solidFill>
                  <a:srgbClr val="8A8A8A"/>
                </a:solidFill>
                <a:latin typeface="Calibri"/>
              </a:rPr>
              <a:t>smartcredit.com/getmymoney</a:t>
            </a:r>
          </a:p>
        </p:txBody>
      </p:sp>
      <p:sp>
        <p:nvSpPr>
          <p:cNvPr id="17" name="eyebadge"/>
          <p:cNvSpPr/>
          <p:nvPr/>
        </p:nvSpPr>
        <p:spPr>
          <a:xfrm>
            <a:off x="820000" y="2320000"/>
            <a:ext cx="300000" cy="300000"/>
          </a:xfrm>
          <a:prstGeom prst="roundRect">
            <a:avLst>
              <a:gd name="adj" fmla="val 20000"/>
            </a:avLst>
          </a:prstGeom>
          <a:solidFill>
            <a:srgbClr val="FCC062"/>
          </a:solidFill>
          <a:ln>
            <a:noFill/>
          </a:ln>
        </p:spPr>
        <p:txBody>
          <a:bodyPr/>
          <a:lstStyle/>
          <a:p/>
        </p:txBody>
      </p:sp>
      <p:sp>
        <p:nvSpPr>
          <p:cNvPr id="18" name="tx"/>
          <p:cNvSpPr txBox="1"/>
          <p:nvPr/>
        </p:nvSpPr>
        <p:spPr>
          <a:xfrm>
            <a:off x="878000" y="2370000"/>
            <a:ext cx="250000" cy="220000"/>
          </a:xfrm>
          <a:prstGeom prst="rect">
            <a:avLst/>
          </a:prstGeom>
          <a:noFill/>
        </p:spPr>
        <p:txBody>
          <a:bodyPr wrap="square" anchor="t" lIns="0" rIns="0" tIns="0" bIns="0"/>
          <a:lstStyle/>
          <a:p>
            <a:pPr algn="ctr"/>
            <a:r>
              <a:rPr sz="1100" b="1">
                <a:solidFill>
                  <a:srgbClr val="FFFFFF"/>
                </a:solidFill>
                <a:latin typeface="Calibri"/>
              </a:rPr>
              <a:t>$</a:t>
            </a:r>
          </a:p>
        </p:txBody>
      </p:sp>
      <p:sp>
        <p:nvSpPr>
          <p:cNvPr id="19" name="tx"/>
          <p:cNvSpPr txBox="1"/>
          <p:nvPr/>
        </p:nvSpPr>
        <p:spPr>
          <a:xfrm>
            <a:off x="1220000" y="2360000"/>
            <a:ext cx="4650000" cy="230000"/>
          </a:xfrm>
          <a:prstGeom prst="rect">
            <a:avLst/>
          </a:prstGeom>
          <a:noFill/>
        </p:spPr>
        <p:txBody>
          <a:bodyPr wrap="square" anchor="t" lIns="0" rIns="0" tIns="0" bIns="0"/>
          <a:lstStyle/>
          <a:p>
            <a:pPr algn="l"/>
            <a:r>
              <a:rPr sz="1000" b="1" spc="80">
                <a:solidFill>
                  <a:srgbClr val="FCC062"/>
                </a:solidFill>
                <a:latin typeface="Calibri"/>
              </a:rPr>
              <a:t>POTENTIAL MATCH FOUND</a:t>
            </a:r>
          </a:p>
        </p:txBody>
      </p:sp>
      <p:sp>
        <p:nvSpPr>
          <p:cNvPr id="20" name="tx"/>
          <p:cNvSpPr txBox="1"/>
          <p:nvPr/>
        </p:nvSpPr>
        <p:spPr>
          <a:xfrm>
            <a:off x="820000" y="2640000"/>
            <a:ext cx="5050000" cy="1080000"/>
          </a:xfrm>
          <a:prstGeom prst="rect">
            <a:avLst/>
          </a:prstGeom>
          <a:noFill/>
        </p:spPr>
        <p:txBody>
          <a:bodyPr wrap="square" anchor="t" lIns="0" rIns="0" tIns="0" bIns="0"/>
          <a:lstStyle/>
          <a:p>
            <a:pPr algn="l">
              <a:lnSpc>
                <a:spcPct val="104000"/>
              </a:lnSpc>
            </a:pPr>
            <a:r>
              <a:rPr sz="2100" b="1">
                <a:solidFill>
                  <a:srgbClr val="493356"/>
                </a:solidFill>
                <a:latin typeface="Calibri"/>
              </a:rPr>
              <a:t>Unclaimed money the state may be holding in your name</a:t>
            </a:r>
          </a:p>
        </p:txBody>
      </p:sp>
      <p:sp>
        <p:nvSpPr>
          <p:cNvPr id="21" name="tx"/>
          <p:cNvSpPr txBox="1"/>
          <p:nvPr/>
        </p:nvSpPr>
        <p:spPr>
          <a:xfrm>
            <a:off x="820000" y="3760000"/>
            <a:ext cx="5050000" cy="520000"/>
          </a:xfrm>
          <a:prstGeom prst="rect">
            <a:avLst/>
          </a:prstGeom>
          <a:noFill/>
        </p:spPr>
        <p:txBody>
          <a:bodyPr wrap="square" anchor="t" lIns="0" rIns="0" tIns="0" bIns="0"/>
          <a:lstStyle/>
          <a:p>
            <a:pPr algn="l">
              <a:lnSpc>
                <a:spcPct val="108000"/>
              </a:lnSpc>
            </a:pPr>
            <a:r>
              <a:rPr sz="1300" b="0">
                <a:solidFill>
                  <a:srgbClr val="414141"/>
                </a:solidFill>
                <a:latin typeface="Calibri"/>
              </a:rPr>
              <a:t>Nearly $70 billion is sitting with state treasurers. Is any of it yours?</a:t>
            </a:r>
          </a:p>
        </p:txBody>
      </p:sp>
      <p:sp>
        <p:nvSpPr>
          <p:cNvPr id="22" name="cta"/>
          <p:cNvSpPr/>
          <p:nvPr/>
        </p:nvSpPr>
        <p:spPr>
          <a:xfrm>
            <a:off x="820000" y="4300000"/>
            <a:ext cx="3150000" cy="470000"/>
          </a:xfrm>
          <a:prstGeom prst="roundRect">
            <a:avLst>
              <a:gd name="adj" fmla="val 16000"/>
            </a:avLst>
          </a:prstGeom>
          <a:solidFill>
            <a:srgbClr val="EF5E33"/>
          </a:solidFill>
          <a:ln>
            <a:noFill/>
          </a:ln>
        </p:spPr>
        <p:txBody>
          <a:bodyPr/>
          <a:lstStyle/>
          <a:p/>
        </p:txBody>
      </p:sp>
      <p:sp>
        <p:nvSpPr>
          <p:cNvPr id="23" name="tx"/>
          <p:cNvSpPr txBox="1"/>
          <p:nvPr/>
        </p:nvSpPr>
        <p:spPr>
          <a:xfrm>
            <a:off x="820000" y="4410000"/>
            <a:ext cx="3150000" cy="280000"/>
          </a:xfrm>
          <a:prstGeom prst="rect">
            <a:avLst/>
          </a:prstGeom>
          <a:noFill/>
        </p:spPr>
        <p:txBody>
          <a:bodyPr wrap="square" anchor="t" lIns="0" rIns="0" tIns="0" bIns="0"/>
          <a:lstStyle/>
          <a:p>
            <a:pPr algn="ctr"/>
            <a:r>
              <a:rPr sz="1300" b="1">
                <a:solidFill>
                  <a:srgbClr val="FFFFFF"/>
                </a:solidFill>
                <a:latin typeface="Calibri"/>
              </a:rPr>
              <a:t>See my potential matches →</a:t>
            </a:r>
          </a:p>
        </p:txBody>
      </p:sp>
      <p:sp>
        <p:nvSpPr>
          <p:cNvPr id="24" name="tx"/>
          <p:cNvSpPr txBox="1"/>
          <p:nvPr/>
        </p:nvSpPr>
        <p:spPr>
          <a:xfrm>
            <a:off x="820000" y="4920000"/>
            <a:ext cx="5050000" cy="230000"/>
          </a:xfrm>
          <a:prstGeom prst="rect">
            <a:avLst/>
          </a:prstGeom>
          <a:noFill/>
        </p:spPr>
        <p:txBody>
          <a:bodyPr wrap="square" anchor="t" lIns="0" rIns="0" tIns="0" bIns="0"/>
          <a:lstStyle/>
          <a:p>
            <a:pPr algn="l"/>
            <a:r>
              <a:rPr sz="1000" b="1">
                <a:solidFill>
                  <a:srgbClr val="059669"/>
                </a:solidFill>
                <a:latin typeface="Calibri"/>
              </a:rPr>
              <a:t xml:space="preserve">✓ 50 states covered      </a:t>
            </a:r>
            <a:r>
              <a:rPr sz="1000" b="1">
                <a:solidFill>
                  <a:srgbClr val="059669"/>
                </a:solidFill>
                <a:latin typeface="Calibri"/>
              </a:rPr>
              <a:t xml:space="preserve">✓ Auto-monitoring in 22      </a:t>
            </a:r>
            <a:r>
              <a:rPr sz="1000" b="1">
                <a:solidFill>
                  <a:srgbClr val="059669"/>
                </a:solidFill>
                <a:latin typeface="Calibri"/>
              </a:rPr>
              <a:t>✓ You decide</a:t>
            </a:r>
          </a:p>
        </p:txBody>
      </p:sp>
      <p:sp>
        <p:nvSpPr>
          <p:cNvPr id="25" name="tx"/>
          <p:cNvSpPr txBox="1"/>
          <p:nvPr/>
        </p:nvSpPr>
        <p:spPr>
          <a:xfrm>
            <a:off x="820000" y="5210000"/>
            <a:ext cx="5050000" cy="220000"/>
          </a:xfrm>
          <a:prstGeom prst="rect">
            <a:avLst/>
          </a:prstGeom>
          <a:noFill/>
        </p:spPr>
        <p:txBody>
          <a:bodyPr wrap="square" anchor="t" lIns="0" rIns="0" tIns="0" bIns="0"/>
          <a:lstStyle/>
          <a:p>
            <a:pPr algn="l"/>
            <a:r>
              <a:rPr sz="950" b="0" i="1">
                <a:solidFill>
                  <a:srgbClr val="8A8A8A"/>
                </a:solidFill>
                <a:latin typeface="Calibri"/>
              </a:rPr>
              <a:t>Included with your SmartCredit membership.</a:t>
            </a:r>
          </a:p>
        </p:txBody>
      </p:sp>
      <p:sp>
        <p:nvSpPr>
          <p:cNvPr id="26" name="cardshadow"/>
          <p:cNvSpPr/>
          <p:nvPr/>
        </p:nvSpPr>
        <p:spPr>
          <a:xfrm>
            <a:off x="6490000" y="2320000"/>
            <a:ext cx="4220000" cy="2620000"/>
          </a:xfrm>
          <a:prstGeom prst="roundRect">
            <a:avLst>
              <a:gd name="adj" fmla="val 7000"/>
            </a:avLst>
          </a:prstGeom>
          <a:solidFill>
            <a:srgbClr val="D5D9E2"/>
          </a:solidFill>
          <a:ln>
            <a:noFill/>
          </a:ln>
        </p:spPr>
        <p:txBody>
          <a:bodyPr/>
          <a:lstStyle/>
          <a:p/>
        </p:txBody>
      </p:sp>
      <p:sp>
        <p:nvSpPr>
          <p:cNvPr id="27" name="card"/>
          <p:cNvSpPr/>
          <p:nvPr/>
        </p:nvSpPr>
        <p:spPr>
          <a:xfrm>
            <a:off x="6520000" y="2280000"/>
            <a:ext cx="4220000" cy="2620000"/>
          </a:xfrm>
          <a:prstGeom prst="roundRect">
            <a:avLst>
              <a:gd name="adj" fmla="val 7000"/>
            </a:avLst>
          </a:prstGeom>
          <a:solidFill>
            <a:srgbClr val="FFFFFF"/>
          </a:solidFill>
          <a:ln>
            <a:noFill/>
          </a:ln>
        </p:spPr>
        <p:txBody>
          <a:bodyPr/>
          <a:lstStyle/>
          <a:p/>
        </p:txBody>
      </p:sp>
      <p:sp>
        <p:nvSpPr>
          <p:cNvPr id="28" name="tx"/>
          <p:cNvSpPr txBox="1"/>
          <p:nvPr/>
        </p:nvSpPr>
        <p:spPr>
          <a:xfrm>
            <a:off x="6780000" y="2460000"/>
            <a:ext cx="3700000" cy="210000"/>
          </a:xfrm>
          <a:prstGeom prst="rect">
            <a:avLst/>
          </a:prstGeom>
          <a:noFill/>
        </p:spPr>
        <p:txBody>
          <a:bodyPr wrap="square" anchor="t" lIns="0" rIns="0" tIns="0" bIns="0"/>
          <a:lstStyle/>
          <a:p>
            <a:pPr algn="l"/>
            <a:r>
              <a:rPr sz="850" b="1" spc="80">
                <a:solidFill>
                  <a:srgbClr val="FCC062"/>
                </a:solidFill>
                <a:latin typeface="Calibri"/>
              </a:rPr>
              <a:t>POTENTIAL MATCH</a:t>
            </a:r>
          </a:p>
        </p:txBody>
      </p:sp>
      <p:sp>
        <p:nvSpPr>
          <p:cNvPr id="29" name="dc"/>
          <p:cNvSpPr/>
          <p:nvPr/>
        </p:nvSpPr>
        <p:spPr>
          <a:xfrm>
            <a:off x="6780000" y="2740000"/>
            <a:ext cx="400000" cy="400000"/>
          </a:xfrm>
          <a:prstGeom prst="ellipse">
            <a:avLst/>
          </a:prstGeom>
          <a:solidFill>
            <a:srgbClr val="52CCF3"/>
          </a:solidFill>
          <a:ln>
            <a:noFill/>
          </a:ln>
        </p:spPr>
        <p:txBody>
          <a:bodyPr/>
          <a:lstStyle/>
          <a:p/>
        </p:txBody>
      </p:sp>
      <p:sp>
        <p:nvSpPr>
          <p:cNvPr id="30" name="tx"/>
          <p:cNvSpPr txBox="1"/>
          <p:nvPr/>
        </p:nvSpPr>
        <p:spPr>
          <a:xfrm>
            <a:off x="6780000" y="2810000"/>
            <a:ext cx="400000" cy="300000"/>
          </a:xfrm>
          <a:prstGeom prst="rect">
            <a:avLst/>
          </a:prstGeom>
          <a:noFill/>
        </p:spPr>
        <p:txBody>
          <a:bodyPr wrap="square" anchor="t" lIns="0" rIns="0" tIns="0" bIns="0"/>
          <a:lstStyle/>
          <a:p>
            <a:pPr algn="ctr"/>
            <a:r>
              <a:rPr sz="1400" b="1">
                <a:solidFill>
                  <a:srgbClr val="FFFFFF"/>
                </a:solidFill>
                <a:latin typeface="Calibri"/>
              </a:rPr>
              <a:t>$</a:t>
            </a:r>
          </a:p>
        </p:txBody>
      </p:sp>
      <p:sp>
        <p:nvSpPr>
          <p:cNvPr id="31" name="tx"/>
          <p:cNvSpPr txBox="1"/>
          <p:nvPr/>
        </p:nvSpPr>
        <p:spPr>
          <a:xfrm>
            <a:off x="7300000" y="2760000"/>
            <a:ext cx="3180000" cy="250000"/>
          </a:xfrm>
          <a:prstGeom prst="rect">
            <a:avLst/>
          </a:prstGeom>
          <a:noFill/>
        </p:spPr>
        <p:txBody>
          <a:bodyPr wrap="square" anchor="t" lIns="0" rIns="0" tIns="0" bIns="0"/>
          <a:lstStyle/>
          <a:p>
            <a:pPr algn="l"/>
            <a:r>
              <a:rPr sz="1200" b="1">
                <a:solidFill>
                  <a:srgbClr val="493356"/>
                </a:solidFill>
                <a:latin typeface="Calibri"/>
              </a:rPr>
              <a:t>Credit Balance</a:t>
            </a:r>
          </a:p>
        </p:txBody>
      </p:sp>
      <p:sp>
        <p:nvSpPr>
          <p:cNvPr id="32" name="tx"/>
          <p:cNvSpPr txBox="1"/>
          <p:nvPr/>
        </p:nvSpPr>
        <p:spPr>
          <a:xfrm>
            <a:off x="7300000" y="3010000"/>
            <a:ext cx="3180000" cy="230000"/>
          </a:xfrm>
          <a:prstGeom prst="rect">
            <a:avLst/>
          </a:prstGeom>
          <a:noFill/>
        </p:spPr>
        <p:txBody>
          <a:bodyPr wrap="square" anchor="t" lIns="0" rIns="0" tIns="0" bIns="0"/>
          <a:lstStyle/>
          <a:p>
            <a:pPr algn="l"/>
            <a:r>
              <a:rPr sz="1000" b="0">
                <a:solidFill>
                  <a:srgbClr val="8A8A8A"/>
                </a:solidFill>
                <a:latin typeface="Calibri"/>
              </a:rPr>
              <a:t>Citibank N.A.</a:t>
            </a:r>
          </a:p>
        </p:txBody>
      </p:sp>
      <p:sp>
        <p:nvSpPr>
          <p:cNvPr id="33" name="tx"/>
          <p:cNvSpPr txBox="1"/>
          <p:nvPr/>
        </p:nvSpPr>
        <p:spPr>
          <a:xfrm>
            <a:off x="6780000" y="3320000"/>
            <a:ext cx="3700000" cy="420000"/>
          </a:xfrm>
          <a:prstGeom prst="rect">
            <a:avLst/>
          </a:prstGeom>
          <a:noFill/>
        </p:spPr>
        <p:txBody>
          <a:bodyPr wrap="square" anchor="t" lIns="0" rIns="0" tIns="0" bIns="0"/>
          <a:lstStyle/>
          <a:p>
            <a:pPr algn="l"/>
            <a:r>
              <a:rPr sz="2500" b="1">
                <a:solidFill>
                  <a:srgbClr val="EF5E33"/>
                </a:solidFill>
                <a:latin typeface="Calibri"/>
              </a:rPr>
              <a:t>$842.40</a:t>
            </a:r>
          </a:p>
        </p:txBody>
      </p:sp>
      <p:sp>
        <p:nvSpPr>
          <p:cNvPr id="34" name="tx"/>
          <p:cNvSpPr txBox="1"/>
          <p:nvPr/>
        </p:nvSpPr>
        <p:spPr>
          <a:xfrm>
            <a:off x="6780000" y="3750000"/>
            <a:ext cx="3700000" cy="200000"/>
          </a:xfrm>
          <a:prstGeom prst="rect">
            <a:avLst/>
          </a:prstGeom>
          <a:noFill/>
        </p:spPr>
        <p:txBody>
          <a:bodyPr wrap="square" anchor="t" lIns="0" rIns="0" tIns="0" bIns="0"/>
          <a:lstStyle/>
          <a:p>
            <a:pPr algn="l"/>
            <a:r>
              <a:rPr sz="800" b="0">
                <a:solidFill>
                  <a:srgbClr val="8A8A8A"/>
                </a:solidFill>
                <a:latin typeface="Calibri"/>
              </a:rPr>
              <a:t>ESTIMATED · state-reported</a:t>
            </a:r>
          </a:p>
        </p:txBody>
      </p:sp>
      <p:sp>
        <p:nvSpPr>
          <p:cNvPr id="35" name="tx"/>
          <p:cNvSpPr txBox="1"/>
          <p:nvPr/>
        </p:nvSpPr>
        <p:spPr>
          <a:xfrm>
            <a:off x="6780000" y="4040000"/>
            <a:ext cx="3700000" cy="220000"/>
          </a:xfrm>
          <a:prstGeom prst="rect">
            <a:avLst/>
          </a:prstGeom>
          <a:noFill/>
        </p:spPr>
        <p:txBody>
          <a:bodyPr wrap="square" anchor="t" lIns="0" rIns="0" tIns="0" bIns="0"/>
          <a:lstStyle/>
          <a:p>
            <a:pPr algn="l"/>
            <a:r>
              <a:rPr sz="950" b="0">
                <a:solidFill>
                  <a:srgbClr val="8A8A8A"/>
                </a:solidFill>
                <a:latin typeface="Calibri"/>
              </a:rPr>
              <a:t xml:space="preserve">Reported as   </a:t>
            </a:r>
            <a:r>
              <a:rPr sz="1000" b="1">
                <a:solidFill>
                  <a:srgbClr val="414141"/>
                </a:solidFill>
                <a:latin typeface="Calibri"/>
              </a:rPr>
              <a:t>Dunshea Williams R</a:t>
            </a:r>
          </a:p>
        </p:txBody>
      </p:sp>
      <p:sp>
        <p:nvSpPr>
          <p:cNvPr id="36" name="claim"/>
          <p:cNvSpPr/>
          <p:nvPr/>
        </p:nvSpPr>
        <p:spPr>
          <a:xfrm>
            <a:off x="6780000" y="4360000"/>
            <a:ext cx="1450000" cy="380000"/>
          </a:xfrm>
          <a:prstGeom prst="roundRect">
            <a:avLst>
              <a:gd name="adj" fmla="val 18000"/>
            </a:avLst>
          </a:prstGeom>
          <a:solidFill>
            <a:srgbClr val="EF5E33"/>
          </a:solidFill>
          <a:ln>
            <a:noFill/>
          </a:ln>
        </p:spPr>
        <p:txBody>
          <a:bodyPr/>
          <a:lstStyle/>
          <a:p/>
        </p:txBody>
      </p:sp>
      <p:sp>
        <p:nvSpPr>
          <p:cNvPr id="37" name="tx"/>
          <p:cNvSpPr txBox="1"/>
          <p:nvPr/>
        </p:nvSpPr>
        <p:spPr>
          <a:xfrm>
            <a:off x="6780000" y="4445000"/>
            <a:ext cx="1450000" cy="240000"/>
          </a:xfrm>
          <a:prstGeom prst="rect">
            <a:avLst/>
          </a:prstGeom>
          <a:noFill/>
        </p:spPr>
        <p:txBody>
          <a:bodyPr wrap="square" anchor="t" lIns="0" rIns="0" tIns="0" bIns="0"/>
          <a:lstStyle/>
          <a:p>
            <a:pPr algn="ctr"/>
            <a:r>
              <a:rPr sz="1100" b="1">
                <a:solidFill>
                  <a:srgbClr val="FFFFFF"/>
                </a:solidFill>
                <a:latin typeface="Calibri"/>
              </a:rPr>
              <a:t>Claim</a:t>
            </a:r>
          </a:p>
        </p:txBody>
      </p:sp>
      <p:sp>
        <p:nvSpPr>
          <p:cNvPr id="38" name="tx"/>
          <p:cNvSpPr txBox="1"/>
          <p:nvPr/>
        </p:nvSpPr>
        <p:spPr>
          <a:xfrm>
            <a:off x="8360000" y="4445000"/>
            <a:ext cx="2120000" cy="240000"/>
          </a:xfrm>
          <a:prstGeom prst="rect">
            <a:avLst/>
          </a:prstGeom>
          <a:noFill/>
        </p:spPr>
        <p:txBody>
          <a:bodyPr wrap="square" anchor="t" lIns="0" rIns="0" tIns="0" bIns="0"/>
          <a:lstStyle/>
          <a:p>
            <a:pPr algn="l"/>
            <a:r>
              <a:rPr sz="1050" b="1">
                <a:solidFill>
                  <a:srgbClr val="3058A3"/>
                </a:solidFill>
                <a:latin typeface="Calibri"/>
              </a:rPr>
              <a:t>Not me →</a:t>
            </a:r>
          </a:p>
        </p:txBody>
      </p:sp>
      <p:sp>
        <p:nvSpPr>
          <p:cNvPr id="39" name="band"/>
          <p:cNvSpPr/>
          <p:nvPr/>
        </p:nvSpPr>
        <p:spPr>
          <a:xfrm>
            <a:off x="620000" y="5240000"/>
            <a:ext cx="10940000" cy="1010000"/>
          </a:xfrm>
          <a:prstGeom prst="roundRect">
            <a:avLst>
              <a:gd name="adj" fmla="val 8000"/>
            </a:avLst>
          </a:prstGeom>
          <a:solidFill>
            <a:srgbClr val="EAF0FA"/>
          </a:solidFill>
          <a:ln>
            <a:noFill/>
          </a:ln>
        </p:spPr>
        <p:txBody>
          <a:bodyPr/>
          <a:lstStyle/>
          <a:p/>
        </p:txBody>
      </p:sp>
      <p:sp>
        <p:nvSpPr>
          <p:cNvPr id="40" name="sn"/>
          <p:cNvSpPr/>
          <p:nvPr/>
        </p:nvSpPr>
        <p:spPr>
          <a:xfrm>
            <a:off x="820000" y="5440000"/>
            <a:ext cx="300000" cy="300000"/>
          </a:xfrm>
          <a:prstGeom prst="ellipse">
            <a:avLst/>
          </a:prstGeom>
          <a:solidFill>
            <a:srgbClr val="3058A3"/>
          </a:solidFill>
          <a:ln>
            <a:noFill/>
          </a:ln>
        </p:spPr>
        <p:txBody>
          <a:bodyPr/>
          <a:lstStyle/>
          <a:p/>
        </p:txBody>
      </p:sp>
      <p:sp>
        <p:nvSpPr>
          <p:cNvPr id="41" name="tx"/>
          <p:cNvSpPr txBox="1"/>
          <p:nvPr/>
        </p:nvSpPr>
        <p:spPr>
          <a:xfrm>
            <a:off x="820000" y="5488000"/>
            <a:ext cx="300000" cy="240000"/>
          </a:xfrm>
          <a:prstGeom prst="rect">
            <a:avLst/>
          </a:prstGeom>
          <a:noFill/>
        </p:spPr>
        <p:txBody>
          <a:bodyPr wrap="square" anchor="t" lIns="0" rIns="0" tIns="0" bIns="0"/>
          <a:lstStyle/>
          <a:p>
            <a:pPr algn="ctr"/>
            <a:r>
              <a:rPr sz="1100" b="1">
                <a:solidFill>
                  <a:srgbClr val="FFFFFF"/>
                </a:solidFill>
                <a:latin typeface="Calibri"/>
              </a:rPr>
              <a:t>1</a:t>
            </a:r>
          </a:p>
        </p:txBody>
      </p:sp>
      <p:sp>
        <p:nvSpPr>
          <p:cNvPr id="42" name="tx"/>
          <p:cNvSpPr txBox="1"/>
          <p:nvPr/>
        </p:nvSpPr>
        <p:spPr>
          <a:xfrm>
            <a:off x="1220000" y="5440000"/>
            <a:ext cx="2996666" cy="240000"/>
          </a:xfrm>
          <a:prstGeom prst="rect">
            <a:avLst/>
          </a:prstGeom>
          <a:noFill/>
        </p:spPr>
        <p:txBody>
          <a:bodyPr wrap="square" anchor="t" lIns="0" rIns="0" tIns="0" bIns="0"/>
          <a:lstStyle/>
          <a:p>
            <a:pPr algn="l"/>
            <a:r>
              <a:rPr sz="1150" b="1">
                <a:solidFill>
                  <a:srgbClr val="493356"/>
                </a:solidFill>
                <a:latin typeface="Calibri"/>
              </a:rPr>
              <a:t>We watch</a:t>
            </a:r>
          </a:p>
        </p:txBody>
      </p:sp>
      <p:sp>
        <p:nvSpPr>
          <p:cNvPr id="43" name="tx"/>
          <p:cNvSpPr txBox="1"/>
          <p:nvPr/>
        </p:nvSpPr>
        <p:spPr>
          <a:xfrm>
            <a:off x="1220000" y="5730000"/>
            <a:ext cx="2996666" cy="420000"/>
          </a:xfrm>
          <a:prstGeom prst="rect">
            <a:avLst/>
          </a:prstGeom>
          <a:noFill/>
        </p:spPr>
        <p:txBody>
          <a:bodyPr wrap="square" anchor="t" lIns="0" rIns="0" tIns="0" bIns="0"/>
          <a:lstStyle/>
          <a:p>
            <a:pPr algn="l">
              <a:lnSpc>
                <a:spcPct val="104000"/>
              </a:lnSpc>
            </a:pPr>
            <a:r>
              <a:rPr sz="920" b="0">
                <a:solidFill>
                  <a:srgbClr val="414141"/>
                </a:solidFill>
                <a:latin typeface="Calibri"/>
              </a:rPr>
              <a:t>Official state records checked automatically, including past addresses.</a:t>
            </a:r>
          </a:p>
        </p:txBody>
      </p:sp>
      <p:sp>
        <p:nvSpPr>
          <p:cNvPr id="44" name="sn"/>
          <p:cNvSpPr/>
          <p:nvPr/>
        </p:nvSpPr>
        <p:spPr>
          <a:xfrm>
            <a:off x="4466666" y="5440000"/>
            <a:ext cx="300000" cy="300000"/>
          </a:xfrm>
          <a:prstGeom prst="ellipse">
            <a:avLst/>
          </a:prstGeom>
          <a:solidFill>
            <a:srgbClr val="3058A3"/>
          </a:solidFill>
          <a:ln>
            <a:noFill/>
          </a:ln>
        </p:spPr>
        <p:txBody>
          <a:bodyPr/>
          <a:lstStyle/>
          <a:p/>
        </p:txBody>
      </p:sp>
      <p:sp>
        <p:nvSpPr>
          <p:cNvPr id="45" name="tx"/>
          <p:cNvSpPr txBox="1"/>
          <p:nvPr/>
        </p:nvSpPr>
        <p:spPr>
          <a:xfrm>
            <a:off x="4466666" y="5488000"/>
            <a:ext cx="300000" cy="240000"/>
          </a:xfrm>
          <a:prstGeom prst="rect">
            <a:avLst/>
          </a:prstGeom>
          <a:noFill/>
        </p:spPr>
        <p:txBody>
          <a:bodyPr wrap="square" anchor="t" lIns="0" rIns="0" tIns="0" bIns="0"/>
          <a:lstStyle/>
          <a:p>
            <a:pPr algn="ctr"/>
            <a:r>
              <a:rPr sz="1100" b="1">
                <a:solidFill>
                  <a:srgbClr val="FFFFFF"/>
                </a:solidFill>
                <a:latin typeface="Calibri"/>
              </a:rPr>
              <a:t>2</a:t>
            </a:r>
          </a:p>
        </p:txBody>
      </p:sp>
      <p:sp>
        <p:nvSpPr>
          <p:cNvPr id="46" name="tx"/>
          <p:cNvSpPr txBox="1"/>
          <p:nvPr/>
        </p:nvSpPr>
        <p:spPr>
          <a:xfrm>
            <a:off x="4866666" y="5440000"/>
            <a:ext cx="2996666" cy="240000"/>
          </a:xfrm>
          <a:prstGeom prst="rect">
            <a:avLst/>
          </a:prstGeom>
          <a:noFill/>
        </p:spPr>
        <p:txBody>
          <a:bodyPr wrap="square" anchor="t" lIns="0" rIns="0" tIns="0" bIns="0"/>
          <a:lstStyle/>
          <a:p>
            <a:pPr algn="l"/>
            <a:r>
              <a:rPr sz="1150" b="1">
                <a:solidFill>
                  <a:srgbClr val="493356"/>
                </a:solidFill>
                <a:latin typeface="Calibri"/>
              </a:rPr>
              <a:t>You review</a:t>
            </a:r>
          </a:p>
        </p:txBody>
      </p:sp>
      <p:sp>
        <p:nvSpPr>
          <p:cNvPr id="47" name="tx"/>
          <p:cNvSpPr txBox="1"/>
          <p:nvPr/>
        </p:nvSpPr>
        <p:spPr>
          <a:xfrm>
            <a:off x="4866666" y="5730000"/>
            <a:ext cx="2996666" cy="420000"/>
          </a:xfrm>
          <a:prstGeom prst="rect">
            <a:avLst/>
          </a:prstGeom>
          <a:noFill/>
        </p:spPr>
        <p:txBody>
          <a:bodyPr wrap="square" anchor="t" lIns="0" rIns="0" tIns="0" bIns="0"/>
          <a:lstStyle/>
          <a:p>
            <a:pPr algn="l">
              <a:lnSpc>
                <a:spcPct val="104000"/>
              </a:lnSpc>
            </a:pPr>
            <a:r>
              <a:rPr sz="920" b="0">
                <a:solidFill>
                  <a:srgbClr val="414141"/>
                </a:solidFill>
                <a:latin typeface="Calibri"/>
              </a:rPr>
              <a:t>Mark “Not me” on anything that isn’t yours.</a:t>
            </a:r>
          </a:p>
        </p:txBody>
      </p:sp>
      <p:sp>
        <p:nvSpPr>
          <p:cNvPr id="48" name="sn"/>
          <p:cNvSpPr/>
          <p:nvPr/>
        </p:nvSpPr>
        <p:spPr>
          <a:xfrm>
            <a:off x="8113332" y="5440000"/>
            <a:ext cx="300000" cy="300000"/>
          </a:xfrm>
          <a:prstGeom prst="ellipse">
            <a:avLst/>
          </a:prstGeom>
          <a:solidFill>
            <a:srgbClr val="3058A3"/>
          </a:solidFill>
          <a:ln>
            <a:noFill/>
          </a:ln>
        </p:spPr>
        <p:txBody>
          <a:bodyPr/>
          <a:lstStyle/>
          <a:p/>
        </p:txBody>
      </p:sp>
      <p:sp>
        <p:nvSpPr>
          <p:cNvPr id="49" name="tx"/>
          <p:cNvSpPr txBox="1"/>
          <p:nvPr/>
        </p:nvSpPr>
        <p:spPr>
          <a:xfrm>
            <a:off x="8113332" y="5488000"/>
            <a:ext cx="300000" cy="240000"/>
          </a:xfrm>
          <a:prstGeom prst="rect">
            <a:avLst/>
          </a:prstGeom>
          <a:noFill/>
        </p:spPr>
        <p:txBody>
          <a:bodyPr wrap="square" anchor="t" lIns="0" rIns="0" tIns="0" bIns="0"/>
          <a:lstStyle/>
          <a:p>
            <a:pPr algn="ctr"/>
            <a:r>
              <a:rPr sz="1100" b="1">
                <a:solidFill>
                  <a:srgbClr val="FFFFFF"/>
                </a:solidFill>
                <a:latin typeface="Calibri"/>
              </a:rPr>
              <a:t>3</a:t>
            </a:r>
          </a:p>
        </p:txBody>
      </p:sp>
      <p:sp>
        <p:nvSpPr>
          <p:cNvPr id="50" name="tx"/>
          <p:cNvSpPr txBox="1"/>
          <p:nvPr/>
        </p:nvSpPr>
        <p:spPr>
          <a:xfrm>
            <a:off x="8513332" y="5440000"/>
            <a:ext cx="2996666" cy="240000"/>
          </a:xfrm>
          <a:prstGeom prst="rect">
            <a:avLst/>
          </a:prstGeom>
          <a:noFill/>
        </p:spPr>
        <p:txBody>
          <a:bodyPr wrap="square" anchor="t" lIns="0" rIns="0" tIns="0" bIns="0"/>
          <a:lstStyle/>
          <a:p>
            <a:pPr algn="l"/>
            <a:r>
              <a:rPr sz="1150" b="1">
                <a:solidFill>
                  <a:srgbClr val="493356"/>
                </a:solidFill>
                <a:latin typeface="Calibri"/>
              </a:rPr>
              <a:t>You claim directly</a:t>
            </a:r>
          </a:p>
        </p:txBody>
      </p:sp>
      <p:sp>
        <p:nvSpPr>
          <p:cNvPr id="51" name="tx"/>
          <p:cNvSpPr txBox="1"/>
          <p:nvPr/>
        </p:nvSpPr>
        <p:spPr>
          <a:xfrm>
            <a:off x="8513332" y="5730000"/>
            <a:ext cx="2996666" cy="420000"/>
          </a:xfrm>
          <a:prstGeom prst="rect">
            <a:avLst/>
          </a:prstGeom>
          <a:noFill/>
        </p:spPr>
        <p:txBody>
          <a:bodyPr wrap="square" anchor="t" lIns="0" rIns="0" tIns="0" bIns="0"/>
          <a:lstStyle/>
          <a:p>
            <a:pPr algn="l">
              <a:lnSpc>
                <a:spcPct val="104000"/>
              </a:lnSpc>
            </a:pPr>
            <a:r>
              <a:rPr sz="920" b="0">
                <a:solidFill>
                  <a:srgbClr val="414141"/>
                </a:solidFill>
                <a:latin typeface="Calibri"/>
              </a:rPr>
              <a:t>Deep-link to the state’s own portal — always free.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88952" cy="6858000"/>
          </a:xfrm>
          <a:prstGeom prst="rect">
            <a:avLst/>
          </a:prstGeom>
          <a:solidFill>
            <a:srgbClr val="F5F4F7"/>
          </a:solidFill>
          <a:ln>
            <a:noFill/>
          </a:ln>
        </p:spPr>
        <p:txBody>
          <a:bodyPr/>
          <a:lstStyle/>
          <a:p/>
        </p:txBody>
      </p:sp>
      <p:sp>
        <p:nvSpPr>
          <p:cNvPr id="3" name="TopBar"/>
          <p:cNvSpPr/>
          <p:nvPr/>
        </p:nvSpPr>
        <p:spPr>
          <a:xfrm>
            <a:off x="0" y="0"/>
            <a:ext cx="12188952" cy="54864"/>
          </a:xfrm>
          <a:prstGeom prst="rect">
            <a:avLst/>
          </a:prstGeom>
          <a:solidFill>
            <a:srgbClr val="3058A3"/>
          </a:solidFill>
          <a:ln>
            <a:noFill/>
          </a:ln>
        </p:spPr>
        <p:txBody>
          <a:bodyPr/>
          <a:lstStyle/>
          <a:p/>
        </p:txBody>
      </p:sp>
      <p:sp>
        <p:nvSpPr>
          <p:cNvPr id="4" name="Logo"/>
          <p:cNvSpPr txBox="1"/>
          <p:nvPr/>
        </p:nvSpPr>
        <p:spPr>
          <a:xfrm>
            <a:off x="457200" y="164592"/>
            <a:ext cx="2286000" cy="329184"/>
          </a:xfrm>
          <a:prstGeom prst="rect">
            <a:avLst/>
          </a:prstGeom>
          <a:noFill/>
        </p:spPr>
        <p:txBody>
          <a:bodyPr wrap="square" anchor="t" lIns="0" rIns="0" tIns="0" bIns="0"/>
          <a:lstStyle/>
          <a:p>
            <a:pPr algn="l"/>
            <a:r>
              <a:rPr sz="1600" b="1">
                <a:solidFill>
                  <a:srgbClr val="493356"/>
                </a:solidFill>
                <a:latin typeface="Calibri"/>
              </a:rPr>
              <a:t>CONSUMER</a:t>
            </a:r>
            <a:r>
              <a:rPr sz="1600" b="1">
                <a:solidFill>
                  <a:srgbClr val="3058A3"/>
                </a:solidFill>
                <a:latin typeface="Calibri"/>
              </a:rPr>
              <a:t>DIRECT</a:t>
            </a:r>
          </a:p>
        </p:txBody>
      </p:sp>
      <p:sp>
        <p:nvSpPr>
          <p:cNvPr id="5" name="Title"/>
          <p:cNvSpPr txBox="1"/>
          <p:nvPr/>
        </p:nvSpPr>
        <p:spPr>
          <a:xfrm>
            <a:off x="457200" y="749808"/>
            <a:ext cx="11430000" cy="560000"/>
          </a:xfrm>
          <a:prstGeom prst="rect">
            <a:avLst/>
          </a:prstGeom>
          <a:noFill/>
        </p:spPr>
        <p:txBody>
          <a:bodyPr wrap="square" anchor="t" lIns="0" rIns="0" tIns="0" bIns="0"/>
          <a:lstStyle/>
          <a:p>
            <a:pPr algn="l"/>
            <a:r>
              <a:rPr sz="2800" b="1">
                <a:solidFill>
                  <a:srgbClr val="493356"/>
                </a:solidFill>
                <a:latin typeface="Calibri"/>
              </a:rPr>
              <a:t>Compliance Review: The Model</a:t>
            </a:r>
          </a:p>
        </p:txBody>
      </p:sp>
      <p:sp>
        <p:nvSpPr>
          <p:cNvPr id="6" name="Subtitle"/>
          <p:cNvSpPr txBox="1"/>
          <p:nvPr/>
        </p:nvSpPr>
        <p:spPr>
          <a:xfrm>
            <a:off x="457200" y="1372000"/>
            <a:ext cx="11430000" cy="420000"/>
          </a:xfrm>
          <a:prstGeom prst="rect">
            <a:avLst/>
          </a:prstGeom>
          <a:noFill/>
        </p:spPr>
        <p:txBody>
          <a:bodyPr wrap="square" anchor="t" lIns="0" rIns="0" tIns="0" bIns="0"/>
          <a:lstStyle/>
          <a:p>
            <a:pPr algn="l"/>
            <a:r>
              <a:rPr sz="1500" b="0">
                <a:solidFill>
                  <a:srgbClr val="414141"/>
                </a:solidFill>
                <a:latin typeface="Calibri"/>
              </a:rPr>
              <a:t>A notification feature, not a recovery service — three architectural decisions clear the bulk of the legal surface.</a:t>
            </a:r>
          </a:p>
        </p:txBody>
      </p:sp>
      <p:sp>
        <p:nvSpPr>
          <p:cNvPr id="7" name="FootL"/>
          <p:cNvSpPr txBox="1"/>
          <p:nvPr/>
        </p:nvSpPr>
        <p:spPr>
          <a:xfrm>
            <a:off x="457200" y="6446520"/>
            <a:ext cx="7315200" cy="274320"/>
          </a:xfrm>
          <a:prstGeom prst="rect">
            <a:avLst/>
          </a:prstGeom>
          <a:noFill/>
        </p:spPr>
        <p:txBody>
          <a:bodyPr wrap="square" anchor="t" lIns="0" rIns="0" tIns="0" bIns="0"/>
          <a:lstStyle/>
          <a:p>
            <a:pPr algn="l"/>
            <a:r>
              <a:rPr sz="900" b="0">
                <a:solidFill>
                  <a:srgbClr val="8A8A8A"/>
                </a:solidFill>
                <a:latin typeface="Calibri"/>
              </a:rPr>
              <a:t>GetMyMoney · Confidential — Consumer Direct, Inc.</a:t>
            </a:r>
          </a:p>
        </p:txBody>
      </p:sp>
      <p:sp>
        <p:nvSpPr>
          <p:cNvPr id="8" name="FootR"/>
          <p:cNvSpPr txBox="1"/>
          <p:nvPr/>
        </p:nvSpPr>
        <p:spPr>
          <a:xfrm>
            <a:off x="11338560" y="6446520"/>
            <a:ext cx="731520" cy="274320"/>
          </a:xfrm>
          <a:prstGeom prst="rect">
            <a:avLst/>
          </a:prstGeom>
          <a:noFill/>
        </p:spPr>
        <p:txBody>
          <a:bodyPr wrap="square" anchor="t" lIns="0" rIns="0" tIns="0" bIns="0"/>
          <a:lstStyle/>
          <a:p>
            <a:pPr algn="r"/>
            <a:r>
              <a:rPr sz="900" b="0">
                <a:solidFill>
                  <a:srgbClr val="8A8A8A"/>
                </a:solidFill>
                <a:latin typeface="Calibri"/>
              </a:rPr>
              <a:t>12 / 15</a:t>
            </a:r>
          </a:p>
        </p:txBody>
      </p:sp>
      <p:sp>
        <p:nvSpPr>
          <p:cNvPr id="9" name="card"/>
          <p:cNvSpPr/>
          <p:nvPr/>
        </p:nvSpPr>
        <p:spPr>
          <a:xfrm>
            <a:off x="457200" y="2030000"/>
            <a:ext cx="3640000" cy="3560000"/>
          </a:xfrm>
          <a:prstGeom prst="roundRect">
            <a:avLst>
              <a:gd name="adj" fmla="val 6000"/>
            </a:avLst>
          </a:prstGeom>
          <a:solidFill>
            <a:srgbClr val="FFFFFF"/>
          </a:solidFill>
          <a:ln>
            <a:noFill/>
          </a:ln>
        </p:spPr>
        <p:txBody>
          <a:bodyPr/>
          <a:lstStyle/>
          <a:p/>
        </p:txBody>
      </p:sp>
      <p:sp>
        <p:nvSpPr>
          <p:cNvPr id="10" name="band"/>
          <p:cNvSpPr/>
          <p:nvPr/>
        </p:nvSpPr>
        <p:spPr>
          <a:xfrm>
            <a:off x="457200" y="2030000"/>
            <a:ext cx="3640000" cy="560000"/>
          </a:xfrm>
          <a:prstGeom prst="roundRect">
            <a:avLst>
              <a:gd name="adj" fmla="val 12000"/>
            </a:avLst>
          </a:prstGeom>
          <a:solidFill>
            <a:srgbClr val="3058A3"/>
          </a:solidFill>
          <a:ln>
            <a:noFill/>
          </a:ln>
        </p:spPr>
        <p:txBody>
          <a:bodyPr/>
          <a:lstStyle/>
          <a:p/>
        </p:txBody>
      </p:sp>
      <p:sp>
        <p:nvSpPr>
          <p:cNvPr id="11" name="bandfill"/>
          <p:cNvSpPr/>
          <p:nvPr/>
        </p:nvSpPr>
        <p:spPr>
          <a:xfrm>
            <a:off x="457200" y="2360000"/>
            <a:ext cx="3640000" cy="230000"/>
          </a:xfrm>
          <a:prstGeom prst="rect">
            <a:avLst/>
          </a:prstGeom>
          <a:solidFill>
            <a:srgbClr val="3058A3"/>
          </a:solidFill>
          <a:ln>
            <a:noFill/>
          </a:ln>
        </p:spPr>
        <p:txBody>
          <a:bodyPr/>
          <a:lstStyle/>
          <a:p/>
        </p:txBody>
      </p:sp>
      <p:sp>
        <p:nvSpPr>
          <p:cNvPr id="12" name="tx"/>
          <p:cNvSpPr txBox="1"/>
          <p:nvPr/>
        </p:nvSpPr>
        <p:spPr>
          <a:xfrm>
            <a:off x="607200" y="2180000"/>
            <a:ext cx="3340000" cy="300000"/>
          </a:xfrm>
          <a:prstGeom prst="rect">
            <a:avLst/>
          </a:prstGeom>
          <a:noFill/>
        </p:spPr>
        <p:txBody>
          <a:bodyPr wrap="square" anchor="t" lIns="0" rIns="0" tIns="0" bIns="0"/>
          <a:lstStyle/>
          <a:p>
            <a:pPr algn="ctr"/>
            <a:r>
              <a:rPr sz="1200" b="1">
                <a:solidFill>
                  <a:srgbClr val="FFFFFF"/>
                </a:solidFill>
                <a:latin typeface="Calibri"/>
              </a:rPr>
              <a:t>ALERT + DEEP LINK ONLY</a:t>
            </a:r>
          </a:p>
        </p:txBody>
      </p:sp>
      <p:sp>
        <p:nvSpPr>
          <p:cNvPr id="13" name="tx"/>
          <p:cNvSpPr txBox="1"/>
          <p:nvPr/>
        </p:nvSpPr>
        <p:spPr>
          <a:xfrm>
            <a:off x="637200" y="2750000"/>
            <a:ext cx="3280000" cy="200000"/>
          </a:xfrm>
          <a:prstGeom prst="rect">
            <a:avLst/>
          </a:prstGeom>
          <a:noFill/>
        </p:spPr>
        <p:txBody>
          <a:bodyPr wrap="square" anchor="t" lIns="0" rIns="0" tIns="0" bIns="0"/>
          <a:lstStyle/>
          <a:p>
            <a:pPr algn="l"/>
            <a:r>
              <a:rPr sz="850" b="1" spc="80">
                <a:solidFill>
                  <a:srgbClr val="8A8A8A"/>
                </a:solidFill>
                <a:latin typeface="Calibri"/>
              </a:rPr>
              <a:t>WHAT WE DO</a:t>
            </a:r>
          </a:p>
        </p:txBody>
      </p:sp>
      <p:sp>
        <p:nvSpPr>
          <p:cNvPr id="14" name="tx"/>
          <p:cNvSpPr txBox="1"/>
          <p:nvPr/>
        </p:nvSpPr>
        <p:spPr>
          <a:xfrm>
            <a:off x="637200" y="2990000"/>
            <a:ext cx="3280000" cy="900000"/>
          </a:xfrm>
          <a:prstGeom prst="rect">
            <a:avLst/>
          </a:prstGeom>
          <a:noFill/>
        </p:spPr>
        <p:txBody>
          <a:bodyPr wrap="square" anchor="t" lIns="0" rIns="0" tIns="0" bIns="0"/>
          <a:lstStyle/>
          <a:p>
            <a:pPr algn="l">
              <a:lnSpc>
                <a:spcPct val="108000"/>
              </a:lnSpc>
            </a:pPr>
            <a:r>
              <a:rPr sz="1050" b="0">
                <a:solidFill>
                  <a:srgbClr val="414141"/>
                </a:solidFill>
                <a:latin typeface="Calibri"/>
              </a:rPr>
              <a:t>Surface the match, embed a deep link; the member files on the state’s official portal.</a:t>
            </a:r>
          </a:p>
        </p:txBody>
      </p:sp>
      <p:sp>
        <p:nvSpPr>
          <p:cNvPr id="15" name="tx"/>
          <p:cNvSpPr txBox="1"/>
          <p:nvPr/>
        </p:nvSpPr>
        <p:spPr>
          <a:xfrm>
            <a:off x="637200" y="4070000"/>
            <a:ext cx="3280000" cy="200000"/>
          </a:xfrm>
          <a:prstGeom prst="rect">
            <a:avLst/>
          </a:prstGeom>
          <a:noFill/>
        </p:spPr>
        <p:txBody>
          <a:bodyPr wrap="square" anchor="t" lIns="0" rIns="0" tIns="0" bIns="0"/>
          <a:lstStyle/>
          <a:p>
            <a:pPr algn="l"/>
            <a:r>
              <a:rPr sz="850" b="1" spc="80">
                <a:solidFill>
                  <a:srgbClr val="8A8A8A"/>
                </a:solidFill>
                <a:latin typeface="Calibri"/>
              </a:rPr>
              <a:t>LEGAL EFFECT</a:t>
            </a:r>
          </a:p>
        </p:txBody>
      </p:sp>
      <p:sp>
        <p:nvSpPr>
          <p:cNvPr id="16" name="tx"/>
          <p:cNvSpPr txBox="1"/>
          <p:nvPr/>
        </p:nvSpPr>
        <p:spPr>
          <a:xfrm>
            <a:off x="637200" y="4310000"/>
            <a:ext cx="3280000" cy="1100000"/>
          </a:xfrm>
          <a:prstGeom prst="rect">
            <a:avLst/>
          </a:prstGeom>
          <a:noFill/>
        </p:spPr>
        <p:txBody>
          <a:bodyPr wrap="square" anchor="t" lIns="0" rIns="0" tIns="0" bIns="0"/>
          <a:lstStyle/>
          <a:p>
            <a:pPr algn="l">
              <a:lnSpc>
                <a:spcPct val="108000"/>
              </a:lnSpc>
            </a:pPr>
            <a:r>
              <a:rPr sz="1050" b="0">
                <a:solidFill>
                  <a:srgbClr val="414141"/>
                </a:solidFill>
                <a:latin typeface="Calibri"/>
              </a:rPr>
              <a:t>Kills false-claim &amp; tort exposure; the TSR advance-fee rule never applies. Finder-fee caps hook on fees we don’t charge.</a:t>
            </a:r>
          </a:p>
        </p:txBody>
      </p:sp>
      <p:sp>
        <p:nvSpPr>
          <p:cNvPr id="17" name="card"/>
          <p:cNvSpPr/>
          <p:nvPr/>
        </p:nvSpPr>
        <p:spPr>
          <a:xfrm>
            <a:off x="4275784" y="2030000"/>
            <a:ext cx="3640000" cy="3560000"/>
          </a:xfrm>
          <a:prstGeom prst="roundRect">
            <a:avLst>
              <a:gd name="adj" fmla="val 6000"/>
            </a:avLst>
          </a:prstGeom>
          <a:solidFill>
            <a:srgbClr val="FFFFFF"/>
          </a:solidFill>
          <a:ln>
            <a:noFill/>
          </a:ln>
        </p:spPr>
        <p:txBody>
          <a:bodyPr/>
          <a:lstStyle/>
          <a:p/>
        </p:txBody>
      </p:sp>
      <p:sp>
        <p:nvSpPr>
          <p:cNvPr id="18" name="band"/>
          <p:cNvSpPr/>
          <p:nvPr/>
        </p:nvSpPr>
        <p:spPr>
          <a:xfrm>
            <a:off x="4275784" y="2030000"/>
            <a:ext cx="3640000" cy="560000"/>
          </a:xfrm>
          <a:prstGeom prst="roundRect">
            <a:avLst>
              <a:gd name="adj" fmla="val 12000"/>
            </a:avLst>
          </a:prstGeom>
          <a:solidFill>
            <a:srgbClr val="FCC062"/>
          </a:solidFill>
          <a:ln>
            <a:noFill/>
          </a:ln>
        </p:spPr>
        <p:txBody>
          <a:bodyPr/>
          <a:lstStyle/>
          <a:p/>
        </p:txBody>
      </p:sp>
      <p:sp>
        <p:nvSpPr>
          <p:cNvPr id="19" name="bandfill"/>
          <p:cNvSpPr/>
          <p:nvPr/>
        </p:nvSpPr>
        <p:spPr>
          <a:xfrm>
            <a:off x="4275784" y="2360000"/>
            <a:ext cx="3640000" cy="230000"/>
          </a:xfrm>
          <a:prstGeom prst="rect">
            <a:avLst/>
          </a:prstGeom>
          <a:solidFill>
            <a:srgbClr val="FCC062"/>
          </a:solidFill>
          <a:ln>
            <a:noFill/>
          </a:ln>
        </p:spPr>
        <p:txBody>
          <a:bodyPr/>
          <a:lstStyle/>
          <a:p/>
        </p:txBody>
      </p:sp>
      <p:sp>
        <p:nvSpPr>
          <p:cNvPr id="20" name="tx"/>
          <p:cNvSpPr txBox="1"/>
          <p:nvPr/>
        </p:nvSpPr>
        <p:spPr>
          <a:xfrm>
            <a:off x="4425784" y="2180000"/>
            <a:ext cx="3340000" cy="300000"/>
          </a:xfrm>
          <a:prstGeom prst="rect">
            <a:avLst/>
          </a:prstGeom>
          <a:noFill/>
        </p:spPr>
        <p:txBody>
          <a:bodyPr wrap="square" anchor="t" lIns="0" rIns="0" tIns="0" bIns="0"/>
          <a:lstStyle/>
          <a:p>
            <a:pPr algn="ctr"/>
            <a:r>
              <a:rPr sz="1200" b="1">
                <a:solidFill>
                  <a:srgbClr val="493356"/>
                </a:solidFill>
                <a:latin typeface="Calibri"/>
              </a:rPr>
              <a:t>BUNDLE, DON’T SURCHARGE</a:t>
            </a:r>
          </a:p>
        </p:txBody>
      </p:sp>
      <p:sp>
        <p:nvSpPr>
          <p:cNvPr id="21" name="tx"/>
          <p:cNvSpPr txBox="1"/>
          <p:nvPr/>
        </p:nvSpPr>
        <p:spPr>
          <a:xfrm>
            <a:off x="4455784" y="2750000"/>
            <a:ext cx="3280000" cy="200000"/>
          </a:xfrm>
          <a:prstGeom prst="rect">
            <a:avLst/>
          </a:prstGeom>
          <a:noFill/>
        </p:spPr>
        <p:txBody>
          <a:bodyPr wrap="square" anchor="t" lIns="0" rIns="0" tIns="0" bIns="0"/>
          <a:lstStyle/>
          <a:p>
            <a:pPr algn="l"/>
            <a:r>
              <a:rPr sz="850" b="1" spc="80">
                <a:solidFill>
                  <a:srgbClr val="8A8A8A"/>
                </a:solidFill>
                <a:latin typeface="Calibri"/>
              </a:rPr>
              <a:t>WHAT WE DO</a:t>
            </a:r>
          </a:p>
        </p:txBody>
      </p:sp>
      <p:sp>
        <p:nvSpPr>
          <p:cNvPr id="22" name="tx"/>
          <p:cNvSpPr txBox="1"/>
          <p:nvPr/>
        </p:nvSpPr>
        <p:spPr>
          <a:xfrm>
            <a:off x="4455784" y="2990000"/>
            <a:ext cx="3280000" cy="900000"/>
          </a:xfrm>
          <a:prstGeom prst="rect">
            <a:avLst/>
          </a:prstGeom>
          <a:noFill/>
        </p:spPr>
        <p:txBody>
          <a:bodyPr wrap="square" anchor="t" lIns="0" rIns="0" tIns="0" bIns="0"/>
          <a:lstStyle/>
          <a:p>
            <a:pPr algn="l">
              <a:lnSpc>
                <a:spcPct val="108000"/>
              </a:lnSpc>
            </a:pPr>
            <a:r>
              <a:rPr sz="1050" b="0">
                <a:solidFill>
                  <a:srgbClr val="414141"/>
                </a:solidFill>
                <a:latin typeface="Calibri"/>
              </a:rPr>
              <a:t>No %-of-recovery, no upfront fee, no affiliate or success bonus. UP alerts are free in SmartCredit.</a:t>
            </a:r>
          </a:p>
        </p:txBody>
      </p:sp>
      <p:sp>
        <p:nvSpPr>
          <p:cNvPr id="23" name="tx"/>
          <p:cNvSpPr txBox="1"/>
          <p:nvPr/>
        </p:nvSpPr>
        <p:spPr>
          <a:xfrm>
            <a:off x="4455784" y="4070000"/>
            <a:ext cx="3280000" cy="200000"/>
          </a:xfrm>
          <a:prstGeom prst="rect">
            <a:avLst/>
          </a:prstGeom>
          <a:noFill/>
        </p:spPr>
        <p:txBody>
          <a:bodyPr wrap="square" anchor="t" lIns="0" rIns="0" tIns="0" bIns="0"/>
          <a:lstStyle/>
          <a:p>
            <a:pPr algn="l"/>
            <a:r>
              <a:rPr sz="850" b="1" spc="80">
                <a:solidFill>
                  <a:srgbClr val="8A8A8A"/>
                </a:solidFill>
                <a:latin typeface="Calibri"/>
              </a:rPr>
              <a:t>LEGAL EFFECT</a:t>
            </a:r>
          </a:p>
        </p:txBody>
      </p:sp>
      <p:sp>
        <p:nvSpPr>
          <p:cNvPr id="24" name="tx"/>
          <p:cNvSpPr txBox="1"/>
          <p:nvPr/>
        </p:nvSpPr>
        <p:spPr>
          <a:xfrm>
            <a:off x="4455784" y="4310000"/>
            <a:ext cx="3280000" cy="1100000"/>
          </a:xfrm>
          <a:prstGeom prst="rect">
            <a:avLst/>
          </a:prstGeom>
          <a:noFill/>
        </p:spPr>
        <p:txBody>
          <a:bodyPr wrap="square" anchor="t" lIns="0" rIns="0" tIns="0" bIns="0"/>
          <a:lstStyle/>
          <a:p>
            <a:pPr algn="l">
              <a:lnSpc>
                <a:spcPct val="108000"/>
              </a:lnSpc>
            </a:pPr>
            <a:r>
              <a:rPr sz="1050" b="0">
                <a:solidFill>
                  <a:srgbClr val="414141"/>
                </a:solidFill>
                <a:latin typeface="Calibri"/>
              </a:rPr>
              <a:t>Removes any “fee for locating” hook in state finder statutes. Avoids the ROSCA negative-option stack.</a:t>
            </a:r>
          </a:p>
        </p:txBody>
      </p:sp>
      <p:sp>
        <p:nvSpPr>
          <p:cNvPr id="25" name="card"/>
          <p:cNvSpPr/>
          <p:nvPr/>
        </p:nvSpPr>
        <p:spPr>
          <a:xfrm>
            <a:off x="8094368" y="2030000"/>
            <a:ext cx="3640000" cy="3560000"/>
          </a:xfrm>
          <a:prstGeom prst="roundRect">
            <a:avLst>
              <a:gd name="adj" fmla="val 6000"/>
            </a:avLst>
          </a:prstGeom>
          <a:solidFill>
            <a:srgbClr val="FFFFFF"/>
          </a:solidFill>
          <a:ln>
            <a:noFill/>
          </a:ln>
        </p:spPr>
        <p:txBody>
          <a:bodyPr/>
          <a:lstStyle/>
          <a:p/>
        </p:txBody>
      </p:sp>
      <p:sp>
        <p:nvSpPr>
          <p:cNvPr id="26" name="band"/>
          <p:cNvSpPr/>
          <p:nvPr/>
        </p:nvSpPr>
        <p:spPr>
          <a:xfrm>
            <a:off x="8094368" y="2030000"/>
            <a:ext cx="3640000" cy="560000"/>
          </a:xfrm>
          <a:prstGeom prst="roundRect">
            <a:avLst>
              <a:gd name="adj" fmla="val 12000"/>
            </a:avLst>
          </a:prstGeom>
          <a:solidFill>
            <a:srgbClr val="EF5E33"/>
          </a:solidFill>
          <a:ln>
            <a:noFill/>
          </a:ln>
        </p:spPr>
        <p:txBody>
          <a:bodyPr/>
          <a:lstStyle/>
          <a:p/>
        </p:txBody>
      </p:sp>
      <p:sp>
        <p:nvSpPr>
          <p:cNvPr id="27" name="bandfill"/>
          <p:cNvSpPr/>
          <p:nvPr/>
        </p:nvSpPr>
        <p:spPr>
          <a:xfrm>
            <a:off x="8094368" y="2360000"/>
            <a:ext cx="3640000" cy="230000"/>
          </a:xfrm>
          <a:prstGeom prst="rect">
            <a:avLst/>
          </a:prstGeom>
          <a:solidFill>
            <a:srgbClr val="EF5E33"/>
          </a:solidFill>
          <a:ln>
            <a:noFill/>
          </a:ln>
        </p:spPr>
        <p:txBody>
          <a:bodyPr/>
          <a:lstStyle/>
          <a:p/>
        </p:txBody>
      </p:sp>
      <p:sp>
        <p:nvSpPr>
          <p:cNvPr id="28" name="tx"/>
          <p:cNvSpPr txBox="1"/>
          <p:nvPr/>
        </p:nvSpPr>
        <p:spPr>
          <a:xfrm>
            <a:off x="8244368" y="2180000"/>
            <a:ext cx="3340000" cy="300000"/>
          </a:xfrm>
          <a:prstGeom prst="rect">
            <a:avLst/>
          </a:prstGeom>
          <a:noFill/>
        </p:spPr>
        <p:txBody>
          <a:bodyPr wrap="square" anchor="t" lIns="0" rIns="0" tIns="0" bIns="0"/>
          <a:lstStyle/>
          <a:p>
            <a:pPr algn="ctr"/>
            <a:r>
              <a:rPr sz="1200" b="1">
                <a:solidFill>
                  <a:srgbClr val="FFFFFF"/>
                </a:solidFill>
                <a:latin typeface="Calibri"/>
              </a:rPr>
              <a:t>NEVER HOLD FUNDS</a:t>
            </a:r>
          </a:p>
        </p:txBody>
      </p:sp>
      <p:sp>
        <p:nvSpPr>
          <p:cNvPr id="29" name="tx"/>
          <p:cNvSpPr txBox="1"/>
          <p:nvPr/>
        </p:nvSpPr>
        <p:spPr>
          <a:xfrm>
            <a:off x="8274368" y="2750000"/>
            <a:ext cx="3280000" cy="200000"/>
          </a:xfrm>
          <a:prstGeom prst="rect">
            <a:avLst/>
          </a:prstGeom>
          <a:noFill/>
        </p:spPr>
        <p:txBody>
          <a:bodyPr wrap="square" anchor="t" lIns="0" rIns="0" tIns="0" bIns="0"/>
          <a:lstStyle/>
          <a:p>
            <a:pPr algn="l"/>
            <a:r>
              <a:rPr sz="850" b="1" spc="80">
                <a:solidFill>
                  <a:srgbClr val="8A8A8A"/>
                </a:solidFill>
                <a:latin typeface="Calibri"/>
              </a:rPr>
              <a:t>WHAT WE DO</a:t>
            </a:r>
          </a:p>
        </p:txBody>
      </p:sp>
      <p:sp>
        <p:nvSpPr>
          <p:cNvPr id="30" name="tx"/>
          <p:cNvSpPr txBox="1"/>
          <p:nvPr/>
        </p:nvSpPr>
        <p:spPr>
          <a:xfrm>
            <a:off x="8274368" y="2990000"/>
            <a:ext cx="3280000" cy="900000"/>
          </a:xfrm>
          <a:prstGeom prst="rect">
            <a:avLst/>
          </a:prstGeom>
          <a:noFill/>
        </p:spPr>
        <p:txBody>
          <a:bodyPr wrap="square" anchor="t" lIns="0" rIns="0" tIns="0" bIns="0"/>
          <a:lstStyle/>
          <a:p>
            <a:pPr algn="l">
              <a:lnSpc>
                <a:spcPct val="108000"/>
              </a:lnSpc>
            </a:pPr>
            <a:r>
              <a:rPr sz="1050" b="0">
                <a:solidFill>
                  <a:srgbClr val="414141"/>
                </a:solidFill>
                <a:latin typeface="Calibri"/>
              </a:rPr>
              <a:t>The state pays the consumer directly; SmartCredit is never in the money path.</a:t>
            </a:r>
          </a:p>
        </p:txBody>
      </p:sp>
      <p:sp>
        <p:nvSpPr>
          <p:cNvPr id="31" name="tx"/>
          <p:cNvSpPr txBox="1"/>
          <p:nvPr/>
        </p:nvSpPr>
        <p:spPr>
          <a:xfrm>
            <a:off x="8274368" y="4070000"/>
            <a:ext cx="3280000" cy="200000"/>
          </a:xfrm>
          <a:prstGeom prst="rect">
            <a:avLst/>
          </a:prstGeom>
          <a:noFill/>
        </p:spPr>
        <p:txBody>
          <a:bodyPr wrap="square" anchor="t" lIns="0" rIns="0" tIns="0" bIns="0"/>
          <a:lstStyle/>
          <a:p>
            <a:pPr algn="l"/>
            <a:r>
              <a:rPr sz="850" b="1" spc="80">
                <a:solidFill>
                  <a:srgbClr val="8A8A8A"/>
                </a:solidFill>
                <a:latin typeface="Calibri"/>
              </a:rPr>
              <a:t>LEGAL EFFECT</a:t>
            </a:r>
          </a:p>
        </p:txBody>
      </p:sp>
      <p:sp>
        <p:nvSpPr>
          <p:cNvPr id="32" name="tx"/>
          <p:cNvSpPr txBox="1"/>
          <p:nvPr/>
        </p:nvSpPr>
        <p:spPr>
          <a:xfrm>
            <a:off x="8274368" y="4310000"/>
            <a:ext cx="3280000" cy="1100000"/>
          </a:xfrm>
          <a:prstGeom prst="rect">
            <a:avLst/>
          </a:prstGeom>
          <a:noFill/>
        </p:spPr>
        <p:txBody>
          <a:bodyPr wrap="square" anchor="t" lIns="0" rIns="0" tIns="0" bIns="0"/>
          <a:lstStyle/>
          <a:p>
            <a:pPr algn="l">
              <a:lnSpc>
                <a:spcPct val="108000"/>
              </a:lnSpc>
            </a:pPr>
            <a:r>
              <a:rPr sz="1050" b="0">
                <a:solidFill>
                  <a:srgbClr val="414141"/>
                </a:solidFill>
                <a:latin typeface="Calibri"/>
              </a:rPr>
              <a:t>Avoids 49-state money-transmitter licensure — funds always flow through the state (GA §44-12-220), never through us.</a:t>
            </a:r>
          </a:p>
        </p:txBody>
      </p:sp>
      <p:sp>
        <p:nvSpPr>
          <p:cNvPr id="33" name="tx"/>
          <p:cNvSpPr txBox="1"/>
          <p:nvPr/>
        </p:nvSpPr>
        <p:spPr>
          <a:xfrm>
            <a:off x="457200" y="5760000"/>
            <a:ext cx="11430000" cy="260000"/>
          </a:xfrm>
          <a:prstGeom prst="rect">
            <a:avLst/>
          </a:prstGeom>
          <a:noFill/>
        </p:spPr>
        <p:txBody>
          <a:bodyPr wrap="square" anchor="t" lIns="0" rIns="0" tIns="0" bIns="0"/>
          <a:lstStyle/>
          <a:p>
            <a:pPr algn="l"/>
            <a:r>
              <a:rPr sz="950" b="0" i="1">
                <a:solidFill>
                  <a:srgbClr val="8A8A8A"/>
                </a:solidFill>
                <a:latin typeface="Calibri"/>
              </a:rPr>
              <a:t>Full compliance memo available from Legal.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88952" cy="6858000"/>
          </a:xfrm>
          <a:prstGeom prst="rect">
            <a:avLst/>
          </a:prstGeom>
          <a:solidFill>
            <a:srgbClr val="F5F4F7"/>
          </a:solidFill>
          <a:ln>
            <a:noFill/>
          </a:ln>
        </p:spPr>
        <p:txBody>
          <a:bodyPr/>
          <a:lstStyle/>
          <a:p/>
        </p:txBody>
      </p:sp>
      <p:sp>
        <p:nvSpPr>
          <p:cNvPr id="3" name="TopBar"/>
          <p:cNvSpPr/>
          <p:nvPr/>
        </p:nvSpPr>
        <p:spPr>
          <a:xfrm>
            <a:off x="0" y="0"/>
            <a:ext cx="12188952" cy="54864"/>
          </a:xfrm>
          <a:prstGeom prst="rect">
            <a:avLst/>
          </a:prstGeom>
          <a:solidFill>
            <a:srgbClr val="3058A3"/>
          </a:solidFill>
          <a:ln>
            <a:noFill/>
          </a:ln>
        </p:spPr>
        <p:txBody>
          <a:bodyPr/>
          <a:lstStyle/>
          <a:p/>
        </p:txBody>
      </p:sp>
      <p:sp>
        <p:nvSpPr>
          <p:cNvPr id="4" name="Logo"/>
          <p:cNvSpPr txBox="1"/>
          <p:nvPr/>
        </p:nvSpPr>
        <p:spPr>
          <a:xfrm>
            <a:off x="457200" y="164592"/>
            <a:ext cx="2286000" cy="329184"/>
          </a:xfrm>
          <a:prstGeom prst="rect">
            <a:avLst/>
          </a:prstGeom>
          <a:noFill/>
        </p:spPr>
        <p:txBody>
          <a:bodyPr wrap="square" anchor="t" lIns="0" rIns="0" tIns="0" bIns="0"/>
          <a:lstStyle/>
          <a:p>
            <a:pPr algn="l"/>
            <a:r>
              <a:rPr sz="1600" b="1">
                <a:solidFill>
                  <a:srgbClr val="493356"/>
                </a:solidFill>
                <a:latin typeface="Calibri"/>
              </a:rPr>
              <a:t>CONSUMER</a:t>
            </a:r>
            <a:r>
              <a:rPr sz="1600" b="1">
                <a:solidFill>
                  <a:srgbClr val="3058A3"/>
                </a:solidFill>
                <a:latin typeface="Calibri"/>
              </a:rPr>
              <a:t>DIRECT</a:t>
            </a:r>
          </a:p>
        </p:txBody>
      </p:sp>
      <p:sp>
        <p:nvSpPr>
          <p:cNvPr id="5" name="Title"/>
          <p:cNvSpPr txBox="1"/>
          <p:nvPr/>
        </p:nvSpPr>
        <p:spPr>
          <a:xfrm>
            <a:off x="457200" y="749808"/>
            <a:ext cx="11430000" cy="560000"/>
          </a:xfrm>
          <a:prstGeom prst="rect">
            <a:avLst/>
          </a:prstGeom>
          <a:noFill/>
        </p:spPr>
        <p:txBody>
          <a:bodyPr wrap="square" anchor="t" lIns="0" rIns="0" tIns="0" bIns="0"/>
          <a:lstStyle/>
          <a:p>
            <a:pPr algn="l"/>
            <a:r>
              <a:rPr sz="2800" b="1">
                <a:solidFill>
                  <a:srgbClr val="493356"/>
                </a:solidFill>
                <a:latin typeface="Calibri"/>
              </a:rPr>
              <a:t>Compliance Review: State Gates &amp; Decision</a:t>
            </a:r>
          </a:p>
        </p:txBody>
      </p:sp>
      <p:sp>
        <p:nvSpPr>
          <p:cNvPr id="6" name="Subtitle"/>
          <p:cNvSpPr txBox="1"/>
          <p:nvPr/>
        </p:nvSpPr>
        <p:spPr>
          <a:xfrm>
            <a:off x="457200" y="1372000"/>
            <a:ext cx="11430000" cy="420000"/>
          </a:xfrm>
          <a:prstGeom prst="rect">
            <a:avLst/>
          </a:prstGeom>
          <a:noFill/>
        </p:spPr>
        <p:txBody>
          <a:bodyPr wrap="square" anchor="t" lIns="0" rIns="0" tIns="0" bIns="0"/>
          <a:lstStyle/>
          <a:p>
            <a:pPr algn="l"/>
            <a:r>
              <a:rPr sz="1500" b="0">
                <a:solidFill>
                  <a:srgbClr val="414141"/>
                </a:solidFill>
                <a:latin typeface="Calibri"/>
              </a:rPr>
              <a:t>The remaining constraint is data acquisition — without a feed, we can’t alert a member.</a:t>
            </a:r>
          </a:p>
        </p:txBody>
      </p:sp>
      <p:sp>
        <p:nvSpPr>
          <p:cNvPr id="7" name="FootL"/>
          <p:cNvSpPr txBox="1"/>
          <p:nvPr/>
        </p:nvSpPr>
        <p:spPr>
          <a:xfrm>
            <a:off x="457200" y="6446520"/>
            <a:ext cx="7315200" cy="274320"/>
          </a:xfrm>
          <a:prstGeom prst="rect">
            <a:avLst/>
          </a:prstGeom>
          <a:noFill/>
        </p:spPr>
        <p:txBody>
          <a:bodyPr wrap="square" anchor="t" lIns="0" rIns="0" tIns="0" bIns="0"/>
          <a:lstStyle/>
          <a:p>
            <a:pPr algn="l"/>
            <a:r>
              <a:rPr sz="900" b="0">
                <a:solidFill>
                  <a:srgbClr val="8A8A8A"/>
                </a:solidFill>
                <a:latin typeface="Calibri"/>
              </a:rPr>
              <a:t>GetMyMoney · Confidential — Consumer Direct, Inc.</a:t>
            </a:r>
          </a:p>
        </p:txBody>
      </p:sp>
      <p:sp>
        <p:nvSpPr>
          <p:cNvPr id="8" name="FootR"/>
          <p:cNvSpPr txBox="1"/>
          <p:nvPr/>
        </p:nvSpPr>
        <p:spPr>
          <a:xfrm>
            <a:off x="11338560" y="6446520"/>
            <a:ext cx="731520" cy="274320"/>
          </a:xfrm>
          <a:prstGeom prst="rect">
            <a:avLst/>
          </a:prstGeom>
          <a:noFill/>
        </p:spPr>
        <p:txBody>
          <a:bodyPr wrap="square" anchor="t" lIns="0" rIns="0" tIns="0" bIns="0"/>
          <a:lstStyle/>
          <a:p>
            <a:pPr algn="r"/>
            <a:r>
              <a:rPr sz="900" b="0">
                <a:solidFill>
                  <a:srgbClr val="8A8A8A"/>
                </a:solidFill>
                <a:latin typeface="Calibri"/>
              </a:rPr>
              <a:t>13 / 15</a:t>
            </a:r>
          </a:p>
        </p:txBody>
      </p:sp>
      <p:sp>
        <p:nvSpPr>
          <p:cNvPr id="9" name="tx"/>
          <p:cNvSpPr txBox="1"/>
          <p:nvPr/>
        </p:nvSpPr>
        <p:spPr>
          <a:xfrm>
            <a:off x="457200" y="2020000"/>
            <a:ext cx="6520000" cy="210000"/>
          </a:xfrm>
          <a:prstGeom prst="rect">
            <a:avLst/>
          </a:prstGeom>
          <a:noFill/>
        </p:spPr>
        <p:txBody>
          <a:bodyPr wrap="square" anchor="t" lIns="0" rIns="0" tIns="0" bIns="0"/>
          <a:lstStyle/>
          <a:p>
            <a:pPr algn="l"/>
            <a:r>
              <a:rPr sz="950" b="1" spc="100">
                <a:solidFill>
                  <a:srgbClr val="3058A3"/>
                </a:solidFill>
                <a:latin typeface="Calibri"/>
              </a:rPr>
              <a:t>STATE GATES</a:t>
            </a:r>
          </a:p>
        </p:txBody>
      </p:sp>
      <p:sp>
        <p:nvSpPr>
          <p:cNvPr id="10" name="card"/>
          <p:cNvSpPr/>
          <p:nvPr/>
        </p:nvSpPr>
        <p:spPr>
          <a:xfrm>
            <a:off x="457200" y="2280000"/>
            <a:ext cx="6520000" cy="770000"/>
          </a:xfrm>
          <a:prstGeom prst="roundRect">
            <a:avLst>
              <a:gd name="adj" fmla="val 6000"/>
            </a:avLst>
          </a:prstGeom>
          <a:solidFill>
            <a:srgbClr val="FFFFFF"/>
          </a:solidFill>
          <a:ln>
            <a:noFill/>
          </a:ln>
        </p:spPr>
        <p:txBody>
          <a:bodyPr/>
          <a:lstStyle/>
          <a:p/>
        </p:txBody>
      </p:sp>
      <p:sp>
        <p:nvSpPr>
          <p:cNvPr id="11" name="acc"/>
          <p:cNvSpPr/>
          <p:nvPr/>
        </p:nvSpPr>
        <p:spPr>
          <a:xfrm>
            <a:off x="457200" y="2280000"/>
            <a:ext cx="68580" cy="770000"/>
          </a:xfrm>
          <a:prstGeom prst="roundRect">
            <a:avLst>
              <a:gd name="adj" fmla="val 30000"/>
            </a:avLst>
          </a:prstGeom>
          <a:solidFill>
            <a:srgbClr val="059669"/>
          </a:solidFill>
          <a:ln>
            <a:noFill/>
          </a:ln>
        </p:spPr>
        <p:txBody>
          <a:bodyPr/>
          <a:lstStyle/>
          <a:p/>
        </p:txBody>
      </p:sp>
      <p:sp>
        <p:nvSpPr>
          <p:cNvPr id="12" name="pill"/>
          <p:cNvSpPr/>
          <p:nvPr/>
        </p:nvSpPr>
        <p:spPr>
          <a:xfrm>
            <a:off x="627200" y="2410000"/>
            <a:ext cx="1150000" cy="260000"/>
          </a:xfrm>
          <a:prstGeom prst="roundRect">
            <a:avLst>
              <a:gd name="adj" fmla="val 30000"/>
            </a:avLst>
          </a:prstGeom>
          <a:solidFill>
            <a:srgbClr val="059669"/>
          </a:solidFill>
          <a:ln>
            <a:noFill/>
          </a:ln>
        </p:spPr>
        <p:txBody>
          <a:bodyPr/>
          <a:lstStyle/>
          <a:p/>
        </p:txBody>
      </p:sp>
      <p:sp>
        <p:nvSpPr>
          <p:cNvPr id="13" name="tx"/>
          <p:cNvSpPr txBox="1"/>
          <p:nvPr/>
        </p:nvSpPr>
        <p:spPr>
          <a:xfrm>
            <a:off x="627200" y="2458000"/>
            <a:ext cx="1150000" cy="200000"/>
          </a:xfrm>
          <a:prstGeom prst="rect">
            <a:avLst/>
          </a:prstGeom>
          <a:noFill/>
        </p:spPr>
        <p:txBody>
          <a:bodyPr wrap="square" anchor="t" lIns="0" rIns="0" tIns="0" bIns="0"/>
          <a:lstStyle/>
          <a:p>
            <a:pPr algn="ctr"/>
            <a:r>
              <a:rPr sz="900" b="1">
                <a:solidFill>
                  <a:srgbClr val="FFFFFF"/>
                </a:solidFill>
                <a:latin typeface="Calibri"/>
              </a:rPr>
              <a:t>LIVE</a:t>
            </a:r>
          </a:p>
        </p:txBody>
      </p:sp>
      <p:sp>
        <p:nvSpPr>
          <p:cNvPr id="14" name="tx"/>
          <p:cNvSpPr txBox="1"/>
          <p:nvPr/>
        </p:nvSpPr>
        <p:spPr>
          <a:xfrm>
            <a:off x="1887200" y="2430000"/>
            <a:ext cx="4920000" cy="240000"/>
          </a:xfrm>
          <a:prstGeom prst="rect">
            <a:avLst/>
          </a:prstGeom>
          <a:noFill/>
        </p:spPr>
        <p:txBody>
          <a:bodyPr wrap="square" anchor="t" lIns="0" rIns="0" tIns="0" bIns="0"/>
          <a:lstStyle/>
          <a:p>
            <a:pPr algn="l"/>
            <a:r>
              <a:rPr sz="1100" b="1">
                <a:solidFill>
                  <a:srgbClr val="493356"/>
                </a:solidFill>
                <a:latin typeface="Calibri"/>
              </a:rPr>
              <a:t>CA</a:t>
            </a:r>
          </a:p>
        </p:txBody>
      </p:sp>
      <p:sp>
        <p:nvSpPr>
          <p:cNvPr id="15" name="tx"/>
          <p:cNvSpPr txBox="1"/>
          <p:nvPr/>
        </p:nvSpPr>
        <p:spPr>
          <a:xfrm>
            <a:off x="1887200" y="2700000"/>
            <a:ext cx="4920000" cy="300000"/>
          </a:xfrm>
          <a:prstGeom prst="rect">
            <a:avLst/>
          </a:prstGeom>
          <a:noFill/>
        </p:spPr>
        <p:txBody>
          <a:bodyPr wrap="square" anchor="t" lIns="0" rIns="0" tIns="0" bIns="0"/>
          <a:lstStyle/>
          <a:p>
            <a:pPr algn="l">
              <a:lnSpc>
                <a:spcPct val="104000"/>
              </a:lnSpc>
            </a:pPr>
            <a:r>
              <a:rPr sz="980" b="0">
                <a:solidFill>
                  <a:srgbClr val="414141"/>
                </a:solidFill>
                <a:latin typeface="Calibri"/>
              </a:rPr>
              <a:t>Already pulling California’s data — 92.4M records, updated weekly.</a:t>
            </a:r>
          </a:p>
        </p:txBody>
      </p:sp>
      <p:sp>
        <p:nvSpPr>
          <p:cNvPr id="16" name="card"/>
          <p:cNvSpPr/>
          <p:nvPr/>
        </p:nvSpPr>
        <p:spPr>
          <a:xfrm>
            <a:off x="457200" y="3120000"/>
            <a:ext cx="6520000" cy="770000"/>
          </a:xfrm>
          <a:prstGeom prst="roundRect">
            <a:avLst>
              <a:gd name="adj" fmla="val 6000"/>
            </a:avLst>
          </a:prstGeom>
          <a:solidFill>
            <a:srgbClr val="FFFFFF"/>
          </a:solidFill>
          <a:ln>
            <a:noFill/>
          </a:ln>
        </p:spPr>
        <p:txBody>
          <a:bodyPr/>
          <a:lstStyle/>
          <a:p/>
        </p:txBody>
      </p:sp>
      <p:sp>
        <p:nvSpPr>
          <p:cNvPr id="17" name="acc"/>
          <p:cNvSpPr/>
          <p:nvPr/>
        </p:nvSpPr>
        <p:spPr>
          <a:xfrm>
            <a:off x="457200" y="3120000"/>
            <a:ext cx="68580" cy="770000"/>
          </a:xfrm>
          <a:prstGeom prst="roundRect">
            <a:avLst>
              <a:gd name="adj" fmla="val 30000"/>
            </a:avLst>
          </a:prstGeom>
          <a:solidFill>
            <a:srgbClr val="3058A3"/>
          </a:solidFill>
          <a:ln>
            <a:noFill/>
          </a:ln>
        </p:spPr>
        <p:txBody>
          <a:bodyPr/>
          <a:lstStyle/>
          <a:p/>
        </p:txBody>
      </p:sp>
      <p:sp>
        <p:nvSpPr>
          <p:cNvPr id="18" name="pill"/>
          <p:cNvSpPr/>
          <p:nvPr/>
        </p:nvSpPr>
        <p:spPr>
          <a:xfrm>
            <a:off x="627200" y="3250000"/>
            <a:ext cx="1150000" cy="260000"/>
          </a:xfrm>
          <a:prstGeom prst="roundRect">
            <a:avLst>
              <a:gd name="adj" fmla="val 30000"/>
            </a:avLst>
          </a:prstGeom>
          <a:solidFill>
            <a:srgbClr val="3058A3"/>
          </a:solidFill>
          <a:ln>
            <a:noFill/>
          </a:ln>
        </p:spPr>
        <p:txBody>
          <a:bodyPr/>
          <a:lstStyle/>
          <a:p/>
        </p:txBody>
      </p:sp>
      <p:sp>
        <p:nvSpPr>
          <p:cNvPr id="19" name="tx"/>
          <p:cNvSpPr txBox="1"/>
          <p:nvPr/>
        </p:nvSpPr>
        <p:spPr>
          <a:xfrm>
            <a:off x="627200" y="3298000"/>
            <a:ext cx="1150000" cy="200000"/>
          </a:xfrm>
          <a:prstGeom prst="rect">
            <a:avLst/>
          </a:prstGeom>
          <a:noFill/>
        </p:spPr>
        <p:txBody>
          <a:bodyPr wrap="square" anchor="t" lIns="0" rIns="0" tIns="0" bIns="0"/>
          <a:lstStyle/>
          <a:p>
            <a:pPr algn="ctr"/>
            <a:r>
              <a:rPr sz="900" b="1">
                <a:solidFill>
                  <a:srgbClr val="FFFFFF"/>
                </a:solidFill>
                <a:latin typeface="Calibri"/>
              </a:rPr>
              <a:t>YES</a:t>
            </a:r>
          </a:p>
        </p:txBody>
      </p:sp>
      <p:sp>
        <p:nvSpPr>
          <p:cNvPr id="20" name="tx"/>
          <p:cNvSpPr txBox="1"/>
          <p:nvPr/>
        </p:nvSpPr>
        <p:spPr>
          <a:xfrm>
            <a:off x="1887200" y="3270000"/>
            <a:ext cx="4920000" cy="240000"/>
          </a:xfrm>
          <a:prstGeom prst="rect">
            <a:avLst/>
          </a:prstGeom>
          <a:noFill/>
        </p:spPr>
        <p:txBody>
          <a:bodyPr wrap="square" anchor="t" lIns="0" rIns="0" tIns="0" bIns="0"/>
          <a:lstStyle/>
          <a:p>
            <a:pPr algn="l"/>
            <a:r>
              <a:rPr sz="1100" b="1">
                <a:solidFill>
                  <a:srgbClr val="493356"/>
                </a:solidFill>
                <a:latin typeface="Calibri"/>
              </a:rPr>
              <a:t>FL · TX · CA · GA · NY · PA  +38</a:t>
            </a:r>
          </a:p>
        </p:txBody>
      </p:sp>
      <p:sp>
        <p:nvSpPr>
          <p:cNvPr id="21" name="tx"/>
          <p:cNvSpPr txBox="1"/>
          <p:nvPr/>
        </p:nvSpPr>
        <p:spPr>
          <a:xfrm>
            <a:off x="1887200" y="3540000"/>
            <a:ext cx="4920000" cy="300000"/>
          </a:xfrm>
          <a:prstGeom prst="rect">
            <a:avLst/>
          </a:prstGeom>
          <a:noFill/>
        </p:spPr>
        <p:txBody>
          <a:bodyPr wrap="square" anchor="t" lIns="0" rIns="0" tIns="0" bIns="0"/>
          <a:lstStyle/>
          <a:p>
            <a:pPr algn="l">
              <a:lnSpc>
                <a:spcPct val="104000"/>
              </a:lnSpc>
            </a:pPr>
            <a:r>
              <a:rPr sz="980" b="0">
                <a:solidFill>
                  <a:srgbClr val="414141"/>
                </a:solidFill>
                <a:latin typeface="Calibri"/>
              </a:rPr>
              <a:t>We obtain it by download, published list, a finder file, or a public-records request — 44 jurisdictions, 86% of members.</a:t>
            </a:r>
          </a:p>
        </p:txBody>
      </p:sp>
      <p:sp>
        <p:nvSpPr>
          <p:cNvPr id="22" name="card"/>
          <p:cNvSpPr/>
          <p:nvPr/>
        </p:nvSpPr>
        <p:spPr>
          <a:xfrm>
            <a:off x="457200" y="3960000"/>
            <a:ext cx="6520000" cy="770000"/>
          </a:xfrm>
          <a:prstGeom prst="roundRect">
            <a:avLst>
              <a:gd name="adj" fmla="val 6000"/>
            </a:avLst>
          </a:prstGeom>
          <a:solidFill>
            <a:srgbClr val="FFFFFF"/>
          </a:solidFill>
          <a:ln>
            <a:noFill/>
          </a:ln>
        </p:spPr>
        <p:txBody>
          <a:bodyPr/>
          <a:lstStyle/>
          <a:p/>
        </p:txBody>
      </p:sp>
      <p:sp>
        <p:nvSpPr>
          <p:cNvPr id="23" name="acc"/>
          <p:cNvSpPr/>
          <p:nvPr/>
        </p:nvSpPr>
        <p:spPr>
          <a:xfrm>
            <a:off x="457200" y="3960000"/>
            <a:ext cx="68580" cy="770000"/>
          </a:xfrm>
          <a:prstGeom prst="roundRect">
            <a:avLst>
              <a:gd name="adj" fmla="val 30000"/>
            </a:avLst>
          </a:prstGeom>
          <a:solidFill>
            <a:srgbClr val="E11D48"/>
          </a:solidFill>
          <a:ln>
            <a:noFill/>
          </a:ln>
        </p:spPr>
        <p:txBody>
          <a:bodyPr/>
          <a:lstStyle/>
          <a:p/>
        </p:txBody>
      </p:sp>
      <p:sp>
        <p:nvSpPr>
          <p:cNvPr id="24" name="pill"/>
          <p:cNvSpPr/>
          <p:nvPr/>
        </p:nvSpPr>
        <p:spPr>
          <a:xfrm>
            <a:off x="627200" y="4090000"/>
            <a:ext cx="1150000" cy="260000"/>
          </a:xfrm>
          <a:prstGeom prst="roundRect">
            <a:avLst>
              <a:gd name="adj" fmla="val 30000"/>
            </a:avLst>
          </a:prstGeom>
          <a:solidFill>
            <a:srgbClr val="E11D48"/>
          </a:solidFill>
          <a:ln>
            <a:noFill/>
          </a:ln>
        </p:spPr>
        <p:txBody>
          <a:bodyPr/>
          <a:lstStyle/>
          <a:p/>
        </p:txBody>
      </p:sp>
      <p:sp>
        <p:nvSpPr>
          <p:cNvPr id="25" name="tx"/>
          <p:cNvSpPr txBox="1"/>
          <p:nvPr/>
        </p:nvSpPr>
        <p:spPr>
          <a:xfrm>
            <a:off x="627200" y="4138000"/>
            <a:ext cx="1150000" cy="200000"/>
          </a:xfrm>
          <a:prstGeom prst="rect">
            <a:avLst/>
          </a:prstGeom>
          <a:noFill/>
        </p:spPr>
        <p:txBody>
          <a:bodyPr wrap="square" anchor="t" lIns="0" rIns="0" tIns="0" bIns="0"/>
          <a:lstStyle/>
          <a:p>
            <a:pPr algn="ctr"/>
            <a:r>
              <a:rPr sz="900" b="1">
                <a:solidFill>
                  <a:srgbClr val="FFFFFF"/>
                </a:solidFill>
                <a:latin typeface="Calibri"/>
              </a:rPr>
              <a:t>BARRED</a:t>
            </a:r>
          </a:p>
        </p:txBody>
      </p:sp>
      <p:sp>
        <p:nvSpPr>
          <p:cNvPr id="26" name="tx"/>
          <p:cNvSpPr txBox="1"/>
          <p:nvPr/>
        </p:nvSpPr>
        <p:spPr>
          <a:xfrm>
            <a:off x="1887200" y="4110000"/>
            <a:ext cx="4920000" cy="240000"/>
          </a:xfrm>
          <a:prstGeom prst="rect">
            <a:avLst/>
          </a:prstGeom>
          <a:noFill/>
        </p:spPr>
        <p:txBody>
          <a:bodyPr wrap="square" anchor="t" lIns="0" rIns="0" tIns="0" bIns="0"/>
          <a:lstStyle/>
          <a:p>
            <a:pPr algn="l"/>
            <a:r>
              <a:rPr sz="1100" b="1">
                <a:solidFill>
                  <a:srgbClr val="493356"/>
                </a:solidFill>
                <a:latin typeface="Calibri"/>
              </a:rPr>
              <a:t>IL · WA · VA · AL · UT · KY · DE · DC</a:t>
            </a:r>
          </a:p>
        </p:txBody>
      </p:sp>
      <p:sp>
        <p:nvSpPr>
          <p:cNvPr id="27" name="tx"/>
          <p:cNvSpPr txBox="1"/>
          <p:nvPr/>
        </p:nvSpPr>
        <p:spPr>
          <a:xfrm>
            <a:off x="1887200" y="4380000"/>
            <a:ext cx="4920000" cy="300000"/>
          </a:xfrm>
          <a:prstGeom prst="rect">
            <a:avLst/>
          </a:prstGeom>
          <a:noFill/>
        </p:spPr>
        <p:txBody>
          <a:bodyPr wrap="square" anchor="t" lIns="0" rIns="0" tIns="0" bIns="0"/>
          <a:lstStyle/>
          <a:p>
            <a:pPr algn="l">
              <a:lnSpc>
                <a:spcPct val="104000"/>
              </a:lnSpc>
            </a:pPr>
            <a:r>
              <a:rPr sz="980" b="0">
                <a:solidFill>
                  <a:srgbClr val="414141"/>
                </a:solidFill>
                <a:latin typeface="Calibri"/>
              </a:rPr>
              <a:t>Database statutorily confidential or FOIA-exempt — a records request is denied.</a:t>
            </a:r>
          </a:p>
        </p:txBody>
      </p:sp>
      <p:sp>
        <p:nvSpPr>
          <p:cNvPr id="28" name="card"/>
          <p:cNvSpPr/>
          <p:nvPr/>
        </p:nvSpPr>
        <p:spPr>
          <a:xfrm>
            <a:off x="457200" y="4800000"/>
            <a:ext cx="6520000" cy="770000"/>
          </a:xfrm>
          <a:prstGeom prst="roundRect">
            <a:avLst>
              <a:gd name="adj" fmla="val 6000"/>
            </a:avLst>
          </a:prstGeom>
          <a:solidFill>
            <a:srgbClr val="FFFFFF"/>
          </a:solidFill>
          <a:ln>
            <a:noFill/>
          </a:ln>
        </p:spPr>
        <p:txBody>
          <a:bodyPr/>
          <a:lstStyle/>
          <a:p/>
        </p:txBody>
      </p:sp>
      <p:sp>
        <p:nvSpPr>
          <p:cNvPr id="29" name="acc"/>
          <p:cNvSpPr/>
          <p:nvPr/>
        </p:nvSpPr>
        <p:spPr>
          <a:xfrm>
            <a:off x="457200" y="4800000"/>
            <a:ext cx="68580" cy="770000"/>
          </a:xfrm>
          <a:prstGeom prst="roundRect">
            <a:avLst>
              <a:gd name="adj" fmla="val 30000"/>
            </a:avLst>
          </a:prstGeom>
          <a:solidFill>
            <a:srgbClr val="8A8A8A"/>
          </a:solidFill>
          <a:ln>
            <a:noFill/>
          </a:ln>
        </p:spPr>
        <p:txBody>
          <a:bodyPr/>
          <a:lstStyle/>
          <a:p/>
        </p:txBody>
      </p:sp>
      <p:sp>
        <p:nvSpPr>
          <p:cNvPr id="30" name="pill"/>
          <p:cNvSpPr/>
          <p:nvPr/>
        </p:nvSpPr>
        <p:spPr>
          <a:xfrm>
            <a:off x="627200" y="4930000"/>
            <a:ext cx="1150000" cy="260000"/>
          </a:xfrm>
          <a:prstGeom prst="roundRect">
            <a:avLst>
              <a:gd name="adj" fmla="val 30000"/>
            </a:avLst>
          </a:prstGeom>
          <a:solidFill>
            <a:srgbClr val="8A8A8A"/>
          </a:solidFill>
          <a:ln>
            <a:noFill/>
          </a:ln>
        </p:spPr>
        <p:txBody>
          <a:bodyPr/>
          <a:lstStyle/>
          <a:p/>
        </p:txBody>
      </p:sp>
      <p:sp>
        <p:nvSpPr>
          <p:cNvPr id="31" name="tx"/>
          <p:cNvSpPr txBox="1"/>
          <p:nvPr/>
        </p:nvSpPr>
        <p:spPr>
          <a:xfrm>
            <a:off x="627200" y="4978000"/>
            <a:ext cx="1150000" cy="200000"/>
          </a:xfrm>
          <a:prstGeom prst="rect">
            <a:avLst/>
          </a:prstGeom>
          <a:noFill/>
        </p:spPr>
        <p:txBody>
          <a:bodyPr wrap="square" anchor="t" lIns="0" rIns="0" tIns="0" bIns="0"/>
          <a:lstStyle/>
          <a:p>
            <a:pPr algn="ctr"/>
            <a:r>
              <a:rPr sz="900" b="1">
                <a:solidFill>
                  <a:srgbClr val="FFFFFF"/>
                </a:solidFill>
                <a:latin typeface="Calibri"/>
              </a:rPr>
              <a:t>NO PATH</a:t>
            </a:r>
          </a:p>
        </p:txBody>
      </p:sp>
      <p:sp>
        <p:nvSpPr>
          <p:cNvPr id="32" name="tx"/>
          <p:cNvSpPr txBox="1"/>
          <p:nvPr/>
        </p:nvSpPr>
        <p:spPr>
          <a:xfrm>
            <a:off x="1887200" y="4950000"/>
            <a:ext cx="4920000" cy="240000"/>
          </a:xfrm>
          <a:prstGeom prst="rect">
            <a:avLst/>
          </a:prstGeom>
          <a:noFill/>
        </p:spPr>
        <p:txBody>
          <a:bodyPr wrap="square" anchor="t" lIns="0" rIns="0" tIns="0" bIns="0"/>
          <a:lstStyle/>
          <a:p>
            <a:pPr algn="l"/>
            <a:r>
              <a:rPr sz="1100" b="1">
                <a:solidFill>
                  <a:srgbClr val="493356"/>
                </a:solidFill>
                <a:latin typeface="Calibri"/>
              </a:rPr>
              <a:t>AZ · PR · AS · AE</a:t>
            </a:r>
          </a:p>
        </p:txBody>
      </p:sp>
      <p:sp>
        <p:nvSpPr>
          <p:cNvPr id="33" name="tx"/>
          <p:cNvSpPr txBox="1"/>
          <p:nvPr/>
        </p:nvSpPr>
        <p:spPr>
          <a:xfrm>
            <a:off x="1887200" y="5220000"/>
            <a:ext cx="4920000" cy="300000"/>
          </a:xfrm>
          <a:prstGeom prst="rect">
            <a:avLst/>
          </a:prstGeom>
          <a:noFill/>
        </p:spPr>
        <p:txBody>
          <a:bodyPr wrap="square" anchor="t" lIns="0" rIns="0" tIns="0" bIns="0"/>
          <a:lstStyle/>
          <a:p>
            <a:pPr algn="l">
              <a:lnSpc>
                <a:spcPct val="104000"/>
              </a:lnSpc>
            </a:pPr>
            <a:r>
              <a:rPr sz="980" b="0">
                <a:solidFill>
                  <a:srgbClr val="414141"/>
                </a:solidFill>
                <a:latin typeface="Calibri"/>
              </a:rPr>
              <a:t>No program or no published list (search-only / no feed).</a:t>
            </a:r>
          </a:p>
        </p:txBody>
      </p:sp>
      <p:sp>
        <p:nvSpPr>
          <p:cNvPr id="34" name="card"/>
          <p:cNvSpPr/>
          <p:nvPr/>
        </p:nvSpPr>
        <p:spPr>
          <a:xfrm>
            <a:off x="7150000" y="2280000"/>
            <a:ext cx="4581752" cy="1620000"/>
          </a:xfrm>
          <a:prstGeom prst="roundRect">
            <a:avLst>
              <a:gd name="adj" fmla="val 6000"/>
            </a:avLst>
          </a:prstGeom>
          <a:solidFill>
            <a:srgbClr val="FFFFFF"/>
          </a:solidFill>
          <a:ln>
            <a:noFill/>
          </a:ln>
        </p:spPr>
        <p:txBody>
          <a:bodyPr/>
          <a:lstStyle/>
          <a:p/>
        </p:txBody>
      </p:sp>
      <p:sp>
        <p:nvSpPr>
          <p:cNvPr id="35" name="acc"/>
          <p:cNvSpPr/>
          <p:nvPr/>
        </p:nvSpPr>
        <p:spPr>
          <a:xfrm>
            <a:off x="7150000" y="2280000"/>
            <a:ext cx="68580" cy="1620000"/>
          </a:xfrm>
          <a:prstGeom prst="roundRect">
            <a:avLst>
              <a:gd name="adj" fmla="val 30000"/>
            </a:avLst>
          </a:prstGeom>
          <a:solidFill>
            <a:srgbClr val="FCC062"/>
          </a:solidFill>
          <a:ln>
            <a:noFill/>
          </a:ln>
        </p:spPr>
        <p:txBody>
          <a:bodyPr/>
          <a:lstStyle/>
          <a:p/>
        </p:txBody>
      </p:sp>
      <p:sp>
        <p:nvSpPr>
          <p:cNvPr id="36" name="tx"/>
          <p:cNvSpPr txBox="1"/>
          <p:nvPr/>
        </p:nvSpPr>
        <p:spPr>
          <a:xfrm>
            <a:off x="7330000" y="2430000"/>
            <a:ext cx="4241752" cy="220000"/>
          </a:xfrm>
          <a:prstGeom prst="rect">
            <a:avLst/>
          </a:prstGeom>
          <a:noFill/>
        </p:spPr>
        <p:txBody>
          <a:bodyPr wrap="square" anchor="t" lIns="0" rIns="0" tIns="0" bIns="0"/>
          <a:lstStyle/>
          <a:p>
            <a:pPr algn="l"/>
            <a:r>
              <a:rPr sz="900" b="1" spc="80">
                <a:solidFill>
                  <a:srgbClr val="8A8A8A"/>
                </a:solidFill>
                <a:latin typeface="Calibri"/>
              </a:rPr>
              <a:t>THE KEY OPEN QUESTION</a:t>
            </a:r>
          </a:p>
        </p:txBody>
      </p:sp>
      <p:sp>
        <p:nvSpPr>
          <p:cNvPr id="37" name="tx"/>
          <p:cNvSpPr txBox="1"/>
          <p:nvPr/>
        </p:nvSpPr>
        <p:spPr>
          <a:xfrm>
            <a:off x="7330000" y="2670000"/>
            <a:ext cx="4221752" cy="560000"/>
          </a:xfrm>
          <a:prstGeom prst="rect">
            <a:avLst/>
          </a:prstGeom>
          <a:noFill/>
        </p:spPr>
        <p:txBody>
          <a:bodyPr wrap="square" anchor="t" lIns="0" rIns="0" tIns="0" bIns="0"/>
          <a:lstStyle/>
          <a:p>
            <a:pPr algn="l">
              <a:lnSpc>
                <a:spcPct val="106000"/>
              </a:lnSpc>
            </a:pPr>
            <a:r>
              <a:rPr sz="1100" b="1">
                <a:solidFill>
                  <a:srgbClr val="493356"/>
                </a:solidFill>
                <a:latin typeface="Calibri"/>
              </a:rPr>
              <a:t>Does a free “found money” alert inside a paid membership count as us being paid to notify someone?</a:t>
            </a:r>
          </a:p>
        </p:txBody>
      </p:sp>
      <p:sp>
        <p:nvSpPr>
          <p:cNvPr id="38" name="tx"/>
          <p:cNvSpPr txBox="1"/>
          <p:nvPr/>
        </p:nvSpPr>
        <p:spPr>
          <a:xfrm>
            <a:off x="7330000" y="3260000"/>
            <a:ext cx="4221752" cy="560000"/>
          </a:xfrm>
          <a:prstGeom prst="rect">
            <a:avLst/>
          </a:prstGeom>
          <a:noFill/>
        </p:spPr>
        <p:txBody>
          <a:bodyPr wrap="square" anchor="t" lIns="0" rIns="0" tIns="0" bIns="0"/>
          <a:lstStyle/>
          <a:p>
            <a:pPr algn="l">
              <a:lnSpc>
                <a:spcPct val="106000"/>
              </a:lnSpc>
            </a:pPr>
            <a:r>
              <a:rPr sz="930" b="0">
                <a:solidFill>
                  <a:srgbClr val="414141"/>
                </a:solidFill>
                <a:latin typeface="Calibri"/>
              </a:rPr>
              <a:t>A few states’ rules are unclear and no court has decided yet. Our outside lawyers have reviewed all of them.</a:t>
            </a:r>
          </a:p>
        </p:txBody>
      </p:sp>
      <p:sp>
        <p:nvSpPr>
          <p:cNvPr id="39" name="card"/>
          <p:cNvSpPr/>
          <p:nvPr/>
        </p:nvSpPr>
        <p:spPr>
          <a:xfrm>
            <a:off x="7150000" y="4070000"/>
            <a:ext cx="4581752" cy="1090000"/>
          </a:xfrm>
          <a:prstGeom prst="roundRect">
            <a:avLst>
              <a:gd name="adj" fmla="val 6000"/>
            </a:avLst>
          </a:prstGeom>
          <a:solidFill>
            <a:srgbClr val="FFFFFF"/>
          </a:solidFill>
          <a:ln>
            <a:noFill/>
          </a:ln>
        </p:spPr>
        <p:txBody>
          <a:bodyPr/>
          <a:lstStyle/>
          <a:p/>
        </p:txBody>
      </p:sp>
      <p:sp>
        <p:nvSpPr>
          <p:cNvPr id="40" name="acc"/>
          <p:cNvSpPr/>
          <p:nvPr/>
        </p:nvSpPr>
        <p:spPr>
          <a:xfrm>
            <a:off x="7150000" y="4070000"/>
            <a:ext cx="68580" cy="1090000"/>
          </a:xfrm>
          <a:prstGeom prst="roundRect">
            <a:avLst>
              <a:gd name="adj" fmla="val 30000"/>
            </a:avLst>
          </a:prstGeom>
          <a:solidFill>
            <a:srgbClr val="EF5E33"/>
          </a:solidFill>
          <a:ln>
            <a:noFill/>
          </a:ln>
        </p:spPr>
        <p:txBody>
          <a:bodyPr/>
          <a:lstStyle/>
          <a:p/>
        </p:txBody>
      </p:sp>
      <p:sp>
        <p:nvSpPr>
          <p:cNvPr id="41" name="tx"/>
          <p:cNvSpPr txBox="1"/>
          <p:nvPr/>
        </p:nvSpPr>
        <p:spPr>
          <a:xfrm>
            <a:off x="7330000" y="4210000"/>
            <a:ext cx="4241752" cy="220000"/>
          </a:xfrm>
          <a:prstGeom prst="rect">
            <a:avLst/>
          </a:prstGeom>
          <a:noFill/>
        </p:spPr>
        <p:txBody>
          <a:bodyPr wrap="square" anchor="t" lIns="0" rIns="0" tIns="0" bIns="0"/>
          <a:lstStyle/>
          <a:p>
            <a:pPr algn="l"/>
            <a:r>
              <a:rPr sz="900" b="1" spc="80">
                <a:solidFill>
                  <a:srgbClr val="8A8A8A"/>
                </a:solidFill>
                <a:latin typeface="Calibri"/>
              </a:rPr>
              <a:t>BIGGEST THINGS TO AVOID</a:t>
            </a:r>
          </a:p>
        </p:txBody>
      </p:sp>
      <p:sp>
        <p:nvSpPr>
          <p:cNvPr id="42" name="tx"/>
          <p:cNvSpPr txBox="1"/>
          <p:nvPr/>
        </p:nvSpPr>
        <p:spPr>
          <a:xfrm>
            <a:off x="7330000" y="4450000"/>
            <a:ext cx="4221752" cy="640000"/>
          </a:xfrm>
          <a:prstGeom prst="rect">
            <a:avLst/>
          </a:prstGeom>
          <a:noFill/>
        </p:spPr>
        <p:txBody>
          <a:bodyPr wrap="square" anchor="t" lIns="0" rIns="0" tIns="0" bIns="0"/>
          <a:lstStyle/>
          <a:p>
            <a:pPr algn="l">
              <a:lnSpc>
                <a:spcPct val="106000"/>
              </a:lnSpc>
            </a:pPr>
            <a:r>
              <a:rPr sz="1000" b="0">
                <a:solidFill>
                  <a:srgbClr val="414141"/>
                </a:solidFill>
                <a:latin typeface="Calibri"/>
              </a:rPr>
              <a:t>Avoid: promising an exact dollar amount, sounding like a government agency, saying someone “has $X” without proof, or texting people about found money without consent.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88952" cy="6858000"/>
          </a:xfrm>
          <a:prstGeom prst="rect">
            <a:avLst/>
          </a:prstGeom>
          <a:solidFill>
            <a:srgbClr val="F5F4F7"/>
          </a:solidFill>
          <a:ln>
            <a:noFill/>
          </a:ln>
        </p:spPr>
        <p:txBody>
          <a:bodyPr/>
          <a:lstStyle/>
          <a:p/>
        </p:txBody>
      </p:sp>
      <p:sp>
        <p:nvSpPr>
          <p:cNvPr id="3" name="TopBar"/>
          <p:cNvSpPr/>
          <p:nvPr/>
        </p:nvSpPr>
        <p:spPr>
          <a:xfrm>
            <a:off x="0" y="0"/>
            <a:ext cx="12188952" cy="54864"/>
          </a:xfrm>
          <a:prstGeom prst="rect">
            <a:avLst/>
          </a:prstGeom>
          <a:solidFill>
            <a:srgbClr val="3058A3"/>
          </a:solidFill>
          <a:ln>
            <a:noFill/>
          </a:ln>
        </p:spPr>
        <p:txBody>
          <a:bodyPr/>
          <a:lstStyle/>
          <a:p/>
        </p:txBody>
      </p:sp>
      <p:sp>
        <p:nvSpPr>
          <p:cNvPr id="4" name="Logo"/>
          <p:cNvSpPr txBox="1"/>
          <p:nvPr/>
        </p:nvSpPr>
        <p:spPr>
          <a:xfrm>
            <a:off x="457200" y="164592"/>
            <a:ext cx="2286000" cy="329184"/>
          </a:xfrm>
          <a:prstGeom prst="rect">
            <a:avLst/>
          </a:prstGeom>
          <a:noFill/>
        </p:spPr>
        <p:txBody>
          <a:bodyPr wrap="square" anchor="t" lIns="0" rIns="0" tIns="0" bIns="0"/>
          <a:lstStyle/>
          <a:p>
            <a:pPr algn="l"/>
            <a:r>
              <a:rPr sz="1600" b="1">
                <a:solidFill>
                  <a:srgbClr val="493356"/>
                </a:solidFill>
                <a:latin typeface="Calibri"/>
              </a:rPr>
              <a:t>CONSUMER</a:t>
            </a:r>
            <a:r>
              <a:rPr sz="1600" b="1">
                <a:solidFill>
                  <a:srgbClr val="3058A3"/>
                </a:solidFill>
                <a:latin typeface="Calibri"/>
              </a:rPr>
              <a:t>DIRECT</a:t>
            </a:r>
          </a:p>
        </p:txBody>
      </p:sp>
      <p:sp>
        <p:nvSpPr>
          <p:cNvPr id="5" name="Title"/>
          <p:cNvSpPr txBox="1"/>
          <p:nvPr/>
        </p:nvSpPr>
        <p:spPr>
          <a:xfrm>
            <a:off x="457200" y="749808"/>
            <a:ext cx="11430000" cy="560000"/>
          </a:xfrm>
          <a:prstGeom prst="rect">
            <a:avLst/>
          </a:prstGeom>
          <a:noFill/>
        </p:spPr>
        <p:txBody>
          <a:bodyPr wrap="square" anchor="t" lIns="0" rIns="0" tIns="0" bIns="0"/>
          <a:lstStyle/>
          <a:p>
            <a:pPr algn="l"/>
            <a:r>
              <a:rPr sz="2800" b="1">
                <a:solidFill>
                  <a:srgbClr val="493356"/>
                </a:solidFill>
                <a:latin typeface="Calibri"/>
              </a:rPr>
              <a:t>Project Timeline</a:t>
            </a:r>
          </a:p>
        </p:txBody>
      </p:sp>
      <p:sp>
        <p:nvSpPr>
          <p:cNvPr id="6" name="Subtitle"/>
          <p:cNvSpPr txBox="1"/>
          <p:nvPr/>
        </p:nvSpPr>
        <p:spPr>
          <a:xfrm>
            <a:off x="457200" y="1372000"/>
            <a:ext cx="11430000" cy="420000"/>
          </a:xfrm>
          <a:prstGeom prst="rect">
            <a:avLst/>
          </a:prstGeom>
          <a:noFill/>
        </p:spPr>
        <p:txBody>
          <a:bodyPr wrap="square" anchor="t" lIns="0" rIns="0" tIns="0" bIns="0"/>
          <a:lstStyle/>
          <a:p>
            <a:pPr algn="l"/>
            <a:r>
              <a:rPr sz="1500" b="0">
                <a:solidFill>
                  <a:srgbClr val="414141"/>
                </a:solidFill>
                <a:latin typeface="Calibri"/>
              </a:rPr>
              <a:t>Phased rollout — prove it in California, then go national.</a:t>
            </a:r>
          </a:p>
        </p:txBody>
      </p:sp>
      <p:sp>
        <p:nvSpPr>
          <p:cNvPr id="7" name="FootL"/>
          <p:cNvSpPr txBox="1"/>
          <p:nvPr/>
        </p:nvSpPr>
        <p:spPr>
          <a:xfrm>
            <a:off x="457200" y="6446520"/>
            <a:ext cx="7315200" cy="274320"/>
          </a:xfrm>
          <a:prstGeom prst="rect">
            <a:avLst/>
          </a:prstGeom>
          <a:noFill/>
        </p:spPr>
        <p:txBody>
          <a:bodyPr wrap="square" anchor="t" lIns="0" rIns="0" tIns="0" bIns="0"/>
          <a:lstStyle/>
          <a:p>
            <a:pPr algn="l"/>
            <a:r>
              <a:rPr sz="900" b="0">
                <a:solidFill>
                  <a:srgbClr val="8A8A8A"/>
                </a:solidFill>
                <a:latin typeface="Calibri"/>
              </a:rPr>
              <a:t>GetMyMoney · Confidential — Consumer Direct, Inc.</a:t>
            </a:r>
          </a:p>
        </p:txBody>
      </p:sp>
      <p:sp>
        <p:nvSpPr>
          <p:cNvPr id="8" name="FootR"/>
          <p:cNvSpPr txBox="1"/>
          <p:nvPr/>
        </p:nvSpPr>
        <p:spPr>
          <a:xfrm>
            <a:off x="11338560" y="6446520"/>
            <a:ext cx="731520" cy="274320"/>
          </a:xfrm>
          <a:prstGeom prst="rect">
            <a:avLst/>
          </a:prstGeom>
          <a:noFill/>
        </p:spPr>
        <p:txBody>
          <a:bodyPr wrap="square" anchor="t" lIns="0" rIns="0" tIns="0" bIns="0"/>
          <a:lstStyle/>
          <a:p>
            <a:pPr algn="r"/>
            <a:r>
              <a:rPr sz="900" b="0">
                <a:solidFill>
                  <a:srgbClr val="8A8A8A"/>
                </a:solidFill>
                <a:latin typeface="Calibri"/>
              </a:rPr>
              <a:t>14 / 15</a:t>
            </a:r>
          </a:p>
        </p:txBody>
      </p:sp>
      <p:sp>
        <p:nvSpPr>
          <p:cNvPr id="9" name="connector"/>
          <p:cNvSpPr/>
          <p:nvPr/>
        </p:nvSpPr>
        <p:spPr>
          <a:xfrm>
            <a:off x="3170838" y="2670000"/>
            <a:ext cx="5847276" cy="60000"/>
          </a:xfrm>
          <a:prstGeom prst="rect">
            <a:avLst/>
          </a:prstGeom>
          <a:solidFill>
            <a:srgbClr val="D5D9E2"/>
          </a:solidFill>
          <a:ln>
            <a:noFill/>
          </a:ln>
        </p:spPr>
        <p:txBody>
          <a:bodyPr/>
          <a:lstStyle/>
          <a:p/>
        </p:txBody>
      </p:sp>
      <p:sp>
        <p:nvSpPr>
          <p:cNvPr id="10" name="pcard"/>
          <p:cNvSpPr/>
          <p:nvPr/>
        </p:nvSpPr>
        <p:spPr>
          <a:xfrm>
            <a:off x="457200" y="3060000"/>
            <a:ext cx="5427276" cy="2560000"/>
          </a:xfrm>
          <a:prstGeom prst="roundRect">
            <a:avLst>
              <a:gd name="adj" fmla="val 8000"/>
            </a:avLst>
          </a:prstGeom>
          <a:solidFill>
            <a:srgbClr val="FFFFFF"/>
          </a:solidFill>
          <a:ln>
            <a:noFill/>
          </a:ln>
        </p:spPr>
        <p:txBody>
          <a:bodyPr/>
          <a:lstStyle/>
          <a:p/>
        </p:txBody>
      </p:sp>
      <p:sp>
        <p:nvSpPr>
          <p:cNvPr id="11" name="pstrip"/>
          <p:cNvSpPr/>
          <p:nvPr/>
        </p:nvSpPr>
        <p:spPr>
          <a:xfrm>
            <a:off x="457200" y="3060000"/>
            <a:ext cx="5427276" cy="90000"/>
          </a:xfrm>
          <a:prstGeom prst="rect">
            <a:avLst/>
          </a:prstGeom>
          <a:solidFill>
            <a:srgbClr val="3058A3"/>
          </a:solidFill>
          <a:ln>
            <a:noFill/>
          </a:ln>
        </p:spPr>
        <p:txBody>
          <a:bodyPr/>
          <a:lstStyle/>
          <a:p/>
        </p:txBody>
      </p:sp>
      <p:sp>
        <p:nvSpPr>
          <p:cNvPr id="12" name="tx"/>
          <p:cNvSpPr txBox="1"/>
          <p:nvPr/>
        </p:nvSpPr>
        <p:spPr>
          <a:xfrm>
            <a:off x="717200" y="3340000"/>
            <a:ext cx="4907276" cy="230000"/>
          </a:xfrm>
          <a:prstGeom prst="rect">
            <a:avLst/>
          </a:prstGeom>
          <a:noFill/>
        </p:spPr>
        <p:txBody>
          <a:bodyPr wrap="square" anchor="t" lIns="0" rIns="0" tIns="0" bIns="0"/>
          <a:lstStyle/>
          <a:p>
            <a:pPr algn="l"/>
            <a:r>
              <a:rPr sz="1050" b="1" spc="60">
                <a:solidFill>
                  <a:srgbClr val="3058A3"/>
                </a:solidFill>
                <a:latin typeface="Calibri"/>
              </a:rPr>
              <a:t>PHASE 1 · Q4 2026</a:t>
            </a:r>
          </a:p>
        </p:txBody>
      </p:sp>
      <p:sp>
        <p:nvSpPr>
          <p:cNvPr id="13" name="tx"/>
          <p:cNvSpPr txBox="1"/>
          <p:nvPr/>
        </p:nvSpPr>
        <p:spPr>
          <a:xfrm>
            <a:off x="717200" y="3640000"/>
            <a:ext cx="4907276" cy="320000"/>
          </a:xfrm>
          <a:prstGeom prst="rect">
            <a:avLst/>
          </a:prstGeom>
          <a:noFill/>
        </p:spPr>
        <p:txBody>
          <a:bodyPr wrap="square" anchor="t" lIns="0" rIns="0" tIns="0" bIns="0"/>
          <a:lstStyle/>
          <a:p>
            <a:pPr algn="l"/>
            <a:r>
              <a:rPr sz="1600" b="1">
                <a:solidFill>
                  <a:srgbClr val="493356"/>
                </a:solidFill>
                <a:latin typeface="Calibri"/>
              </a:rPr>
              <a:t>California pilot</a:t>
            </a:r>
          </a:p>
        </p:txBody>
      </p:sp>
      <p:sp>
        <p:nvSpPr>
          <p:cNvPr id="14" name="tx"/>
          <p:cNvSpPr txBox="1"/>
          <p:nvPr/>
        </p:nvSpPr>
        <p:spPr>
          <a:xfrm>
            <a:off x="717200" y="4140000"/>
            <a:ext cx="4907276" cy="1300000"/>
          </a:xfrm>
          <a:prstGeom prst="rect">
            <a:avLst/>
          </a:prstGeom>
          <a:noFill/>
        </p:spPr>
        <p:txBody>
          <a:bodyPr wrap="square" anchor="t" lIns="0" rIns="0" tIns="0" bIns="0"/>
          <a:lstStyle/>
          <a:p>
            <a:pPr algn="l">
              <a:lnSpc>
                <a:spcPct val="110000"/>
              </a:lnSpc>
              <a:spcBef>
                <a:spcPts val="600"/>
              </a:spcBef>
            </a:pPr>
            <a:r>
              <a:rPr sz="1120" b="1">
                <a:solidFill>
                  <a:srgbClr val="3058A3"/>
                </a:solidFill>
                <a:latin typeface="Calibri"/>
              </a:rPr>
              <a:t xml:space="preserve">—  </a:t>
            </a:r>
            <a:r>
              <a:rPr sz="1120" b="0">
                <a:solidFill>
                  <a:srgbClr val="414141"/>
                </a:solidFill>
                <a:latin typeface="Calibri"/>
              </a:rPr>
              <a:t>Launch in California only — the data is already live (92.4M records).</a:t>
            </a:r>
          </a:p>
          <a:p>
            <a:pPr algn="l">
              <a:lnSpc>
                <a:spcPct val="110000"/>
              </a:lnSpc>
              <a:spcBef>
                <a:spcPts val="600"/>
              </a:spcBef>
            </a:pPr>
            <a:r>
              <a:rPr sz="1120" b="1">
                <a:solidFill>
                  <a:srgbClr val="3058A3"/>
                </a:solidFill>
                <a:latin typeface="Calibri"/>
              </a:rPr>
              <a:t xml:space="preserve">—  </a:t>
            </a:r>
            <a:r>
              <a:rPr sz="1120" b="0">
                <a:solidFill>
                  <a:srgbClr val="414141"/>
                </a:solidFill>
                <a:latin typeface="Calibri"/>
              </a:rPr>
              <a:t>Measure opt-in and adoption rate before scaling.</a:t>
            </a:r>
          </a:p>
        </p:txBody>
      </p:sp>
      <p:sp>
        <p:nvSpPr>
          <p:cNvPr id="15" name="node"/>
          <p:cNvSpPr/>
          <p:nvPr/>
        </p:nvSpPr>
        <p:spPr>
          <a:xfrm>
            <a:off x="2880838" y="2410000"/>
            <a:ext cx="580000" cy="580000"/>
          </a:xfrm>
          <a:prstGeom prst="ellipse">
            <a:avLst/>
          </a:prstGeom>
          <a:solidFill>
            <a:srgbClr val="3058A3"/>
          </a:solidFill>
          <a:ln>
            <a:noFill/>
          </a:ln>
        </p:spPr>
        <p:txBody>
          <a:bodyPr/>
          <a:lstStyle/>
          <a:p/>
        </p:txBody>
      </p:sp>
      <p:sp>
        <p:nvSpPr>
          <p:cNvPr id="16" name="nodenum"/>
          <p:cNvSpPr txBox="1"/>
          <p:nvPr/>
        </p:nvSpPr>
        <p:spPr>
          <a:xfrm>
            <a:off x="2880838" y="2515000"/>
            <a:ext cx="580000" cy="360000"/>
          </a:xfrm>
          <a:prstGeom prst="rect">
            <a:avLst/>
          </a:prstGeom>
          <a:noFill/>
        </p:spPr>
        <p:txBody>
          <a:bodyPr wrap="square" anchor="t" lIns="0" rIns="0" tIns="0" bIns="0"/>
          <a:lstStyle/>
          <a:p>
            <a:pPr algn="ctr"/>
            <a:r>
              <a:rPr sz="2000" b="1">
                <a:solidFill>
                  <a:srgbClr val="FFFFFF"/>
                </a:solidFill>
                <a:latin typeface="Calibri"/>
              </a:rPr>
              <a:t>1</a:t>
            </a:r>
          </a:p>
        </p:txBody>
      </p:sp>
      <p:sp>
        <p:nvSpPr>
          <p:cNvPr id="17" name="pcard"/>
          <p:cNvSpPr/>
          <p:nvPr/>
        </p:nvSpPr>
        <p:spPr>
          <a:xfrm>
            <a:off x="6304476" y="3060000"/>
            <a:ext cx="5427276" cy="2560000"/>
          </a:xfrm>
          <a:prstGeom prst="roundRect">
            <a:avLst>
              <a:gd name="adj" fmla="val 8000"/>
            </a:avLst>
          </a:prstGeom>
          <a:solidFill>
            <a:srgbClr val="FFFFFF"/>
          </a:solidFill>
          <a:ln>
            <a:noFill/>
          </a:ln>
        </p:spPr>
        <p:txBody>
          <a:bodyPr/>
          <a:lstStyle/>
          <a:p/>
        </p:txBody>
      </p:sp>
      <p:sp>
        <p:nvSpPr>
          <p:cNvPr id="18" name="pstrip"/>
          <p:cNvSpPr/>
          <p:nvPr/>
        </p:nvSpPr>
        <p:spPr>
          <a:xfrm>
            <a:off x="6304476" y="3060000"/>
            <a:ext cx="5427276" cy="90000"/>
          </a:xfrm>
          <a:prstGeom prst="rect">
            <a:avLst/>
          </a:prstGeom>
          <a:solidFill>
            <a:srgbClr val="EF5E33"/>
          </a:solidFill>
          <a:ln>
            <a:noFill/>
          </a:ln>
        </p:spPr>
        <p:txBody>
          <a:bodyPr/>
          <a:lstStyle/>
          <a:p/>
        </p:txBody>
      </p:sp>
      <p:sp>
        <p:nvSpPr>
          <p:cNvPr id="19" name="tx"/>
          <p:cNvSpPr txBox="1"/>
          <p:nvPr/>
        </p:nvSpPr>
        <p:spPr>
          <a:xfrm>
            <a:off x="6564476" y="3340000"/>
            <a:ext cx="4907276" cy="230000"/>
          </a:xfrm>
          <a:prstGeom prst="rect">
            <a:avLst/>
          </a:prstGeom>
          <a:noFill/>
        </p:spPr>
        <p:txBody>
          <a:bodyPr wrap="square" anchor="t" lIns="0" rIns="0" tIns="0" bIns="0"/>
          <a:lstStyle/>
          <a:p>
            <a:pPr algn="l"/>
            <a:r>
              <a:rPr sz="1050" b="1" spc="60">
                <a:solidFill>
                  <a:srgbClr val="EF5E33"/>
                </a:solidFill>
                <a:latin typeface="Calibri"/>
              </a:rPr>
              <a:t>PHASE 2 · Q1 2027</a:t>
            </a:r>
          </a:p>
        </p:txBody>
      </p:sp>
      <p:sp>
        <p:nvSpPr>
          <p:cNvPr id="20" name="tx"/>
          <p:cNvSpPr txBox="1"/>
          <p:nvPr/>
        </p:nvSpPr>
        <p:spPr>
          <a:xfrm>
            <a:off x="6564476" y="3640000"/>
            <a:ext cx="4907276" cy="320000"/>
          </a:xfrm>
          <a:prstGeom prst="rect">
            <a:avLst/>
          </a:prstGeom>
          <a:noFill/>
        </p:spPr>
        <p:txBody>
          <a:bodyPr wrap="square" anchor="t" lIns="0" rIns="0" tIns="0" bIns="0"/>
          <a:lstStyle/>
          <a:p>
            <a:pPr algn="l"/>
            <a:r>
              <a:rPr sz="1600" b="1">
                <a:solidFill>
                  <a:srgbClr val="493356"/>
                </a:solidFill>
                <a:latin typeface="Calibri"/>
              </a:rPr>
              <a:t>National rollout</a:t>
            </a:r>
          </a:p>
        </p:txBody>
      </p:sp>
      <p:sp>
        <p:nvSpPr>
          <p:cNvPr id="21" name="tx"/>
          <p:cNvSpPr txBox="1"/>
          <p:nvPr/>
        </p:nvSpPr>
        <p:spPr>
          <a:xfrm>
            <a:off x="6564476" y="4140000"/>
            <a:ext cx="4907276" cy="1300000"/>
          </a:xfrm>
          <a:prstGeom prst="rect">
            <a:avLst/>
          </a:prstGeom>
          <a:noFill/>
        </p:spPr>
        <p:txBody>
          <a:bodyPr wrap="square" anchor="t" lIns="0" rIns="0" tIns="0" bIns="0"/>
          <a:lstStyle/>
          <a:p>
            <a:pPr algn="l">
              <a:lnSpc>
                <a:spcPct val="110000"/>
              </a:lnSpc>
              <a:spcBef>
                <a:spcPts val="600"/>
              </a:spcBef>
            </a:pPr>
            <a:r>
              <a:rPr sz="1120" b="1">
                <a:solidFill>
                  <a:srgbClr val="EF5E33"/>
                </a:solidFill>
                <a:latin typeface="Calibri"/>
              </a:rPr>
              <a:t xml:space="preserve">—  </a:t>
            </a:r>
            <a:r>
              <a:rPr sz="1120" b="0">
                <a:solidFill>
                  <a:srgbClr val="414141"/>
                </a:solidFill>
                <a:latin typeface="Calibri"/>
              </a:rPr>
              <a:t>Expand to the other data-available states — toward 44 jurisdictions (~86% of members), as Legal clears each.</a:t>
            </a:r>
          </a:p>
          <a:p>
            <a:pPr algn="l">
              <a:lnSpc>
                <a:spcPct val="110000"/>
              </a:lnSpc>
              <a:spcBef>
                <a:spcPts val="600"/>
              </a:spcBef>
            </a:pPr>
            <a:r>
              <a:rPr sz="1120" b="1">
                <a:solidFill>
                  <a:srgbClr val="EF5E33"/>
                </a:solidFill>
                <a:latin typeface="Calibri"/>
              </a:rPr>
              <a:t xml:space="preserve">—  </a:t>
            </a:r>
            <a:r>
              <a:rPr sz="1120" b="0">
                <a:solidFill>
                  <a:srgbClr val="414141"/>
                </a:solidFill>
                <a:latin typeface="Calibri"/>
              </a:rPr>
              <a:t>Turn on guided filing for all 50 states + D.C., so every member gets matches or a guided path to claim.</a:t>
            </a:r>
          </a:p>
        </p:txBody>
      </p:sp>
      <p:sp>
        <p:nvSpPr>
          <p:cNvPr id="22" name="node"/>
          <p:cNvSpPr/>
          <p:nvPr/>
        </p:nvSpPr>
        <p:spPr>
          <a:xfrm>
            <a:off x="8728114" y="2410000"/>
            <a:ext cx="580000" cy="580000"/>
          </a:xfrm>
          <a:prstGeom prst="ellipse">
            <a:avLst/>
          </a:prstGeom>
          <a:solidFill>
            <a:srgbClr val="EF5E33"/>
          </a:solidFill>
          <a:ln>
            <a:noFill/>
          </a:ln>
        </p:spPr>
        <p:txBody>
          <a:bodyPr/>
          <a:lstStyle/>
          <a:p/>
        </p:txBody>
      </p:sp>
      <p:sp>
        <p:nvSpPr>
          <p:cNvPr id="23" name="nodenum"/>
          <p:cNvSpPr txBox="1"/>
          <p:nvPr/>
        </p:nvSpPr>
        <p:spPr>
          <a:xfrm>
            <a:off x="8728114" y="2515000"/>
            <a:ext cx="580000" cy="360000"/>
          </a:xfrm>
          <a:prstGeom prst="rect">
            <a:avLst/>
          </a:prstGeom>
          <a:noFill/>
        </p:spPr>
        <p:txBody>
          <a:bodyPr wrap="square" anchor="t" lIns="0" rIns="0" tIns="0" bIns="0"/>
          <a:lstStyle/>
          <a:p>
            <a:pPr algn="ctr"/>
            <a:r>
              <a:rPr sz="2000" b="1">
                <a:solidFill>
                  <a:srgbClr val="FFFFFF"/>
                </a:solidFill>
                <a:latin typeface="Calibri"/>
              </a:rPr>
              <a:t>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88952" cy="6858000"/>
          </a:xfrm>
          <a:prstGeom prst="rect">
            <a:avLst/>
          </a:prstGeom>
          <a:solidFill>
            <a:srgbClr val="3058A3"/>
          </a:solidFill>
          <a:ln>
            <a:noFill/>
          </a:ln>
        </p:spPr>
        <p:txBody>
          <a:bodyPr/>
          <a:lstStyle/>
          <a:p/>
        </p:txBody>
      </p:sp>
      <p:sp>
        <p:nvSpPr>
          <p:cNvPr id="3" name="Logo"/>
          <p:cNvSpPr txBox="1"/>
          <p:nvPr/>
        </p:nvSpPr>
        <p:spPr>
          <a:xfrm>
            <a:off x="457200" y="180000"/>
            <a:ext cx="4000000" cy="329184"/>
          </a:xfrm>
          <a:prstGeom prst="rect">
            <a:avLst/>
          </a:prstGeom>
          <a:noFill/>
        </p:spPr>
        <p:txBody>
          <a:bodyPr wrap="square" anchor="t" lIns="0" rIns="0" tIns="0" bIns="0"/>
          <a:lstStyle/>
          <a:p>
            <a:pPr algn="l"/>
            <a:r>
              <a:rPr sz="1500" b="0">
                <a:solidFill>
                  <a:srgbClr val="FFFFFF"/>
                </a:solidFill>
                <a:latin typeface="Calibri"/>
              </a:rPr>
              <a:t>CONSUMER</a:t>
            </a:r>
            <a:r>
              <a:rPr sz="1500" b="1">
                <a:solidFill>
                  <a:srgbClr val="FFFFFF"/>
                </a:solidFill>
                <a:latin typeface="Calibri"/>
              </a:rPr>
              <a:t>DIRECT</a:t>
            </a:r>
          </a:p>
        </p:txBody>
      </p:sp>
      <p:sp>
        <p:nvSpPr>
          <p:cNvPr id="4" name="tx"/>
          <p:cNvSpPr txBox="1"/>
          <p:nvPr/>
        </p:nvSpPr>
        <p:spPr>
          <a:xfrm>
            <a:off x="457200" y="1480000"/>
            <a:ext cx="9000000" cy="260000"/>
          </a:xfrm>
          <a:prstGeom prst="rect">
            <a:avLst/>
          </a:prstGeom>
          <a:noFill/>
        </p:spPr>
        <p:txBody>
          <a:bodyPr wrap="square" anchor="t" lIns="0" rIns="0" tIns="0" bIns="0"/>
          <a:lstStyle/>
          <a:p>
            <a:pPr algn="l"/>
            <a:r>
              <a:rPr sz="1300" b="1" spc="200">
                <a:solidFill>
                  <a:srgbClr val="FCC062"/>
                </a:solidFill>
                <a:latin typeface="Calibri"/>
              </a:rPr>
              <a:t>THE ASK</a:t>
            </a:r>
          </a:p>
        </p:txBody>
      </p:sp>
      <p:sp>
        <p:nvSpPr>
          <p:cNvPr id="5" name="tx"/>
          <p:cNvSpPr txBox="1"/>
          <p:nvPr/>
        </p:nvSpPr>
        <p:spPr>
          <a:xfrm>
            <a:off x="457200" y="1820000"/>
            <a:ext cx="10900000" cy="1300000"/>
          </a:xfrm>
          <a:prstGeom prst="rect">
            <a:avLst/>
          </a:prstGeom>
          <a:noFill/>
        </p:spPr>
        <p:txBody>
          <a:bodyPr wrap="square" anchor="t" lIns="0" rIns="0" tIns="0" bIns="0"/>
          <a:lstStyle/>
          <a:p>
            <a:pPr algn="l">
              <a:lnSpc>
                <a:spcPct val="102000"/>
              </a:lnSpc>
            </a:pPr>
            <a:r>
              <a:rPr sz="3600" b="1">
                <a:solidFill>
                  <a:srgbClr val="FFFFFF"/>
                </a:solidFill>
                <a:latin typeface="Calibri"/>
              </a:rPr>
              <a:t>Approve the Q4 2026 California pilot.</a:t>
            </a:r>
          </a:p>
        </p:txBody>
      </p:sp>
      <p:sp>
        <p:nvSpPr>
          <p:cNvPr id="6" name="acard"/>
          <p:cNvSpPr/>
          <p:nvPr/>
        </p:nvSpPr>
        <p:spPr>
          <a:xfrm>
            <a:off x="457200" y="3520000"/>
            <a:ext cx="3584850" cy="1980000"/>
          </a:xfrm>
          <a:prstGeom prst="roundRect">
            <a:avLst>
              <a:gd name="adj" fmla="val 8000"/>
            </a:avLst>
          </a:prstGeom>
          <a:solidFill>
            <a:srgbClr val="24467F"/>
          </a:solidFill>
          <a:ln>
            <a:noFill/>
          </a:ln>
        </p:spPr>
        <p:txBody>
          <a:bodyPr/>
          <a:lstStyle/>
          <a:p/>
        </p:txBody>
      </p:sp>
      <p:sp>
        <p:nvSpPr>
          <p:cNvPr id="7" name="adot"/>
          <p:cNvSpPr/>
          <p:nvPr/>
        </p:nvSpPr>
        <p:spPr>
          <a:xfrm>
            <a:off x="677200" y="3750000"/>
            <a:ext cx="300000" cy="300000"/>
          </a:xfrm>
          <a:prstGeom prst="ellipse">
            <a:avLst/>
          </a:prstGeom>
          <a:solidFill>
            <a:srgbClr val="FCC062"/>
          </a:solidFill>
          <a:ln>
            <a:noFill/>
          </a:ln>
        </p:spPr>
        <p:txBody>
          <a:bodyPr/>
          <a:lstStyle/>
          <a:p/>
        </p:txBody>
      </p:sp>
      <p:sp>
        <p:nvSpPr>
          <p:cNvPr id="8" name="tx"/>
          <p:cNvSpPr txBox="1"/>
          <p:nvPr/>
        </p:nvSpPr>
        <p:spPr>
          <a:xfrm>
            <a:off x="677200" y="3798000"/>
            <a:ext cx="300000" cy="240000"/>
          </a:xfrm>
          <a:prstGeom prst="rect">
            <a:avLst/>
          </a:prstGeom>
          <a:noFill/>
        </p:spPr>
        <p:txBody>
          <a:bodyPr wrap="square" anchor="t" lIns="0" rIns="0" tIns="0" bIns="0"/>
          <a:lstStyle/>
          <a:p>
            <a:pPr algn="ctr"/>
            <a:r>
              <a:rPr sz="1100" b="1">
                <a:solidFill>
                  <a:srgbClr val="24467F"/>
                </a:solidFill>
                <a:latin typeface="Calibri"/>
              </a:rPr>
              <a:t>1</a:t>
            </a:r>
          </a:p>
        </p:txBody>
      </p:sp>
      <p:sp>
        <p:nvSpPr>
          <p:cNvPr id="9" name="tx"/>
          <p:cNvSpPr txBox="1"/>
          <p:nvPr/>
        </p:nvSpPr>
        <p:spPr>
          <a:xfrm>
            <a:off x="677200" y="4180000"/>
            <a:ext cx="3164850" cy="300000"/>
          </a:xfrm>
          <a:prstGeom prst="rect">
            <a:avLst/>
          </a:prstGeom>
          <a:noFill/>
        </p:spPr>
        <p:txBody>
          <a:bodyPr wrap="square" anchor="t" lIns="0" rIns="0" tIns="0" bIns="0"/>
          <a:lstStyle/>
          <a:p>
            <a:pPr algn="l"/>
            <a:r>
              <a:rPr sz="1400" b="1">
                <a:solidFill>
                  <a:srgbClr val="FFFFFF"/>
                </a:solidFill>
                <a:latin typeface="Calibri"/>
              </a:rPr>
              <a:t>Low risk, low lift</a:t>
            </a:r>
          </a:p>
        </p:txBody>
      </p:sp>
      <p:sp>
        <p:nvSpPr>
          <p:cNvPr id="10" name="tx"/>
          <p:cNvSpPr txBox="1"/>
          <p:nvPr/>
        </p:nvSpPr>
        <p:spPr>
          <a:xfrm>
            <a:off x="677200" y="4530000"/>
            <a:ext cx="3164850" cy="820000"/>
          </a:xfrm>
          <a:prstGeom prst="rect">
            <a:avLst/>
          </a:prstGeom>
          <a:noFill/>
        </p:spPr>
        <p:txBody>
          <a:bodyPr wrap="square" anchor="t" lIns="0" rIns="0" tIns="0" bIns="0"/>
          <a:lstStyle/>
          <a:p>
            <a:pPr algn="l">
              <a:lnSpc>
                <a:spcPct val="110000"/>
              </a:lnSpc>
            </a:pPr>
            <a:r>
              <a:rPr sz="1080" b="0">
                <a:solidFill>
                  <a:srgbClr val="CADCFC"/>
                </a:solidFill>
                <a:latin typeface="Calibri"/>
              </a:rPr>
              <a:t>CA data is already live (92.4M records); the matching engine is PrivacyMaster, already in production.</a:t>
            </a:r>
          </a:p>
        </p:txBody>
      </p:sp>
      <p:sp>
        <p:nvSpPr>
          <p:cNvPr id="11" name="acard"/>
          <p:cNvSpPr/>
          <p:nvPr/>
        </p:nvSpPr>
        <p:spPr>
          <a:xfrm>
            <a:off x="4302050" y="3520000"/>
            <a:ext cx="3584850" cy="1980000"/>
          </a:xfrm>
          <a:prstGeom prst="roundRect">
            <a:avLst>
              <a:gd name="adj" fmla="val 8000"/>
            </a:avLst>
          </a:prstGeom>
          <a:solidFill>
            <a:srgbClr val="24467F"/>
          </a:solidFill>
          <a:ln>
            <a:noFill/>
          </a:ln>
        </p:spPr>
        <p:txBody>
          <a:bodyPr/>
          <a:lstStyle/>
          <a:p/>
        </p:txBody>
      </p:sp>
      <p:sp>
        <p:nvSpPr>
          <p:cNvPr id="12" name="adot"/>
          <p:cNvSpPr/>
          <p:nvPr/>
        </p:nvSpPr>
        <p:spPr>
          <a:xfrm>
            <a:off x="4522050" y="3750000"/>
            <a:ext cx="300000" cy="300000"/>
          </a:xfrm>
          <a:prstGeom prst="ellipse">
            <a:avLst/>
          </a:prstGeom>
          <a:solidFill>
            <a:srgbClr val="FCC062"/>
          </a:solidFill>
          <a:ln>
            <a:noFill/>
          </a:ln>
        </p:spPr>
        <p:txBody>
          <a:bodyPr/>
          <a:lstStyle/>
          <a:p/>
        </p:txBody>
      </p:sp>
      <p:sp>
        <p:nvSpPr>
          <p:cNvPr id="13" name="tx"/>
          <p:cNvSpPr txBox="1"/>
          <p:nvPr/>
        </p:nvSpPr>
        <p:spPr>
          <a:xfrm>
            <a:off x="4522050" y="3798000"/>
            <a:ext cx="300000" cy="240000"/>
          </a:xfrm>
          <a:prstGeom prst="rect">
            <a:avLst/>
          </a:prstGeom>
          <a:noFill/>
        </p:spPr>
        <p:txBody>
          <a:bodyPr wrap="square" anchor="t" lIns="0" rIns="0" tIns="0" bIns="0"/>
          <a:lstStyle/>
          <a:p>
            <a:pPr algn="ctr"/>
            <a:r>
              <a:rPr sz="1100" b="1">
                <a:solidFill>
                  <a:srgbClr val="24467F"/>
                </a:solidFill>
                <a:latin typeface="Calibri"/>
              </a:rPr>
              <a:t>2</a:t>
            </a:r>
          </a:p>
        </p:txBody>
      </p:sp>
      <p:sp>
        <p:nvSpPr>
          <p:cNvPr id="14" name="tx"/>
          <p:cNvSpPr txBox="1"/>
          <p:nvPr/>
        </p:nvSpPr>
        <p:spPr>
          <a:xfrm>
            <a:off x="4522050" y="4180000"/>
            <a:ext cx="3164850" cy="300000"/>
          </a:xfrm>
          <a:prstGeom prst="rect">
            <a:avLst/>
          </a:prstGeom>
          <a:noFill/>
        </p:spPr>
        <p:txBody>
          <a:bodyPr wrap="square" anchor="t" lIns="0" rIns="0" tIns="0" bIns="0"/>
          <a:lstStyle/>
          <a:p>
            <a:pPr algn="l"/>
            <a:r>
              <a:rPr sz="1400" b="1">
                <a:solidFill>
                  <a:srgbClr val="FFFFFF"/>
                </a:solidFill>
                <a:latin typeface="Calibri"/>
              </a:rPr>
              <a:t>A clear measure</a:t>
            </a:r>
          </a:p>
        </p:txBody>
      </p:sp>
      <p:sp>
        <p:nvSpPr>
          <p:cNvPr id="15" name="tx"/>
          <p:cNvSpPr txBox="1"/>
          <p:nvPr/>
        </p:nvSpPr>
        <p:spPr>
          <a:xfrm>
            <a:off x="4522050" y="4530000"/>
            <a:ext cx="3164850" cy="820000"/>
          </a:xfrm>
          <a:prstGeom prst="rect">
            <a:avLst/>
          </a:prstGeom>
          <a:noFill/>
        </p:spPr>
        <p:txBody>
          <a:bodyPr wrap="square" anchor="t" lIns="0" rIns="0" tIns="0" bIns="0"/>
          <a:lstStyle/>
          <a:p>
            <a:pPr algn="l">
              <a:lnSpc>
                <a:spcPct val="110000"/>
              </a:lnSpc>
            </a:pPr>
            <a:r>
              <a:rPr sz="1080" b="0">
                <a:solidFill>
                  <a:srgbClr val="CADCFC"/>
                </a:solidFill>
                <a:latin typeface="Calibri"/>
              </a:rPr>
              <a:t>Prove opt-in, adoption, and retention lift before any national spend.</a:t>
            </a:r>
          </a:p>
        </p:txBody>
      </p:sp>
      <p:sp>
        <p:nvSpPr>
          <p:cNvPr id="16" name="acard"/>
          <p:cNvSpPr/>
          <p:nvPr/>
        </p:nvSpPr>
        <p:spPr>
          <a:xfrm>
            <a:off x="8146900" y="3520000"/>
            <a:ext cx="3584850" cy="1980000"/>
          </a:xfrm>
          <a:prstGeom prst="roundRect">
            <a:avLst>
              <a:gd name="adj" fmla="val 8000"/>
            </a:avLst>
          </a:prstGeom>
          <a:solidFill>
            <a:srgbClr val="24467F"/>
          </a:solidFill>
          <a:ln>
            <a:noFill/>
          </a:ln>
        </p:spPr>
        <p:txBody>
          <a:bodyPr/>
          <a:lstStyle/>
          <a:p/>
        </p:txBody>
      </p:sp>
      <p:sp>
        <p:nvSpPr>
          <p:cNvPr id="17" name="adot"/>
          <p:cNvSpPr/>
          <p:nvPr/>
        </p:nvSpPr>
        <p:spPr>
          <a:xfrm>
            <a:off x="8366900" y="3750000"/>
            <a:ext cx="300000" cy="300000"/>
          </a:xfrm>
          <a:prstGeom prst="ellipse">
            <a:avLst/>
          </a:prstGeom>
          <a:solidFill>
            <a:srgbClr val="FCC062"/>
          </a:solidFill>
          <a:ln>
            <a:noFill/>
          </a:ln>
        </p:spPr>
        <p:txBody>
          <a:bodyPr/>
          <a:lstStyle/>
          <a:p/>
        </p:txBody>
      </p:sp>
      <p:sp>
        <p:nvSpPr>
          <p:cNvPr id="18" name="tx"/>
          <p:cNvSpPr txBox="1"/>
          <p:nvPr/>
        </p:nvSpPr>
        <p:spPr>
          <a:xfrm>
            <a:off x="8366900" y="3798000"/>
            <a:ext cx="300000" cy="240000"/>
          </a:xfrm>
          <a:prstGeom prst="rect">
            <a:avLst/>
          </a:prstGeom>
          <a:noFill/>
        </p:spPr>
        <p:txBody>
          <a:bodyPr wrap="square" anchor="t" lIns="0" rIns="0" tIns="0" bIns="0"/>
          <a:lstStyle/>
          <a:p>
            <a:pPr algn="ctr"/>
            <a:r>
              <a:rPr sz="1100" b="1">
                <a:solidFill>
                  <a:srgbClr val="24467F"/>
                </a:solidFill>
                <a:latin typeface="Calibri"/>
              </a:rPr>
              <a:t>3</a:t>
            </a:r>
          </a:p>
        </p:txBody>
      </p:sp>
      <p:sp>
        <p:nvSpPr>
          <p:cNvPr id="19" name="tx"/>
          <p:cNvSpPr txBox="1"/>
          <p:nvPr/>
        </p:nvSpPr>
        <p:spPr>
          <a:xfrm>
            <a:off x="8366900" y="4180000"/>
            <a:ext cx="3164850" cy="300000"/>
          </a:xfrm>
          <a:prstGeom prst="rect">
            <a:avLst/>
          </a:prstGeom>
          <a:noFill/>
        </p:spPr>
        <p:txBody>
          <a:bodyPr wrap="square" anchor="t" lIns="0" rIns="0" tIns="0" bIns="0"/>
          <a:lstStyle/>
          <a:p>
            <a:pPr algn="l"/>
            <a:r>
              <a:rPr sz="1400" b="1">
                <a:solidFill>
                  <a:srgbClr val="FFFFFF"/>
                </a:solidFill>
                <a:latin typeface="Calibri"/>
              </a:rPr>
              <a:t>Real differentiation</a:t>
            </a:r>
          </a:p>
        </p:txBody>
      </p:sp>
      <p:sp>
        <p:nvSpPr>
          <p:cNvPr id="20" name="tx"/>
          <p:cNvSpPr txBox="1"/>
          <p:nvPr/>
        </p:nvSpPr>
        <p:spPr>
          <a:xfrm>
            <a:off x="8366900" y="4530000"/>
            <a:ext cx="3164850" cy="820000"/>
          </a:xfrm>
          <a:prstGeom prst="rect">
            <a:avLst/>
          </a:prstGeom>
          <a:noFill/>
        </p:spPr>
        <p:txBody>
          <a:bodyPr wrap="square" anchor="t" lIns="0" rIns="0" tIns="0" bIns="0"/>
          <a:lstStyle/>
          <a:p>
            <a:pPr algn="l">
              <a:lnSpc>
                <a:spcPct val="110000"/>
              </a:lnSpc>
            </a:pPr>
            <a:r>
              <a:rPr sz="1080" b="0">
                <a:solidFill>
                  <a:srgbClr val="CADCFC"/>
                </a:solidFill>
                <a:latin typeface="Calibri"/>
              </a:rPr>
              <a:t>The first credit-monitoring product to surface unclaimed property — a new acquisition hook.</a:t>
            </a:r>
          </a:p>
        </p:txBody>
      </p:sp>
      <p:sp>
        <p:nvSpPr>
          <p:cNvPr id="21" name="tx"/>
          <p:cNvSpPr txBox="1"/>
          <p:nvPr/>
        </p:nvSpPr>
        <p:spPr>
          <a:xfrm>
            <a:off x="457200" y="5680000"/>
            <a:ext cx="11274552" cy="300000"/>
          </a:xfrm>
          <a:prstGeom prst="rect">
            <a:avLst/>
          </a:prstGeom>
          <a:noFill/>
        </p:spPr>
        <p:txBody>
          <a:bodyPr wrap="square" anchor="t" lIns="0" rIns="0" tIns="0" bIns="0"/>
          <a:lstStyle/>
          <a:p>
            <a:pPr algn="l"/>
            <a:r>
              <a:rPr sz="1250" b="0" i="1">
                <a:solidFill>
                  <a:srgbClr val="CADCFC"/>
                </a:solidFill>
                <a:latin typeface="Calibri"/>
              </a:rPr>
              <a:t>Then: expand to all data-available states + national guided filing in Q1 2027.</a:t>
            </a:r>
          </a:p>
        </p:txBody>
      </p:sp>
      <p:sp>
        <p:nvSpPr>
          <p:cNvPr id="22" name="tx"/>
          <p:cNvSpPr txBox="1"/>
          <p:nvPr/>
        </p:nvSpPr>
        <p:spPr>
          <a:xfrm>
            <a:off x="457200" y="6446520"/>
            <a:ext cx="7315200" cy="274320"/>
          </a:xfrm>
          <a:prstGeom prst="rect">
            <a:avLst/>
          </a:prstGeom>
          <a:noFill/>
        </p:spPr>
        <p:txBody>
          <a:bodyPr wrap="square" anchor="t" lIns="0" rIns="0" tIns="0" bIns="0"/>
          <a:lstStyle/>
          <a:p>
            <a:pPr algn="l"/>
            <a:r>
              <a:rPr sz="900" b="0">
                <a:solidFill>
                  <a:srgbClr val="CADCFC"/>
                </a:solidFill>
                <a:latin typeface="Calibri"/>
              </a:rPr>
              <a:t>GetMyMoney · Confidential — Consumer Direct, Inc.</a:t>
            </a:r>
          </a:p>
        </p:txBody>
      </p:sp>
      <p:sp>
        <p:nvSpPr>
          <p:cNvPr id="23" name="tx"/>
          <p:cNvSpPr txBox="1"/>
          <p:nvPr/>
        </p:nvSpPr>
        <p:spPr>
          <a:xfrm>
            <a:off x="11338560" y="6446520"/>
            <a:ext cx="731520" cy="274320"/>
          </a:xfrm>
          <a:prstGeom prst="rect">
            <a:avLst/>
          </a:prstGeom>
          <a:noFill/>
        </p:spPr>
        <p:txBody>
          <a:bodyPr wrap="square" anchor="t" lIns="0" rIns="0" tIns="0" bIns="0"/>
          <a:lstStyle/>
          <a:p>
            <a:pPr algn="r"/>
            <a:r>
              <a:rPr sz="900" b="0">
                <a:solidFill>
                  <a:srgbClr val="CADCFC"/>
                </a:solidFill>
                <a:latin typeface="Calibri"/>
              </a:rPr>
              <a:t>15 / 15</a:t>
            </a:r>
          </a:p>
        </p:txBody>
      </p:sp>
    </p:spTree>
  </p:cSld>
  <p:clrMapOvr>
    <a:masterClrMapping/>
  </p:clrMapOvr>
</p:sld>
</file>

<file path=ppt/theme/theme1.xml><?xml version="1.0" encoding="utf-8"?>
<a:theme xmlns:a="http://schemas.openxmlformats.org/drawingml/2006/main" name="ConsumerDirect">
  <a:themeElements>
    <a:clrScheme name="CD">
      <a:dk1>
        <a:srgbClr val="493356"/>
      </a:dk1>
      <a:lt1>
        <a:srgbClr val="FFFFFF"/>
      </a:lt1>
      <a:dk2>
        <a:srgbClr val="414141"/>
      </a:dk2>
      <a:lt2>
        <a:srgbClr val="E7E6E6"/>
      </a:lt2>
      <a:accent1>
        <a:srgbClr val="3058A3"/>
      </a:accent1>
      <a:accent2>
        <a:srgbClr val="52CCF3"/>
      </a:accent2>
      <a:accent3>
        <a:srgbClr val="FCC062"/>
      </a:accent3>
      <a:accent4>
        <a:srgbClr val="EF5E33"/>
      </a:accent4>
      <a:accent5>
        <a:srgbClr val="493356"/>
      </a:accent5>
      <a:accent6>
        <a:srgbClr val="8A8A8A"/>
      </a:accent6>
      <a:hlink>
        <a:srgbClr val="0563C1"/>
      </a:hlink>
      <a:folHlink>
        <a:srgbClr val="1D448A"/>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solidFill>
              <a:schemeClr val="accent2"/>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onsumerDirect"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