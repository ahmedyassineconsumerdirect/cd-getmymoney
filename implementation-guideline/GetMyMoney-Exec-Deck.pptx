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2062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Open Sans"/>
              </a:rPr>
              <a:t>smartcredit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863C5"/>
                </a:solidFill>
                <a:latin typeface="Open Sans"/>
              </a:rPr>
              <a:t>PRODUCT PROPOSAL · MONEY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1">
                <a:solidFill>
                  <a:srgbClr val="0F172A"/>
                </a:solidFill>
                <a:latin typeface="Open Sans"/>
              </a:rPr>
              <a:t>GetMyMoney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334155"/>
                </a:solidFill>
                <a:latin typeface="Open Sans"/>
              </a:rPr>
              <a:t>Find money the state owes our members.
Automatically. Free.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3276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Open Sans"/>
              </a:rPr>
              <a:t>Ahmed Yassine  ·  Consumer Direct, Inc.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smartcredit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Open Sans"/>
              </a:rPr>
              <a:t>2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GetMyMoney · Confidential — Consumer Direct,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  <a:latin typeface="Open Sans"/>
              </a:rPr>
              <a:t>WHAT IS UNCLAIMED PROPERTY?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430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Open Sans"/>
              </a:rPr>
              <a:t>Money owed to you that the company holding it lost track of.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30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Open Sans"/>
              </a:rPr>
              <a:t>When a bank, employer, insurer, or utility can't reach the owner of an account or balance for a set period (typically 1–3 years), state law requires them to turn it over to the state. It sits there — in the owner's name — until someone claims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COMMON 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27432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023360"/>
            <a:ext cx="2743200" cy="73152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22452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Bank 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590288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Dormant savings, checking, CDs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9272" y="4023360"/>
            <a:ext cx="27432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4023360"/>
            <a:ext cx="2743200" cy="73152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422452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Uncashed paychecks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4590288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Final wages, commissions, bonuses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4023360"/>
            <a:ext cx="27432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4023360"/>
            <a:ext cx="2743200" cy="73152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9944" y="422452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Refunds &amp; deposits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4590288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Utility, rent, insurance, retail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43416" y="4023360"/>
            <a:ext cx="27432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43416" y="4023360"/>
            <a:ext cx="2743200" cy="73152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72016" y="422452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Investments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6" y="4590288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Stock dividends, matured bonds, IRAs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486400"/>
            <a:ext cx="11247120" cy="502920"/>
          </a:xfrm>
          <a:prstGeom prst="roundRect">
            <a:avLst>
              <a:gd name="adj" fmla="val 7000"/>
            </a:avLst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55040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Nationwide: $70B+ sitting with state treasurers · ~33M Americans have property waiting (NAUPA, FY2024)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smartcredit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Open Sans"/>
              </a:rPr>
              <a:t>3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GetMyMoney · Confidential — Consumer Direct,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  <a:latin typeface="Open Sans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430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Open Sans"/>
              </a:rPr>
              <a:t>GetMyMoney is a free SmartCredit feature
that finds unclaimed money owed to our members.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WHAT THE MEMBER EXPERIENCES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37560"/>
            <a:ext cx="548640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58444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45643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We notify them inside SmartCredit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79476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"Possible match found. The state may be holding property in your name."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97680"/>
            <a:ext cx="548640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45445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41655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They review the possible matches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75488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Holder, type, amount range — laid out as cards. The state determines eligibility.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257800"/>
            <a:ext cx="548640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550468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37667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We hand them off to the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71500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Deep-link to the official state claim portal with step-by-step instructions for filing.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83464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WHAT IT FEELS LIKE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337560"/>
            <a:ext cx="530352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34747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C4C0B"/>
                </a:solidFill>
                <a:latin typeface="Open Sans"/>
              </a:rPr>
              <a:t>POSSIBLE 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79476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Open Sans"/>
              </a:rPr>
              <a:t>Credit Balance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2519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Reported by financial institution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24160" y="37947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6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2863C5"/>
                </a:solidFill>
                <a:latin typeface="Open Sans"/>
              </a:rPr>
              <a:t>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70916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C4C0B"/>
                </a:solidFill>
                <a:latin typeface="Open Sans"/>
              </a:rPr>
              <a:t>$100 – $499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5321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Open Sans"/>
              </a:rPr>
              <a:t>Matched on name + prior city / address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400" y="589788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C4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Open Sans"/>
              </a:rPr>
              <a:t>Continue to official claim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59436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  <a:latin typeface="Open Sans"/>
              </a:rPr>
              <a:t>Not 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49224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Open Sans"/>
              </a:rPr>
              <a:t>The state determines eligibility. Official state claims are free. SmartCredit does not guarantee approval.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smartcredit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Open Sans"/>
              </a:rPr>
              <a:t>4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GetMyMoney · Confidential — Consumer Direct,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  <a:latin typeface="Open Sans"/>
              </a:rPr>
              <a:t>THE PII MATCHING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430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Open Sans"/>
              </a:rPr>
              <a:t>Same engine members already trust. New mission.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11430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Open Sans"/>
              </a:rPr>
              <a:t>SmartCredit's PII matching engine already auto-scans data brokers, businesses, and government sites for member info. Members get an alert and choose Remove or Keep. GetMyMoney points the same engine at state unclaimed-property records — same auto-scan, same alert, same trust envelope.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97480"/>
            <a:ext cx="5120640" cy="3200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5120640" cy="164592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90088"/>
            <a:ext cx="4754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TODAY · DATA-BROKER SCRUB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10712"/>
            <a:ext cx="4754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Open Sans"/>
              </a:rPr>
              <a:t>Find data brokers exposing the 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114800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SmartCredit member 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439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4443984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Fuzzy + phonetic name match (PII)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731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Corpus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773168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Hundreds of broker, business, gov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023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Pattern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5102352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Auto-scan → alert → member chooses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3153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Member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5431536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Remove  /  Keep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715000" y="4069080"/>
            <a:ext cx="365759" cy="548640"/>
          </a:xfrm>
          <a:prstGeom prst="rightArrow">
            <a:avLst/>
          </a:prstGeom>
          <a:solidFill>
            <a:srgbClr val="FC4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59" y="46634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4C0B"/>
                </a:solidFill>
                <a:latin typeface="Open Sans"/>
              </a:rPr>
              <a:t>same engine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697480"/>
            <a:ext cx="5120640" cy="3200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2863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697480"/>
            <a:ext cx="5120640" cy="164592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990088"/>
            <a:ext cx="4754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  <a:latin typeface="Open Sans"/>
              </a:rPr>
              <a:t>TOMORROW · GetMyMoney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410712"/>
            <a:ext cx="4754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Open Sans"/>
              </a:rPr>
              <a:t>Find unclaimed money owed to the member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11480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Input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4114800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Same SmartCredit member identity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439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4443984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Same PII matcher — no rebuild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7731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Corpus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4773168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State unclaimed-property records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1023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Pattern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79" y="5102352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Auto-scan → alert → member chooses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43153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Member 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79" y="5431536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Claim  /  Not me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6080760"/>
            <a:ext cx="11247120" cy="457200"/>
          </a:xfrm>
          <a:prstGeom prst="roundRect">
            <a:avLst>
              <a:gd name="adj" fmla="val 7000"/>
            </a:avLst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6144768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GetMyMoney is not a new product surface — it's a different outcome from the same security envelope members already opted into.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smartcredit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Open Sans"/>
              </a:rPr>
              <a:t>5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GetMyMoney · Confidential — Consumer Direct,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  <a:latin typeface="Open Sans"/>
              </a:rPr>
              <a:t>DATA INGESTION · CUSTOMER-DRIVEN PRIORITY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430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Open Sans"/>
              </a:rPr>
              <a:t>No data feed = no alert. To notify a member, we need the data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11430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Open Sans"/>
              </a:rPr>
              <a:t>Top 10 = ~68% of SC net actives. CA · TX · GA · NY · FL = 5 paths to data (CSV, SIFT, DOR file, OSC SFTP, Sunshine Law PRR) → 158,054 members (~53% of base) actively alertable. IL/NC/NJ/OH need state outreach to confirm. PA, SC, WA, AZ, MA, MI are blind spots — no feed available + scraping is blocked or unlawful.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11247120" cy="2926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237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523744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523744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NET ACTIVES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523744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INGEST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523744"/>
            <a:ext cx="6766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WHAT THAT MEANS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61488"/>
            <a:ext cx="11247120" cy="32918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834640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16352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FL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825496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Open Sans"/>
              </a:rPr>
              <a:t>48,436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2816352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FC4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PRR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834640"/>
            <a:ext cx="6766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Ch. 119 Sunshine Law PRR → owner-name list from DFS. Recurring possible.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90672"/>
            <a:ext cx="112471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16382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145536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TX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3154679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Open Sans"/>
              </a:rPr>
              <a:t>45,670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3145536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FFB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FEED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163824"/>
            <a:ext cx="6766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SIFT bulk feed via PI license + written request to Comptroller.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19856"/>
            <a:ext cx="11247120" cy="32918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493008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3474720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483863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Open Sans"/>
              </a:rPr>
              <a:t>31,110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20440" y="3474720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FEED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3493008"/>
            <a:ext cx="6766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Free public CSV updated Thursdays — already ingested (92.4M rows) 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749039"/>
            <a:ext cx="112471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822191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3803903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GA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813048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Open Sans"/>
              </a:rPr>
              <a:t>18,837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20440" y="3803903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FFB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FEED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3822191"/>
            <a:ext cx="6766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Weekly delimited file via written DOR request.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078224"/>
            <a:ext cx="11247120" cy="32918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151376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4133087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NY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14223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Open Sans"/>
              </a:rPr>
              <a:t>15,001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520440" y="4133087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FFB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FEED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0" y="4151376"/>
            <a:ext cx="6766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Secure-FTP quarterly TXT via OSC. PII stays internal.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407408"/>
            <a:ext cx="112471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480560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" y="4462272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20240" y="4471416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Open Sans"/>
              </a:rPr>
              <a:t>10,536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520440" y="4462272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OUTREACH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7760" y="4480560"/>
            <a:ext cx="6766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No feed surfaced. Need to ask iL Treasurer for a bulk option.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736592"/>
            <a:ext cx="11247120" cy="32918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48097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" y="4791456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NC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20240" y="4800600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Open Sans"/>
              </a:rPr>
              <a:t>9,549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520440" y="4791456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OUTREACH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37760" y="4809744"/>
            <a:ext cx="6766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No feed surfaced. Need to ask NC Treasurer.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5065776"/>
            <a:ext cx="112471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5138928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" y="5120640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NJ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20240" y="5129784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Open Sans"/>
              </a:rPr>
              <a:t>8,526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520440" y="5120640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OUTREACH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37760" y="5138928"/>
            <a:ext cx="6766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No feed surfaced. Need to ask NJ Treasury.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394960"/>
            <a:ext cx="11247120" cy="32918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5468112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" y="5449824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PA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20240" y="5458968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Open Sans"/>
              </a:rPr>
              <a:t>8,172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520440" y="5449824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BLIND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37760" y="5468112"/>
            <a:ext cx="6766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Anti-bot/anti-AI policy + no feed → can't acquire data. Members invisible.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5724144"/>
            <a:ext cx="112471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5797296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10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" y="5779008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SC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20240" y="578815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Open Sans"/>
              </a:rPr>
              <a:t>5,992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520440" y="5779008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BLIND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937760" y="5797296"/>
            <a:ext cx="6766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§30-2-50 bars commercial use of owner data + no feed → can't acquire.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7200" y="6080760"/>
            <a:ext cx="11247120" cy="502920"/>
          </a:xfrm>
          <a:prstGeom prst="roundRect">
            <a:avLst>
              <a:gd name="adj" fmla="val 7000"/>
            </a:avLst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" y="612648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5 paths to data (CA · TX · GA · NY · FL) = 158K members (~53% of base) actively alertable. PA &amp; SC are blind spots — those members never see a match.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6355080"/>
            <a:ext cx="10972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CCDDFF"/>
                </a:solidFill>
                <a:latin typeface="Open Sans"/>
              </a:rPr>
              <a:t>CA live today. TX/GA/NY unlock via written state request. FL via Ch. 119 PRR. IL/NC/NJ need treasurer outreach to confirm path.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smartcredit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Open Sans"/>
              </a:rPr>
              <a:t>6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GetMyMoney · Confidential — Consumer Direct,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  <a:latin typeface="Open Sans"/>
              </a:rPr>
              <a:t>WHAT WE'D FIND TODAY · NAME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430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Open Sans"/>
              </a:rPr>
              <a:t>We matched 31,110 net actives CA · SmartCredit against all four CA unclaimed tiers (92.4M records).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11430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Open Sans"/>
              </a:rPr>
              <a:t>Matching on name only.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06040"/>
            <a:ext cx="26974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06040"/>
            <a:ext cx="2697480" cy="137160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2863C5"/>
                </a:solidFill>
                <a:latin typeface="Open Sans"/>
              </a:rPr>
              <a:t>23,166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net actives matched (name only)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606040"/>
            <a:ext cx="26974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2606040"/>
            <a:ext cx="2697480" cy="137160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88036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2863C5"/>
                </a:solidFill>
                <a:latin typeface="Open Sans"/>
              </a:rPr>
              <a:t>74.5%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6118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of 31,110 net actives CA · SmartCredit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606040"/>
            <a:ext cx="26974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606040"/>
            <a:ext cx="2697480" cy="137160"/>
          </a:xfrm>
          <a:prstGeom prst="rect">
            <a:avLst/>
          </a:prstGeom>
          <a:solidFill>
            <a:srgbClr val="FC4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88036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C4C0B"/>
                </a:solidFill>
                <a:latin typeface="Open Sans"/>
              </a:rPr>
              <a:t>2.3M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6118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property records matched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606040"/>
            <a:ext cx="26974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2606040"/>
            <a:ext cx="2697480" cy="137160"/>
          </a:xfrm>
          <a:prstGeom prst="rect">
            <a:avLst/>
          </a:prstGeom>
          <a:solidFill>
            <a:srgbClr val="FC4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288036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C4C0B"/>
                </a:solidFill>
                <a:latin typeface="Open Sans"/>
              </a:rPr>
              <a:t>$172M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6118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estimated value across all matches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251960"/>
            <a:ext cx="7589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  <a:latin typeface="Open Sans"/>
              </a:rPr>
              <a:t>NET ACTIVES BY TOTAL OWED (name only)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544568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Open Sans"/>
              </a:rPr>
              <a:t>Each net active placed in one bucket by the SUM of their matched records. Add up to 23,166.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4937760"/>
            <a:ext cx="7589520" cy="25603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40" y="4983480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Open Sans"/>
              </a:rPr>
              <a:t>Total owed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983480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Open Sans"/>
              </a:rPr>
              <a:t>Net actives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983480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Open Sans"/>
              </a:rPr>
              <a:t>Bucket total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983480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Open Sans"/>
              </a:rPr>
              <a:t>$ per net active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5193792"/>
            <a:ext cx="7589520" cy="3108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77440" y="5257800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$0–$9.99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5257800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2,774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5257800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$9K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5257800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Open Sans"/>
              </a:rPr>
              <a:t>$3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5504688"/>
            <a:ext cx="75895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77440" y="5568696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59669"/>
                </a:solidFill>
                <a:latin typeface="Open Sans"/>
              </a:rPr>
              <a:t>$10–$99.99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5568696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4,526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568696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59669"/>
                </a:solidFill>
                <a:latin typeface="Open Sans"/>
              </a:rPr>
              <a:t>$198K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5568696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59669"/>
                </a:solidFill>
                <a:latin typeface="Open Sans"/>
              </a:rPr>
              <a:t>$44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0" y="5815584"/>
            <a:ext cx="7589520" cy="3108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77440" y="5879592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B352"/>
                </a:solidFill>
                <a:latin typeface="Open Sans"/>
              </a:rPr>
              <a:t>$100–$499.99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80" y="587959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4,317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5879592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B352"/>
                </a:solidFill>
                <a:latin typeface="Open Sans"/>
              </a:rPr>
              <a:t>$1.06M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879592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B352"/>
                </a:solidFill>
                <a:latin typeface="Open Sans"/>
              </a:rPr>
              <a:t>$245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0" y="6126480"/>
            <a:ext cx="75895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77440" y="6190488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  <a:latin typeface="Open Sans"/>
              </a:rPr>
              <a:t>$500+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97680" y="6190488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11,549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6190488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  <a:latin typeface="Open Sans"/>
              </a:rPr>
              <a:t>$171M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6190488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863C5"/>
                </a:solidFill>
                <a:latin typeface="Open Sans"/>
              </a:rPr>
              <a:t>$14,814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400800"/>
            <a:ext cx="11247120" cy="411480"/>
          </a:xfrm>
          <a:prstGeom prst="roundRect">
            <a:avLst>
              <a:gd name="adj" fmla="val 7000"/>
            </a:avLst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644652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Name-only is the upper bound — common names inflate the totals. Next slide adds city for the defensible 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smartcredit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Open Sans"/>
              </a:rPr>
              <a:t>7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GetMyMoney · Confidential — Consumer Direct,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  <a:latin typeface="Open Sans"/>
              </a:rPr>
              <a:t>WHAT WE'D FIND TODAY · NAME + CITY 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430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Open Sans"/>
              </a:rPr>
              <a:t>We matched 31,110 net actives CA · SmartCredit against all four CA unclaimed tiers (92.4M records).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11430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Open Sans"/>
              </a:rPr>
              <a:t>Matching on name and city.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06040"/>
            <a:ext cx="26974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06040"/>
            <a:ext cx="2697480" cy="137160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2863C5"/>
                </a:solidFill>
                <a:latin typeface="Open Sans"/>
              </a:rPr>
              <a:t>11,958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net actives matched (name + city)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606040"/>
            <a:ext cx="26974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2606040"/>
            <a:ext cx="2697480" cy="137160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88036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2863C5"/>
                </a:solidFill>
                <a:latin typeface="Open Sans"/>
              </a:rPr>
              <a:t>38.4%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6118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of 31,110 net actives CA · SmartCredit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606040"/>
            <a:ext cx="26974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606040"/>
            <a:ext cx="2697480" cy="137160"/>
          </a:xfrm>
          <a:prstGeom prst="rect">
            <a:avLst/>
          </a:prstGeom>
          <a:solidFill>
            <a:srgbClr val="FC4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88036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C4C0B"/>
                </a:solidFill>
                <a:latin typeface="Open Sans"/>
              </a:rPr>
              <a:t>69K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6118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property records matched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606040"/>
            <a:ext cx="26974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2606040"/>
            <a:ext cx="2697480" cy="137160"/>
          </a:xfrm>
          <a:prstGeom prst="rect">
            <a:avLst/>
          </a:prstGeom>
          <a:solidFill>
            <a:srgbClr val="FC4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288036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C4C0B"/>
                </a:solidFill>
                <a:latin typeface="Open Sans"/>
              </a:rPr>
              <a:t>$5.04M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6118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estimated value across all matches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251960"/>
            <a:ext cx="7589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  <a:latin typeface="Open Sans"/>
              </a:rPr>
              <a:t>NET ACTIVES BY TOTAL OWED (name + city)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544568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Open Sans"/>
              </a:rPr>
              <a:t>Each net active placed in one bucket by the SUM of their matched records. Add up to 11,958.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4937760"/>
            <a:ext cx="7589520" cy="25603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40" y="4983480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Open Sans"/>
              </a:rPr>
              <a:t>Total owed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983480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Open Sans"/>
              </a:rPr>
              <a:t>Net actives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983480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Open Sans"/>
              </a:rPr>
              <a:t>Bucket total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983480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Open Sans"/>
              </a:rPr>
              <a:t>$ per net active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5193792"/>
            <a:ext cx="7589520" cy="3108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77440" y="5257800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$0–$9.99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5257800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3,684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5257800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$11K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5257800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Open Sans"/>
              </a:rPr>
              <a:t>$3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5504688"/>
            <a:ext cx="75895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77440" y="5568696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59669"/>
                </a:solidFill>
                <a:latin typeface="Open Sans"/>
              </a:rPr>
              <a:t>$10–$99.99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5568696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4,395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568696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59669"/>
                </a:solidFill>
                <a:latin typeface="Open Sans"/>
              </a:rPr>
              <a:t>$174K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5568696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59669"/>
                </a:solidFill>
                <a:latin typeface="Open Sans"/>
              </a:rPr>
              <a:t>$40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0" y="5815584"/>
            <a:ext cx="7589520" cy="3108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77440" y="5879592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B352"/>
                </a:solidFill>
                <a:latin typeface="Open Sans"/>
              </a:rPr>
              <a:t>$100–$499.99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80" y="587959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2,368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5879592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B352"/>
                </a:solidFill>
                <a:latin typeface="Open Sans"/>
              </a:rPr>
              <a:t>$534K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879592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B352"/>
                </a:solidFill>
                <a:latin typeface="Open Sans"/>
              </a:rPr>
              <a:t>$225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0" y="6126480"/>
            <a:ext cx="75895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77440" y="6190488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  <a:latin typeface="Open Sans"/>
              </a:rPr>
              <a:t>$500+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97680" y="6190488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1,511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6190488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  <a:latin typeface="Open Sans"/>
              </a:rPr>
              <a:t>$4.32M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6190488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863C5"/>
                </a:solidFill>
                <a:latin typeface="Open Sans"/>
              </a:rPr>
              <a:t>$2,859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400800"/>
            <a:ext cx="11247120" cy="411480"/>
          </a:xfrm>
          <a:prstGeom prst="roundRect">
            <a:avLst>
              <a:gd name="adj" fmla="val 7000"/>
            </a:avLst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644652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Adding city collapses 23,166 → 11,958 matched and $172M → $5.04M — the defensible floor before production PII (DOB, SSN-last-4, full address).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smartcredit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Open Sans"/>
              </a:rPr>
              <a:t>8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GetMyMoney · Confidential — Consumer Direct,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  <a:latin typeface="Open Sans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430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Open Sans"/>
              </a:rPr>
              <a:t>Engage legal — unlock the top 5 states where our members live.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Open Sans"/>
              </a:rPr>
              <a:t>v1 is alert + deep-link only — we surface the match, the member files on the state's official portal. We need DATA, not filing rights. Legal's job per state: secure written caching/redisplay approval for the owner-name data, nothing more.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11247120" cy="2926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6090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60904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660904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NET ACTIVES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660904"/>
            <a:ext cx="960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POSTURE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60904"/>
            <a:ext cx="7040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LEGAL 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98648"/>
            <a:ext cx="11247120" cy="67665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145536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Open San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118104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FL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145536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Open Sans"/>
              </a:rPr>
              <a:t>48,436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3118104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C4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Open Sans"/>
              </a:rPr>
              <a:t>PRR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962656"/>
            <a:ext cx="7040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File Ch. 119 Sunshine Law records request to FL DFS for owner-name list (records are public under Ch. 119). Confirm fee. No Ch. 717 atty/CPA/PI registration needed — we're not filing on behalf of anyone.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75304"/>
            <a:ext cx="11247120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822191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Open San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794760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TX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3822191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Open Sans"/>
              </a:rPr>
              <a:t>45,670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379476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B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Open Sans"/>
              </a:rPr>
              <a:t>REQUEST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639312"/>
            <a:ext cx="7040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Submit bulk dataset request to up.dbrequests@cpa.texas.gov (company name, address, phone). Texas PI license may apply to the bulk-data request itself — confirm with Comptroller. Secure written approval for caching, matching, and redisplay.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51960"/>
            <a:ext cx="11247120" cy="67665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498848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Open San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471416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4498848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Open Sans"/>
              </a:rPr>
              <a:t>31,110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20440" y="447141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Open Sans"/>
              </a:rPr>
              <a:t>BUILD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4315968"/>
            <a:ext cx="7040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Already ingestible — free public CSV in production. Legal sign-off needed on commercial caching + in-product redisplay terms before launch. Lowest-friction state.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928616"/>
            <a:ext cx="11247120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17550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Open San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14807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GA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5175504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Open Sans"/>
              </a:rPr>
              <a:t>18,837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20440" y="5148072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B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Open Sans"/>
              </a:rPr>
              <a:t>REQUEST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4992624"/>
            <a:ext cx="7040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Request the weekly delimited owner-name file from GA DOR. No CDR registration needed under alert-only (CDR is for filing on behalf). Secure written approval for caching/redisplay.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605272"/>
            <a:ext cx="11247120" cy="67665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852160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Open Sans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5824728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NY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5852160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Open Sans"/>
              </a:rPr>
              <a:t>15,001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520440" y="582472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B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Open Sans"/>
              </a:rPr>
              <a:t>REQUEST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17720" y="5669280"/>
            <a:ext cx="7040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Submit owner-name file request to OSC (secure-FTP TXT, quarterly). File excludes amounts and tax IDs. Get written caching/redisplay approval — member PII stays internal.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6400800"/>
            <a:ext cx="11247120" cy="411480"/>
          </a:xfrm>
          <a:prstGeom prst="roundRect">
            <a:avLst>
              <a:gd name="adj" fmla="val 7000"/>
            </a:avLst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644652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Owner: Legal · Goal: written data-use approval per state in 30 days · Output: go/no-go matrix to unlock the next ingest tier. We need data, not filing rights.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smartcredit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Open Sans"/>
              </a:rPr>
              <a:t>9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GetMyMoney · Confidential — Consumer Direct,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  <a:latin typeface="Open Sans"/>
              </a:rPr>
              <a:t>COMPLIANCE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Open Sans"/>
              </a:rPr>
              <a:t>v1 is a notification feature, not a recovery service.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Open Sans"/>
              </a:rPr>
              <a:t>Three architectural decisions clear the bulk of the legal surface. The remaining constraint is data acquisition — without a feed, we can't alert a member because we don't know they have a match. Full compliance memo available from Legal.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370332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3703320" cy="14630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414015"/>
            <a:ext cx="33741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  <a:latin typeface="Open Sans"/>
              </a:rPr>
              <a:t>ALERT + DEEP LINK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724912"/>
            <a:ext cx="3374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Open Sans"/>
              </a:rPr>
              <a:t>Surface the match. Embed a deep link. The member files on the state's official portal.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218688"/>
            <a:ext cx="3374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Eliminates TSR §310.4(a)(3), FL Ch. 717 / GA CDR registration, false-claim and tort exposure. State paid-finder statutes mostly defanged.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59" y="2194560"/>
            <a:ext cx="370332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2194560"/>
            <a:ext cx="3703320" cy="14630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1" y="2414015"/>
            <a:ext cx="33741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59669"/>
                </a:solidFill>
                <a:latin typeface="Open Sans"/>
              </a:rPr>
              <a:t>BUNDLE, DON'T SURCHARGE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1" y="2724912"/>
            <a:ext cx="3374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Open Sans"/>
              </a:rPr>
              <a:t>No %-of-recovery, no upfront fee, no affiliate or success bonus. UP alerts are free in SmartCredit.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1" y="3218688"/>
            <a:ext cx="3374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Removes any "fee for locating" hook in state finder statutes. Avoids ROSCA negative-option stack.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2194560"/>
            <a:ext cx="370332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19" y="2194560"/>
            <a:ext cx="3703320" cy="146304"/>
          </a:xfrm>
          <a:prstGeom prst="rect">
            <a:avLst/>
          </a:prstGeom>
          <a:solidFill>
            <a:srgbClr val="FC4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1" y="2414015"/>
            <a:ext cx="33741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C4C0B"/>
                </a:solidFill>
                <a:latin typeface="Open Sans"/>
              </a:rPr>
              <a:t>NEVER HOLD FUNDS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1" y="2724912"/>
            <a:ext cx="3374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Open Sans"/>
              </a:rPr>
              <a:t>State pays the consumer direct. SmartCredit is never in the money path.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1" y="3218688"/>
            <a:ext cx="3374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Avoids 49-state money-transmitter licensure. GA §44-12-224 explicitly forbids holding funds.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840480"/>
            <a:ext cx="640080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840480"/>
            <a:ext cx="6400800" cy="16459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1480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Open Sans"/>
              </a:rPr>
              <a:t>STATE GATES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343400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Open Sans"/>
              </a:rPr>
              <a:t>CA · TX · GA · NY · FL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80360" y="437083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ALERTABLE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4361688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Open Sans"/>
              </a:rPr>
              <a:t>Data feed (or Ch. 119 PRR for FL) → match → alert + deep link.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636008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Open Sans"/>
              </a:rPr>
              <a:t>IL · NC · NJ · OH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80360" y="466344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FB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UNKNOWN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39" y="4654296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Open Sans"/>
              </a:rPr>
              <a:t>No feed surfaced. Treasurer outreach needed to confirm path.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928616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Open Sans"/>
              </a:rPr>
              <a:t>PA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80360" y="4956048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BLIND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39" y="494690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Open Sans"/>
              </a:rPr>
              <a:t>Anti-bot/anti-AI policy + no feed → can't acquire data.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221224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Open Sans"/>
              </a:rPr>
              <a:t>SC · WA · AZ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80360" y="5248656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BLIND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77639" y="5239512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Open Sans"/>
              </a:rPr>
              <a:t>Statute bars commercial use of owner-name data + no feed.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51383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Open Sans"/>
              </a:rPr>
              <a:t>MA · MI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80360" y="5541264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BLIND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77639" y="553212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Open Sans"/>
              </a:rPr>
              <a:t>Cloudflare-blocked portal + no public feed → no data path.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95160" y="3840480"/>
            <a:ext cx="427939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95160" y="3840480"/>
            <a:ext cx="4279392" cy="164592"/>
          </a:xfrm>
          <a:prstGeom prst="rect">
            <a:avLst/>
          </a:prstGeom>
          <a:solidFill>
            <a:srgbClr val="FC4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78040" y="4078224"/>
            <a:ext cx="39136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C4C0B"/>
                </a:solidFill>
                <a:latin typeface="Open Sans"/>
              </a:rPr>
              <a:t>LOAD-BEARING OPEN QUESTION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4389120"/>
            <a:ext cx="39136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Open Sans"/>
              </a:rPr>
              <a:t>Does a flat-subscription credit-monitoring service that surfaces UP matches (with no separate UP fee) escape NY APL §1416 / CCP §1582 / equivalents?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5047488"/>
            <a:ext cx="39136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No case law on point. Needs focused outside-counsel opinion before launch.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78040" y="5486400"/>
            <a:ext cx="3913631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78040" y="5559552"/>
            <a:ext cx="39136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Open Sans"/>
              </a:rPr>
              <a:t>Top HIGH risks: definitive-$$$ claims (Credit Karma) · implied gov't affiliation · unsubstantiated "you may have $X" · TCPA on found-money SMS.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6080760"/>
            <a:ext cx="11247120" cy="365760"/>
          </a:xfrm>
          <a:prstGeom prst="roundRect">
            <a:avLst>
              <a:gd name="adj" fmla="val 7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614476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Open Sans"/>
              </a:rPr>
              <a:t>30 risk-rated findings · 18 open questions · 50-state paid-finder table · ~80 source links. Owner: Legal. Decision: ratify v1 (alert + deep-link / bundle / no-funds) + outside-counsel opinion on subscription characterization.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