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420624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640080" cy="6858000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457200"/>
            <a:ext cx="36576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0F172A"/>
                </a:solidFill>
                <a:latin typeface="Open Sans"/>
              </a:rPr>
              <a:t>smartcredit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554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2863C5"/>
                </a:solidFill>
                <a:latin typeface="Open Sans"/>
              </a:rPr>
              <a:t>PRODUCT PROPOSAL · MONEY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100584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0" b="1">
                <a:solidFill>
                  <a:srgbClr val="0F172A"/>
                </a:solidFill>
                <a:latin typeface="Open Sans"/>
              </a:rPr>
              <a:t>myReclaim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61188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0">
                <a:solidFill>
                  <a:srgbClr val="334155"/>
                </a:solidFill>
                <a:latin typeface="Open Sans"/>
              </a:rPr>
              <a:t>Find money the state owes our members.
Automatically. Free.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126480"/>
            <a:ext cx="12188952" cy="73152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6327648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Open Sans"/>
              </a:rPr>
              <a:t>Ahmed Yassine  ·  Consumer Direct, Inc.  ·  April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22860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Open Sans"/>
              </a:rPr>
              <a:t>smartcredit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Open Sans"/>
              </a:rPr>
              <a:t>2 / 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Open Sans"/>
              </a:rPr>
              <a:t>myReclaim · Confidential — Consumer Direct, Inc.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777240"/>
            <a:ext cx="11430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863C5"/>
                </a:solidFill>
                <a:latin typeface="Open Sans"/>
              </a:rPr>
              <a:t>THE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280160"/>
            <a:ext cx="1143000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0" b="1">
                <a:solidFill>
                  <a:srgbClr val="2863C5"/>
                </a:solidFill>
                <a:latin typeface="Open Sans"/>
              </a:rPr>
              <a:t>$70B+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657600"/>
            <a:ext cx="11430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0F172A"/>
                </a:solidFill>
                <a:latin typeface="Open Sans"/>
              </a:rPr>
              <a:t>estimated in unclaimed property nationwide. Some of it is reported in our members' names.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4846320"/>
            <a:ext cx="3657600" cy="12801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5010912"/>
            <a:ext cx="3108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FC4C0B"/>
                </a:solidFill>
                <a:latin typeface="Open Sans"/>
              </a:rPr>
              <a:t>~33M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5623559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334155"/>
                </a:solidFill>
                <a:latin typeface="Open Sans"/>
              </a:rPr>
              <a:t>people may have property waiting to be claimed (NAUPA)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51960" y="4846320"/>
            <a:ext cx="3657600" cy="12801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26280" y="5010912"/>
            <a:ext cx="3108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FC4C0B"/>
                </a:solidFill>
                <a:latin typeface="Open Sans"/>
              </a:rPr>
              <a:t>$2,080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26280" y="5623559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334155"/>
                </a:solidFill>
                <a:latin typeface="Open Sans"/>
              </a:rPr>
              <a:t>average claim paid through MissingMoney.com (median $100, FY2024)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46720" y="4846320"/>
            <a:ext cx="3657600" cy="12801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21040" y="5010912"/>
            <a:ext cx="3108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FC4C0B"/>
                </a:solidFill>
                <a:latin typeface="Open Sans"/>
              </a:rPr>
              <a:t>Unique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21040" y="5623559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334155"/>
                </a:solidFill>
                <a:latin typeface="Open Sans"/>
              </a:rPr>
              <a:t>combination of verified-identity matching + alerts + free claim guidance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22860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Open Sans"/>
              </a:rPr>
              <a:t>smartcredit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Open Sans"/>
              </a:rPr>
              <a:t>3 / 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Open Sans"/>
              </a:rPr>
              <a:t>myReclaim · Confidential — Consumer Direct, Inc.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777240"/>
            <a:ext cx="11430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863C5"/>
                </a:solidFill>
                <a:latin typeface="Open Sans"/>
              </a:rPr>
              <a:t>WHAT IT 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43000"/>
            <a:ext cx="114300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>
                <a:solidFill>
                  <a:srgbClr val="0F172A"/>
                </a:solidFill>
                <a:latin typeface="Open Sans"/>
              </a:rPr>
              <a:t>myReclaim is a free SmartCredit feature
that finds unclaimed money owed to our members.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83464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WHAT THE MEMBER EXPERIENCES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3337560"/>
            <a:ext cx="5486400" cy="868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40080" y="3584448"/>
            <a:ext cx="411480" cy="411480"/>
          </a:xfrm>
          <a:prstGeom prst="roundRect">
            <a:avLst>
              <a:gd name="adj" fmla="val 50000"/>
            </a:avLst>
          </a:prstGeom>
          <a:solidFill>
            <a:srgbClr val="2863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1400" b="1">
                <a:solidFill>
                  <a:srgbClr val="FFFFFF"/>
                </a:solidFill>
                <a:latin typeface="Open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3456432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We notify them inside SmartCredit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80160" y="3794760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"Possible match found. The state may be holding property in your name."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297680"/>
            <a:ext cx="5486400" cy="868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40080" y="4544568"/>
            <a:ext cx="411480" cy="411480"/>
          </a:xfrm>
          <a:prstGeom prst="roundRect">
            <a:avLst>
              <a:gd name="adj" fmla="val 50000"/>
            </a:avLst>
          </a:prstGeom>
          <a:solidFill>
            <a:srgbClr val="2863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1400" b="1">
                <a:solidFill>
                  <a:srgbClr val="FFFFFF"/>
                </a:solidFill>
                <a:latin typeface="Open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4416552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They review the possible matches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80160" y="4754880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Holder, type, amount range — laid out as cards. The state determines eligibility.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5257800"/>
            <a:ext cx="5486400" cy="868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0080" y="5504688"/>
            <a:ext cx="411480" cy="411480"/>
          </a:xfrm>
          <a:prstGeom prst="roundRect">
            <a:avLst>
              <a:gd name="adj" fmla="val 50000"/>
            </a:avLst>
          </a:prstGeom>
          <a:solidFill>
            <a:srgbClr val="2863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1400" b="1">
                <a:solidFill>
                  <a:srgbClr val="FFFFFF"/>
                </a:solidFill>
                <a:latin typeface="Open Sans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80160" y="5376672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We help them file with the state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5715000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Prepare claim packet · route to official state portal · track status.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2834640"/>
            <a:ext cx="5303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WHAT IT FEELS LIKE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0" y="3337560"/>
            <a:ext cx="5303520" cy="30175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29400" y="347472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FC4C0B"/>
                </a:solidFill>
                <a:latin typeface="Open Sans"/>
              </a:rPr>
              <a:t>POSSIBLE MATCH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29400" y="3794760"/>
            <a:ext cx="49377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0F172A"/>
                </a:solidFill>
                <a:latin typeface="Open Sans"/>
              </a:rPr>
              <a:t>Credit Balance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29400" y="425196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Reported by financial institution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0424160" y="3794760"/>
            <a:ext cx="1005840" cy="292608"/>
          </a:xfrm>
          <a:prstGeom prst="roundRect">
            <a:avLst>
              <a:gd name="adj" fmla="val 50000"/>
            </a:avLst>
          </a:prstGeom>
          <a:solidFill>
            <a:srgbClr val="E6EF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900" b="1">
                <a:solidFill>
                  <a:srgbClr val="2863C5"/>
                </a:solidFill>
                <a:latin typeface="Open Sans"/>
              </a:rPr>
              <a:t>STATE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29400" y="4709160"/>
            <a:ext cx="49377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FC4C0B"/>
                </a:solidFill>
                <a:latin typeface="Open Sans"/>
              </a:rPr>
              <a:t>$100 – $499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29400" y="5532120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Open Sans"/>
              </a:rPr>
              <a:t>Matched on name + prior city / address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629400" y="5897880"/>
            <a:ext cx="2194560" cy="365760"/>
          </a:xfrm>
          <a:prstGeom prst="roundRect">
            <a:avLst>
              <a:gd name="adj" fmla="val 50000"/>
            </a:avLst>
          </a:prstGeom>
          <a:solidFill>
            <a:srgbClr val="FC4C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Open Sans"/>
              </a:rPr>
              <a:t>Continue to official claim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06840" y="594360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2863C5"/>
                </a:solidFill>
                <a:latin typeface="Open Sans"/>
              </a:rPr>
              <a:t>Not me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0" y="6492240"/>
            <a:ext cx="5303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64748B"/>
                </a:solidFill>
                <a:latin typeface="Open Sans"/>
              </a:rPr>
              <a:t>The state determines eligibility. Official state claims are free. SmartCredit does not guarantee approval.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22860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Open Sans"/>
              </a:rPr>
              <a:t>smartcredit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Open Sans"/>
              </a:rPr>
              <a:t>4 / 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Open Sans"/>
              </a:rPr>
              <a:t>myReclaim · Confidential — Consumer Direct, Inc.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777240"/>
            <a:ext cx="11430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863C5"/>
                </a:solidFill>
                <a:latin typeface="Open Sans"/>
              </a:rPr>
              <a:t>THE PII MATCHING ENGINE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43000"/>
            <a:ext cx="114300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Open Sans"/>
              </a:rPr>
              <a:t>Same engine members already trust. New mission.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965960"/>
            <a:ext cx="11430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Open Sans"/>
              </a:rPr>
              <a:t>SmartCredit's PII matching engine already auto-scans data brokers, businesses, and government sites for member info. Members get an alert and choose Remove or Keep. myReclaim points the same engine at state unclaimed-property records — same auto-scan, same alert, same trust envelope.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697480"/>
            <a:ext cx="5120640" cy="32004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2697480"/>
            <a:ext cx="5120640" cy="164592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990088"/>
            <a:ext cx="475487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TODAY · DATA-BROKER SCRUB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410712"/>
            <a:ext cx="4754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Open Sans"/>
              </a:rPr>
              <a:t>Find data brokers exposing the member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114800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863C5"/>
                </a:solidFill>
                <a:latin typeface="Open Sans"/>
              </a:rPr>
              <a:t>Input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65960" y="4114800"/>
            <a:ext cx="35661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334155"/>
                </a:solidFill>
                <a:latin typeface="Open Sans"/>
              </a:rPr>
              <a:t>SmartCredit member identity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443984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863C5"/>
                </a:solidFill>
                <a:latin typeface="Open Sans"/>
              </a:rPr>
              <a:t>Engine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65960" y="4443984"/>
            <a:ext cx="35661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334155"/>
                </a:solidFill>
                <a:latin typeface="Open Sans"/>
              </a:rPr>
              <a:t>Fuzzy + phonetic name match (PII)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4773168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863C5"/>
                </a:solidFill>
                <a:latin typeface="Open Sans"/>
              </a:rPr>
              <a:t>Corpus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65960" y="4773168"/>
            <a:ext cx="35661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334155"/>
                </a:solidFill>
                <a:latin typeface="Open Sans"/>
              </a:rPr>
              <a:t>Hundreds of broker, business, gov sources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5102352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863C5"/>
                </a:solidFill>
                <a:latin typeface="Open Sans"/>
              </a:rPr>
              <a:t>Pattern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965960" y="5102352"/>
            <a:ext cx="35661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334155"/>
                </a:solidFill>
                <a:latin typeface="Open Sans"/>
              </a:rPr>
              <a:t>Auto-scan → alert → member chooses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431536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863C5"/>
                </a:solidFill>
                <a:latin typeface="Open Sans"/>
              </a:rPr>
              <a:t>Member action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965960" y="5431536"/>
            <a:ext cx="35661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334155"/>
                </a:solidFill>
                <a:latin typeface="Open Sans"/>
              </a:rPr>
              <a:t>Remove  /  Keep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5715000" y="4069080"/>
            <a:ext cx="365759" cy="548640"/>
          </a:xfrm>
          <a:prstGeom prst="rightArrow">
            <a:avLst/>
          </a:prstGeom>
          <a:solidFill>
            <a:srgbClr val="FC4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23559" y="466344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1">
                <a:solidFill>
                  <a:srgbClr val="FC4C0B"/>
                </a:solidFill>
                <a:latin typeface="Open Sans"/>
              </a:rPr>
              <a:t>same engine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17920" y="2697480"/>
            <a:ext cx="5120640" cy="32004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2863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217920" y="2697480"/>
            <a:ext cx="5120640" cy="164592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0" y="2990088"/>
            <a:ext cx="475487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2863C5"/>
                </a:solidFill>
                <a:latin typeface="Open Sans"/>
              </a:rPr>
              <a:t>TOMORROW · myReclaim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0" y="3410712"/>
            <a:ext cx="4754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Open Sans"/>
              </a:rPr>
              <a:t>Find unclaimed money owed to the member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4114800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863C5"/>
                </a:solidFill>
                <a:latin typeface="Open Sans"/>
              </a:rPr>
              <a:t>Input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26679" y="4114800"/>
            <a:ext cx="35661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334155"/>
                </a:solidFill>
                <a:latin typeface="Open Sans"/>
              </a:rPr>
              <a:t>Same SmartCredit member identity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0" y="4443984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863C5"/>
                </a:solidFill>
                <a:latin typeface="Open Sans"/>
              </a:rPr>
              <a:t>Engine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26679" y="4443984"/>
            <a:ext cx="35661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334155"/>
                </a:solidFill>
                <a:latin typeface="Open Sans"/>
              </a:rPr>
              <a:t>Same PII matcher — no rebuild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0" y="4773168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863C5"/>
                </a:solidFill>
                <a:latin typeface="Open Sans"/>
              </a:rPr>
              <a:t>Corpus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26679" y="4773168"/>
            <a:ext cx="35661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334155"/>
                </a:solidFill>
                <a:latin typeface="Open Sans"/>
              </a:rPr>
              <a:t>State unclaimed-property records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00800" y="5102352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863C5"/>
                </a:solidFill>
                <a:latin typeface="Open Sans"/>
              </a:rPr>
              <a:t>Pattern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26679" y="5102352"/>
            <a:ext cx="35661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334155"/>
                </a:solidFill>
                <a:latin typeface="Open Sans"/>
              </a:rPr>
              <a:t>Auto-scan → alert → member chooses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00800" y="5431536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863C5"/>
                </a:solidFill>
                <a:latin typeface="Open Sans"/>
              </a:rPr>
              <a:t>Member action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726679" y="5431536"/>
            <a:ext cx="35661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334155"/>
                </a:solidFill>
                <a:latin typeface="Open Sans"/>
              </a:rPr>
              <a:t>Claim  /  Not me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57200" y="6080760"/>
            <a:ext cx="11247120" cy="457200"/>
          </a:xfrm>
          <a:prstGeom prst="roundRect">
            <a:avLst>
              <a:gd name="adj" fmla="val 7000"/>
            </a:avLst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40080" y="6144768"/>
            <a:ext cx="109728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Open Sans"/>
              </a:rPr>
              <a:t>myReclaim is not a new product surface — it's a different outcome from the same security envelope members already opted into.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22860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Open Sans"/>
              </a:rPr>
              <a:t>smartcredit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Open Sans"/>
              </a:rPr>
              <a:t>5 / 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Open Sans"/>
              </a:rPr>
              <a:t>myReclaim · Confidential — Consumer Direct, Inc.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777240"/>
            <a:ext cx="11430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863C5"/>
                </a:solidFill>
                <a:latin typeface="Open Sans"/>
              </a:rPr>
              <a:t>DATA INGESTION · CUSTOMER-DRIVEN PRIORITY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43000"/>
            <a:ext cx="11430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0F172A"/>
                </a:solidFill>
                <a:latin typeface="Open Sans"/>
              </a:rPr>
              <a:t>Where our members live. What each state lets us do.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920240"/>
            <a:ext cx="11430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Open Sans"/>
              </a:rPr>
              <a:t>Top 10 customer states cover ~70% of the SmartCredit base. Four of the top five (FL, TX, GA, NY) need a state agreement before we can ingest at scale. CA is the only top-10 state with a clean public bulk feed — that's where the prototype starts.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468880"/>
            <a:ext cx="11247120" cy="292608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2523744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Open Sans"/>
              </a:rPr>
              <a:t>#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2523744"/>
            <a:ext cx="8229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Open Sans"/>
              </a:rPr>
              <a:t>STATE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20240" y="2523744"/>
            <a:ext cx="14630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Open Sans"/>
              </a:rPr>
              <a:t>CUSTOMERS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20440" y="2523744"/>
            <a:ext cx="12801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Open Sans"/>
              </a:rPr>
              <a:t>INGEST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37760" y="2523744"/>
            <a:ext cx="67665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Open Sans"/>
              </a:rPr>
              <a:t>WHAT THAT MEANS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761488"/>
            <a:ext cx="11247120" cy="329184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2834640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" y="2816352"/>
            <a:ext cx="8229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FL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20240" y="2825496"/>
            <a:ext cx="14630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65,400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520440" y="2816352"/>
            <a:ext cx="960120" cy="219456"/>
          </a:xfrm>
          <a:prstGeom prst="roundRect">
            <a:avLst>
              <a:gd name="adj" fmla="val 50000"/>
            </a:avLst>
          </a:prstGeom>
          <a:solidFill>
            <a:srgbClr val="FC4C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800" b="1">
                <a:solidFill>
                  <a:srgbClr val="FFFFFF"/>
                </a:solidFill>
                <a:latin typeface="Open Sans"/>
              </a:rPr>
              <a:t>MANUAL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37760" y="2834640"/>
            <a:ext cx="67665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Registered FL rep path (atty/CPA/PI, Ch. 717). No cacheable bulk dataset confirmed.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3090672"/>
            <a:ext cx="1124712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3163824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51560" y="3145536"/>
            <a:ext cx="8229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TX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920240" y="3154679"/>
            <a:ext cx="14630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61,414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520440" y="3145536"/>
            <a:ext cx="960120" cy="219456"/>
          </a:xfrm>
          <a:prstGeom prst="roundRect">
            <a:avLst>
              <a:gd name="adj" fmla="val 50000"/>
            </a:avLst>
          </a:prstGeom>
          <a:solidFill>
            <a:srgbClr val="FFB3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800" b="1">
                <a:solidFill>
                  <a:srgbClr val="FFFFFF"/>
                </a:solidFill>
                <a:latin typeface="Open Sans"/>
              </a:rPr>
              <a:t>REQUEST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937760" y="3163824"/>
            <a:ext cx="67665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Request-based dataset; enable only after written caching/redisplay approval.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3419856"/>
            <a:ext cx="11247120" cy="329184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57200" y="3419856"/>
            <a:ext cx="109728" cy="329184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48640" y="3493008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1560" y="3474720"/>
            <a:ext cx="8229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CA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920240" y="3483863"/>
            <a:ext cx="14630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44,222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520440" y="3474720"/>
            <a:ext cx="960120" cy="219456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800" b="1">
                <a:solidFill>
                  <a:srgbClr val="FFFFFF"/>
                </a:solidFill>
                <a:latin typeface="Open Sans"/>
              </a:rPr>
              <a:t>BUILD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937760" y="3493008"/>
            <a:ext cx="67665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Public CSV, updated Thursdays — prototype loaded 81M rows ✓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3749039"/>
            <a:ext cx="1124712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8640" y="3822191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51560" y="3803903"/>
            <a:ext cx="8229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GA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920240" y="3813048"/>
            <a:ext cx="14630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29,566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3520440" y="3803903"/>
            <a:ext cx="960120" cy="219456"/>
          </a:xfrm>
          <a:prstGeom prst="roundRect">
            <a:avLst>
              <a:gd name="adj" fmla="val 50000"/>
            </a:avLst>
          </a:prstGeom>
          <a:solidFill>
            <a:srgbClr val="FFB3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800" b="1">
                <a:solidFill>
                  <a:srgbClr val="FFFFFF"/>
                </a:solidFill>
                <a:latin typeface="Open Sans"/>
              </a:rPr>
              <a:t>REQUEST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937760" y="3822191"/>
            <a:ext cx="67665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CDR registration + background checks → weekly delimited file (&gt;1 GB)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57200" y="4078224"/>
            <a:ext cx="11247120" cy="329184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48640" y="4151376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51560" y="4133087"/>
            <a:ext cx="8229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NY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920240" y="4142232"/>
            <a:ext cx="14630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22,137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3520440" y="4133087"/>
            <a:ext cx="960120" cy="219456"/>
          </a:xfrm>
          <a:prstGeom prst="roundRect">
            <a:avLst>
              <a:gd name="adj" fmla="val 50000"/>
            </a:avLst>
          </a:prstGeom>
          <a:solidFill>
            <a:srgbClr val="FFB3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800" b="1">
                <a:solidFill>
                  <a:srgbClr val="FFFFFF"/>
                </a:solidFill>
                <a:latin typeface="Open Sans"/>
              </a:rPr>
              <a:t>REQUEST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937760" y="4151376"/>
            <a:ext cx="67665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Secure-FTP owner-name file, quarterly. Excludes amounts and tax IDs.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57200" y="4407408"/>
            <a:ext cx="1124712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48640" y="4480560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6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51560" y="4462272"/>
            <a:ext cx="8229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IL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920240" y="4471416"/>
            <a:ext cx="14630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16,242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3520440" y="4462272"/>
            <a:ext cx="960120" cy="219456"/>
          </a:xfrm>
          <a:prstGeom prst="roundRect">
            <a:avLst>
              <a:gd name="adj" fmla="val 50000"/>
            </a:avLst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800" b="1">
                <a:solidFill>
                  <a:srgbClr val="FFFFFF"/>
                </a:solidFill>
                <a:latin typeface="Open Sans"/>
              </a:rPr>
              <a:t>HANDOFF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937760" y="4480560"/>
            <a:ext cx="67665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No public bulk feed confirmed. Assisted e-file via iCash.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57200" y="4736592"/>
            <a:ext cx="11247120" cy="329184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48640" y="4809744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7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51560" y="4791456"/>
            <a:ext cx="8229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NC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920240" y="4800600"/>
            <a:ext cx="14630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14,404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3520440" y="4791456"/>
            <a:ext cx="960120" cy="219456"/>
          </a:xfrm>
          <a:prstGeom prst="roundRect">
            <a:avLst>
              <a:gd name="adj" fmla="val 50000"/>
            </a:avLst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800" b="1">
                <a:solidFill>
                  <a:srgbClr val="FFFFFF"/>
                </a:solidFill>
                <a:latin typeface="Open Sans"/>
              </a:rPr>
              <a:t>HANDOFF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937760" y="4809744"/>
            <a:ext cx="67665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No clean bulk feed confirmed; annual public PDFs exist.</a:t>
            </a:r>
          </a:p>
        </p:txBody>
      </p:sp>
      <p:sp>
        <p:nvSpPr>
          <p:cNvPr id="59" name="Rectangle 58"/>
          <p:cNvSpPr/>
          <p:nvPr/>
        </p:nvSpPr>
        <p:spPr>
          <a:xfrm>
            <a:off x="457200" y="5065776"/>
            <a:ext cx="1124712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48640" y="5138928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8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1560" y="5120640"/>
            <a:ext cx="8229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PA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920240" y="5129784"/>
            <a:ext cx="14630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12,290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3520440" y="5120640"/>
            <a:ext cx="960120" cy="219456"/>
          </a:xfrm>
          <a:prstGeom prst="roundRect">
            <a:avLst>
              <a:gd name="adj" fmla="val 50000"/>
            </a:avLst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800" b="1">
                <a:solidFill>
                  <a:srgbClr val="FFFFFF"/>
                </a:solidFill>
                <a:latin typeface="Open Sans"/>
              </a:rPr>
              <a:t>HANDOFF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937760" y="5138928"/>
            <a:ext cx="67665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No public bulk feed confirmed.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57200" y="5394960"/>
            <a:ext cx="11247120" cy="329184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48640" y="5468112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51560" y="5449824"/>
            <a:ext cx="8229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NJ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920240" y="5458968"/>
            <a:ext cx="14630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11,856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3520440" y="5449824"/>
            <a:ext cx="960120" cy="219456"/>
          </a:xfrm>
          <a:prstGeom prst="roundRect">
            <a:avLst>
              <a:gd name="adj" fmla="val 50000"/>
            </a:avLst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800" b="1">
                <a:solidFill>
                  <a:srgbClr val="FFFFFF"/>
                </a:solidFill>
                <a:latin typeface="Open Sans"/>
              </a:rPr>
              <a:t>HANDOFF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937760" y="5468112"/>
            <a:ext cx="67665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No public bulk feed confirmed.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57200" y="5724144"/>
            <a:ext cx="1124712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548640" y="5797296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10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51560" y="5779008"/>
            <a:ext cx="8229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SC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920240" y="5788152"/>
            <a:ext cx="14630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10,534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3520440" y="5779008"/>
            <a:ext cx="960120" cy="219456"/>
          </a:xfrm>
          <a:prstGeom prst="roundRect">
            <a:avLst>
              <a:gd name="adj" fmla="val 50000"/>
            </a:avLst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800" b="1">
                <a:solidFill>
                  <a:srgbClr val="FFFFFF"/>
                </a:solidFill>
                <a:latin typeface="Open Sans"/>
              </a:rPr>
              <a:t>HANDOFF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937760" y="5797296"/>
            <a:ext cx="67665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No public bulk feed confirmed.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457200" y="6080760"/>
            <a:ext cx="11247120" cy="502920"/>
          </a:xfrm>
          <a:prstGeom prst="roundRect">
            <a:avLst>
              <a:gd name="adj" fmla="val 7000"/>
            </a:avLst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40080" y="6144768"/>
            <a:ext cx="10972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Open Sans"/>
              </a:rPr>
              <a:t>Top-10 states = 288,065 customers (~70% of base, pending base-size confirmation).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40080" y="6400800"/>
            <a:ext cx="109728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CCDDFF"/>
                </a:solidFill>
                <a:latin typeface="Open Sans"/>
              </a:rPr>
              <a:t>CA is the only top-10 state with a confirmed public bulk feed. Sprint 2 begins TX + NY data requests and GA CDR registration; bulk availability depends on state approval, terms, and legal sign-off.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22860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Open Sans"/>
              </a:rPr>
              <a:t>smartcredit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Open Sans"/>
              </a:rPr>
              <a:t>6 / 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Open Sans"/>
              </a:rPr>
              <a:t>myReclaim · Confidential — Consumer Direct, Inc.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777240"/>
            <a:ext cx="11430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863C5"/>
                </a:solidFill>
                <a:latin typeface="Open Sans"/>
              </a:rPr>
              <a:t>WHAT WE'D FIND TODAY · LIVE MATCH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43000"/>
            <a:ext cx="114300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0F172A"/>
                </a:solidFill>
                <a:latin typeface="Open Sans"/>
              </a:rPr>
              <a:t>We matched 29,405 distinct customer names (from 30,862 active CA rows) against all four CA unclaimed tiers (92.4M records).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011680"/>
            <a:ext cx="11430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Open Sans"/>
              </a:rPr>
              <a:t>Cohort: active SmartCredit customers with customerproductid=4, excluding test accounts (30,862 of the 44,222 total CA base). Method: exact LAST FIRST match (CA's storage convention) on de-duplicated customer names. State determines actual eligibility per record.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606040"/>
            <a:ext cx="2697480" cy="1417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2606040"/>
            <a:ext cx="2697480" cy="137160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880360"/>
            <a:ext cx="23317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2863C5"/>
                </a:solidFill>
                <a:latin typeface="Open Sans"/>
              </a:rPr>
              <a:t>21,655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611880"/>
            <a:ext cx="2331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distinct names with at least one match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91840" y="2606040"/>
            <a:ext cx="2697480" cy="1417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291840" y="2606040"/>
            <a:ext cx="2697480" cy="137160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74720" y="2880360"/>
            <a:ext cx="23317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2863C5"/>
                </a:solidFill>
                <a:latin typeface="Open Sans"/>
              </a:rPr>
              <a:t>73.6%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74720" y="3611880"/>
            <a:ext cx="2331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of the 29,405 distinct names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26480" y="2606040"/>
            <a:ext cx="2697480" cy="1417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2606040"/>
            <a:ext cx="2697480" cy="137160"/>
          </a:xfrm>
          <a:prstGeom prst="rect">
            <a:avLst/>
          </a:prstGeom>
          <a:solidFill>
            <a:srgbClr val="FC4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2880360"/>
            <a:ext cx="23317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FC4C0B"/>
                </a:solidFill>
                <a:latin typeface="Open Sans"/>
              </a:rPr>
              <a:t>2.3M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611880"/>
            <a:ext cx="2331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property records matched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961120" y="2606040"/>
            <a:ext cx="2697480" cy="1417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961120" y="2606040"/>
            <a:ext cx="2697480" cy="137160"/>
          </a:xfrm>
          <a:prstGeom prst="rect">
            <a:avLst/>
          </a:prstGeom>
          <a:solidFill>
            <a:srgbClr val="FC4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0" y="2880360"/>
            <a:ext cx="23317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FC4C0B"/>
                </a:solidFill>
                <a:latin typeface="Open Sans"/>
              </a:rPr>
              <a:t>$172M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0" y="3611880"/>
            <a:ext cx="2331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estimated value across all matches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420624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2863C5"/>
                </a:solidFill>
                <a:latin typeface="Open Sans"/>
              </a:rPr>
              <a:t>MATCH DISTRIBUTION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449884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Open Sans"/>
              </a:rPr>
              <a:t>Number of records each customer's name returned. Fewer records = more distinctive name = more likely match.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4846320"/>
            <a:ext cx="5486400" cy="237744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2920" y="4882896"/>
            <a:ext cx="8686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Open Sans"/>
              </a:rPr>
              <a:t>Records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417320" y="4882896"/>
            <a:ext cx="7772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Open Sans"/>
              </a:rPr>
              <a:t>Customers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240280" y="4882896"/>
            <a:ext cx="7772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Open Sans"/>
              </a:rPr>
              <a:t>$ total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063240" y="4882896"/>
            <a:ext cx="914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Open Sans"/>
              </a:rPr>
              <a:t>$/customer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023360" y="4882896"/>
            <a:ext cx="1874519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Open Sans"/>
              </a:rPr>
              <a:t>Confidence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5084064"/>
            <a:ext cx="5486400" cy="301752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02920" y="5138927"/>
            <a:ext cx="8686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Open Sans"/>
              </a:rPr>
              <a:t>1 record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417320" y="5138927"/>
            <a:ext cx="7772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3,323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240280" y="5138927"/>
            <a:ext cx="7772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059669"/>
                </a:solidFill>
                <a:latin typeface="Open Sans"/>
              </a:rPr>
              <a:t>$242K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063240" y="5138927"/>
            <a:ext cx="914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059669"/>
                </a:solidFill>
                <a:latin typeface="Open Sans"/>
              </a:rPr>
              <a:t>$73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023360" y="5138927"/>
            <a:ext cx="187451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Open Sans"/>
              </a:rPr>
              <a:t>High confidence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57200" y="5385816"/>
            <a:ext cx="5486400" cy="3017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02920" y="5440679"/>
            <a:ext cx="8686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Open Sans"/>
              </a:rPr>
              <a:t>2–5 records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417320" y="5440679"/>
            <a:ext cx="7772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5,757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240280" y="5440679"/>
            <a:ext cx="7772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059669"/>
                </a:solidFill>
                <a:latin typeface="Open Sans"/>
              </a:rPr>
              <a:t>$1.21M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063240" y="5440679"/>
            <a:ext cx="914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059669"/>
                </a:solidFill>
                <a:latin typeface="Open Sans"/>
              </a:rPr>
              <a:t>$211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023360" y="5440679"/>
            <a:ext cx="187451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Open Sans"/>
              </a:rPr>
              <a:t>High confidence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57200" y="5687568"/>
            <a:ext cx="5486400" cy="301752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02920" y="5742431"/>
            <a:ext cx="8686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Open Sans"/>
              </a:rPr>
              <a:t>6–20 records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417320" y="5742431"/>
            <a:ext cx="7772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4,347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240280" y="5742431"/>
            <a:ext cx="7772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FFB352"/>
                </a:solidFill>
                <a:latin typeface="Open Sans"/>
              </a:rPr>
              <a:t>$3.49M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063240" y="5742431"/>
            <a:ext cx="914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FFB352"/>
                </a:solidFill>
                <a:latin typeface="Open Sans"/>
              </a:rPr>
              <a:t>$802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023360" y="5742431"/>
            <a:ext cx="187451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Open Sans"/>
              </a:rPr>
              <a:t>Mixed — review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57200" y="5989320"/>
            <a:ext cx="5486400" cy="3017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02920" y="6044183"/>
            <a:ext cx="8686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Open Sans"/>
              </a:rPr>
              <a:t>20+ records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417320" y="6044183"/>
            <a:ext cx="7772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8,228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240280" y="6044183"/>
            <a:ext cx="7772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64748B"/>
                </a:solidFill>
                <a:latin typeface="Open Sans"/>
              </a:rPr>
              <a:t>$167M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063240" y="6044183"/>
            <a:ext cx="914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Open Sans"/>
              </a:rPr>
              <a:t>$20,342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023360" y="6044183"/>
            <a:ext cx="187451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Open Sans"/>
              </a:rPr>
              <a:t>Common-name collisions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217920" y="420624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2863C5"/>
                </a:solidFill>
                <a:latin typeface="Open Sans"/>
              </a:rPr>
              <a:t>CUSTOMERS BY TOTAL OWED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217920" y="449884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Open Sans"/>
              </a:rPr>
              <a:t>Each customer placed in one bucket based on the SUM of their matched records. Customers add up to 21,864.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217920" y="4846320"/>
            <a:ext cx="5486400" cy="237744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263640" y="4882896"/>
            <a:ext cx="13258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Open Sans"/>
              </a:rPr>
              <a:t>Total owed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680960" y="4882896"/>
            <a:ext cx="10972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Open Sans"/>
              </a:rPr>
              <a:t>Customers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823960" y="4882896"/>
            <a:ext cx="1280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Open Sans"/>
              </a:rPr>
              <a:t>Bucket total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149840" y="4882896"/>
            <a:ext cx="1508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Open Sans"/>
              </a:rPr>
              <a:t>$ per customer</a:t>
            </a:r>
          </a:p>
        </p:txBody>
      </p:sp>
      <p:sp>
        <p:nvSpPr>
          <p:cNvPr id="65" name="Rectangle 64"/>
          <p:cNvSpPr/>
          <p:nvPr/>
        </p:nvSpPr>
        <p:spPr>
          <a:xfrm>
            <a:off x="6217920" y="5084064"/>
            <a:ext cx="5486400" cy="301752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263640" y="5138927"/>
            <a:ext cx="13258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64748B"/>
                </a:solidFill>
                <a:latin typeface="Open Sans"/>
              </a:rPr>
              <a:t>$0–$9.99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680960" y="5138927"/>
            <a:ext cx="10972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2,765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823960" y="5138927"/>
            <a:ext cx="12801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64748B"/>
                </a:solidFill>
                <a:latin typeface="Open Sans"/>
              </a:rPr>
              <a:t>$9K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149840" y="5138927"/>
            <a:ext cx="15087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Open Sans"/>
              </a:rPr>
              <a:t>$3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217920" y="5385816"/>
            <a:ext cx="5486400" cy="3017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263640" y="5440679"/>
            <a:ext cx="13258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059669"/>
                </a:solidFill>
                <a:latin typeface="Open Sans"/>
              </a:rPr>
              <a:t>$10–$99.99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680960" y="5440679"/>
            <a:ext cx="10972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4,505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23960" y="5440679"/>
            <a:ext cx="12801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059669"/>
                </a:solidFill>
                <a:latin typeface="Open Sans"/>
              </a:rPr>
              <a:t>$198K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0149840" y="5440679"/>
            <a:ext cx="15087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059669"/>
                </a:solidFill>
                <a:latin typeface="Open Sans"/>
              </a:rPr>
              <a:t>$44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217920" y="5687568"/>
            <a:ext cx="5486400" cy="301752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263640" y="5742431"/>
            <a:ext cx="13258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FFB352"/>
                </a:solidFill>
                <a:latin typeface="Open Sans"/>
              </a:rPr>
              <a:t>$100–$499.99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680960" y="5742431"/>
            <a:ext cx="10972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4,297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823960" y="5742431"/>
            <a:ext cx="12801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FFB352"/>
                </a:solidFill>
                <a:latin typeface="Open Sans"/>
              </a:rPr>
              <a:t>$1.06M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149840" y="5742431"/>
            <a:ext cx="15087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FFB352"/>
                </a:solidFill>
                <a:latin typeface="Open Sans"/>
              </a:rPr>
              <a:t>$247</a:t>
            </a:r>
          </a:p>
        </p:txBody>
      </p:sp>
      <p:sp>
        <p:nvSpPr>
          <p:cNvPr id="80" name="Rectangle 79"/>
          <p:cNvSpPr/>
          <p:nvPr/>
        </p:nvSpPr>
        <p:spPr>
          <a:xfrm>
            <a:off x="6217920" y="5989320"/>
            <a:ext cx="5486400" cy="3017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263640" y="6044183"/>
            <a:ext cx="13258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863C5"/>
                </a:solidFill>
                <a:latin typeface="Open Sans"/>
              </a:rPr>
              <a:t>$500+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7680960" y="6044183"/>
            <a:ext cx="10972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10,088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823960" y="6044183"/>
            <a:ext cx="12801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863C5"/>
                </a:solidFill>
                <a:latin typeface="Open Sans"/>
              </a:rPr>
              <a:t>$171M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0149840" y="6044183"/>
            <a:ext cx="15087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2863C5"/>
                </a:solidFill>
                <a:latin typeface="Open Sans"/>
              </a:rPr>
              <a:t>$16,956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457200" y="6400800"/>
            <a:ext cx="11247120" cy="411480"/>
          </a:xfrm>
          <a:prstGeom prst="roundRect">
            <a:avLst>
              <a:gd name="adj" fmla="val 7000"/>
            </a:avLst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640080" y="6446520"/>
            <a:ext cx="10972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Open Sans"/>
              </a:rPr>
              <a:t>11,567 customers in the high-confidence buckets ($0–$499.99) map to ~$1.27M of likely-real CA unclaimed property.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22860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Open Sans"/>
              </a:rPr>
              <a:t>smartcredit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Open Sans"/>
              </a:rPr>
              <a:t>7 / 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Open Sans"/>
              </a:rPr>
              <a:t>myReclaim · Confidential — Consumer Direct, Inc.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777240"/>
            <a:ext cx="11430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863C5"/>
                </a:solidFill>
                <a:latin typeface="Open Sans"/>
              </a:rPr>
              <a:t>FILING THE CLAIM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43000"/>
            <a:ext cx="114300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0F172A"/>
                </a:solidFill>
                <a:latin typeface="Open Sans"/>
              </a:rPr>
              <a:t>Three channels. E-file preferred. Mail when required. Rep when approved.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965960"/>
            <a:ext cx="11430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Open Sans"/>
              </a:rPr>
              <a:t>Most states support online claim initiation, but some claims still require document upload, notarization, mailed forms, or manual review. v1 is assisted e-file. Mail packets via our ActionLetters service when states require physical paperwork. Filing on the member's behalf is a state-by-state regulatory unlock — not a technical one.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606040"/>
            <a:ext cx="3657600" cy="36576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2606040"/>
            <a:ext cx="3657600" cy="164592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2898648"/>
            <a:ext cx="32004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059669"/>
                </a:solidFill>
                <a:latin typeface="Open Sans"/>
              </a:rPr>
              <a:t>v1 · DEFAULT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3246120"/>
            <a:ext cx="3200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Assisted e-file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3977639"/>
            <a:ext cx="1371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2863C5"/>
                </a:solidFill>
                <a:latin typeface="Open Sans"/>
              </a:rPr>
              <a:t>Who submits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4197096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The member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4526279"/>
            <a:ext cx="1371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2863C5"/>
                </a:solidFill>
                <a:latin typeface="Open Sans"/>
              </a:rPr>
              <a:t>How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4745736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We prep the packet · user submits via state portal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5074919"/>
            <a:ext cx="1371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2863C5"/>
                </a:solidFill>
                <a:latin typeface="Open Sans"/>
              </a:rPr>
              <a:t>We track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5294375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Claim ID + status entered by member or updated manually until state APIs exist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5623559"/>
            <a:ext cx="1371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2863C5"/>
                </a:solidFill>
                <a:latin typeface="Open Sans"/>
              </a:rPr>
              <a:t>Status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5843015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Ships Sprint 1 · every state with online filing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51960" y="2606040"/>
            <a:ext cx="3657600" cy="36576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251960" y="2606040"/>
            <a:ext cx="3657600" cy="164592"/>
          </a:xfrm>
          <a:prstGeom prst="rect">
            <a:avLst/>
          </a:prstGeom>
          <a:solidFill>
            <a:srgbClr val="FFB3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480560" y="2898648"/>
            <a:ext cx="32004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B352"/>
                </a:solidFill>
                <a:latin typeface="Open Sans"/>
              </a:rPr>
              <a:t>v1 · FALLBACK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80560" y="3246120"/>
            <a:ext cx="3200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Mail packet via ActionLetters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80560" y="3977639"/>
            <a:ext cx="1371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2863C5"/>
                </a:solidFill>
                <a:latin typeface="Open Sans"/>
              </a:rPr>
              <a:t>Who submits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80560" y="4197096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Member; we generate the packet + mailing instructions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80560" y="4526279"/>
            <a:ext cx="1371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2863C5"/>
                </a:solidFill>
                <a:latin typeface="Open Sans"/>
              </a:rPr>
              <a:t>How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80560" y="4745736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If ActionLetters mails directly, legal must confirm it isn't representative filing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80560" y="5074919"/>
            <a:ext cx="1371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2863C5"/>
                </a:solidFill>
                <a:latin typeface="Open Sans"/>
              </a:rPr>
              <a:t>When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80560" y="5294375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States requiring notarized physical paperwork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80560" y="5623559"/>
            <a:ext cx="1371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2863C5"/>
                </a:solidFill>
                <a:latin typeface="Open Sans"/>
              </a:rPr>
              <a:t>Status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80560" y="5843015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Available now · same rail as credit-dispute mailers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046720" y="2606040"/>
            <a:ext cx="3657600" cy="36576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046720" y="2606040"/>
            <a:ext cx="3657600" cy="164592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275320" y="2898648"/>
            <a:ext cx="32004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2863C5"/>
                </a:solidFill>
                <a:latin typeface="Open Sans"/>
              </a:rPr>
              <a:t>v2 · UNLOCK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75320" y="3246120"/>
            <a:ext cx="3200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Registered representative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75320" y="3977639"/>
            <a:ext cx="1371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2863C5"/>
                </a:solidFill>
                <a:latin typeface="Open Sans"/>
              </a:rPr>
              <a:t>Who submits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75320" y="4197096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SmartCredit, on the member's behalf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275320" y="4526279"/>
            <a:ext cx="1371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2863C5"/>
                </a:solidFill>
                <a:latin typeface="Open Sans"/>
              </a:rPr>
              <a:t>Where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275320" y="4745736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GA (CDR) · FL (Ch. 717) · OH (Finder) · MI (locator)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275320" y="5074919"/>
            <a:ext cx="1371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2863C5"/>
                </a:solidFill>
                <a:latin typeface="Open Sans"/>
              </a:rPr>
              <a:t>Fee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275320" y="5294375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GA caps reps at 30% · we charge 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275320" y="5623559"/>
            <a:ext cx="1371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2863C5"/>
                </a:solidFill>
                <a:latin typeface="Open Sans"/>
              </a:rPr>
              <a:t>Status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275320" y="5843015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Sprint 4+ once first state approves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57200" y="6400800"/>
            <a:ext cx="11247120" cy="365760"/>
          </a:xfrm>
          <a:prstGeom prst="roundRect">
            <a:avLst>
              <a:gd name="adj" fmla="val 10000"/>
            </a:avLst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40080" y="6446520"/>
            <a:ext cx="10972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Open Sans"/>
              </a:rPr>
              <a:t>Members never pay. We never take a cut. Free reduces finder-fee risk — but representative filing still requires state-by-state approval, registration, and legal sign-off.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22860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Open Sans"/>
              </a:rPr>
              <a:t>smartcredit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Open Sans"/>
              </a:rPr>
              <a:t>8 / 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Open Sans"/>
              </a:rPr>
              <a:t>myReclaim · Confidential — Consumer Direct, Inc.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777240"/>
            <a:ext cx="11430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863C5"/>
                </a:solidFill>
                <a:latin typeface="Open Sans"/>
              </a:rPr>
              <a:t>COMPLIANCE GUARDRAILS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43000"/>
            <a:ext cx="114300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0F172A"/>
                </a:solidFill>
                <a:latin typeface="Open Sans"/>
              </a:rPr>
              <a:t>Free for members. State-approved where required.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965960"/>
            <a:ext cx="11430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64748B"/>
                </a:solidFill>
                <a:latin typeface="Open Sans"/>
              </a:rPr>
              <a:t>Verified-identity matching, member consent, official state filing channels — and a clear list of things we will not do.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606040"/>
            <a:ext cx="5486400" cy="37033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2606040"/>
            <a:ext cx="5486400" cy="164592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898648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59669"/>
                </a:solidFill>
                <a:latin typeface="Open Sans"/>
              </a:rPr>
              <a:t>WHAT WE WILL DO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38328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9669"/>
                </a:solidFill>
                <a:latin typeface="Open Sans"/>
              </a:rP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3401568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Use official state files or state-approved data access only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84048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9669"/>
                </a:solidFill>
                <a:latin typeface="Open Sans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3858768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Get explicit member consent before matching and claim prep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29768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9669"/>
                </a:solidFill>
                <a:latin typeface="Open Sans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" y="4315968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Route members to official state claim portals for v1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475488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9669"/>
                </a:solidFill>
                <a:latin typeface="Open Sans"/>
              </a:rPr>
              <a:t>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" y="4773168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Track claim ID + status inside SmartCredit (manual entry)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521208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9669"/>
                </a:solidFill>
                <a:latin typeface="Open Sans"/>
              </a:rPr>
              <a:t>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" y="5230368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File on members' behalf only where registered or approved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566928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9669"/>
                </a:solidFill>
                <a:latin typeface="Open Sans"/>
              </a:rPr>
              <a:t>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7280" y="5687568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Source-by-source data-use permissions; legal review per state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17920" y="2606040"/>
            <a:ext cx="5486400" cy="37033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17920" y="2606040"/>
            <a:ext cx="5486400" cy="164592"/>
          </a:xfrm>
          <a:prstGeom prst="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0" y="2898648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E11D48"/>
                </a:solidFill>
                <a:latin typeface="Open Sans"/>
              </a:rPr>
              <a:t>WHAT WE WILL NOT DO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55080" y="338328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E11D48"/>
                </a:solidFill>
                <a:latin typeface="Open Sans"/>
              </a:rPr>
              <a:t>✗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75120" y="3401568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Scrape state portals or MissingMoney.com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55080" y="384048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E11D48"/>
                </a:solidFill>
                <a:latin typeface="Open Sans"/>
              </a:rPr>
              <a:t>✗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75120" y="3858768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Guarantee a claim belongs to the member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55080" y="429768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E11D48"/>
                </a:solidFill>
                <a:latin typeface="Open Sans"/>
              </a:rPr>
              <a:t>✗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75120" y="4315968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Charge a success fee or take a cut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55080" y="475488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E11D48"/>
                </a:solidFill>
                <a:latin typeface="Open Sans"/>
              </a:rPr>
              <a:t>✗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75120" y="4773168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Submit claims without fresh user authorization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55080" y="521208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E11D48"/>
                </a:solidFill>
                <a:latin typeface="Open Sans"/>
              </a:rPr>
              <a:t>✗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675120" y="5230368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Re-use credit-report-derived data without legal sign-off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55080" y="566928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E11D48"/>
                </a:solidFill>
                <a:latin typeface="Open Sans"/>
              </a:rPr>
              <a:t>✗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675120" y="5687568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Store sensitive claim documents unless required and approved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57200" y="6446520"/>
            <a:ext cx="11247120" cy="365760"/>
          </a:xfrm>
          <a:prstGeom prst="roundRect">
            <a:avLst>
              <a:gd name="adj" fmla="val 7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40080" y="6492240"/>
            <a:ext cx="10972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Open Sans"/>
              </a:rPr>
              <a:t>Every state ingestion has a legal review gate. Every claim has a fresh consent. Every data source has documented terms.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22860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Open Sans"/>
              </a:rPr>
              <a:t>smartcredit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Open Sans"/>
              </a:rPr>
              <a:t>9 / 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Open Sans"/>
              </a:rPr>
              <a:t>myReclaim · Confidential — Consumer Direct, Inc.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777240"/>
            <a:ext cx="11430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863C5"/>
                </a:solidFill>
                <a:latin typeface="Open Sans"/>
              </a:rPr>
              <a:t>WORKFLOW · WHAT NEEDS TO HAPPEN NEXT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43000"/>
            <a:ext cx="11430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Open Sans"/>
              </a:rPr>
              <a:t>From approval to first member alert.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011680"/>
            <a:ext cx="11247120" cy="603503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2011680"/>
            <a:ext cx="164592" cy="603503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176272"/>
            <a:ext cx="594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2863C5"/>
                </a:solidFill>
                <a:latin typeface="Open Sans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2066544"/>
            <a:ext cx="7863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Exec approval &amp; resourcing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08760" y="2340864"/>
            <a:ext cx="78638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34155"/>
                </a:solidFill>
                <a:latin typeface="Open Sans"/>
              </a:rPr>
              <a:t>Greenlight myReclaim. Assign 1 data engineer + 1 product engineer.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555480" y="2212848"/>
            <a:ext cx="1600200" cy="274320"/>
          </a:xfrm>
          <a:prstGeom prst="roundRect">
            <a:avLst>
              <a:gd name="adj" fmla="val 50000"/>
            </a:avLst>
          </a:prstGeom>
          <a:solidFill>
            <a:srgbClr val="2863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900" b="1">
                <a:solidFill>
                  <a:srgbClr val="FFFFFF"/>
                </a:solidFill>
                <a:latin typeface="Open Sans"/>
              </a:rPr>
              <a:t>Now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2670048"/>
            <a:ext cx="11247120" cy="603503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7200" y="2670048"/>
            <a:ext cx="164592" cy="603503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2834640"/>
            <a:ext cx="594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2863C5"/>
                </a:solidFill>
                <a:latin typeface="Open Sans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08760" y="2724912"/>
            <a:ext cx="7863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California ingestion live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2999232"/>
            <a:ext cx="78638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34155"/>
                </a:solidFill>
                <a:latin typeface="Open Sans"/>
              </a:rPr>
              <a:t>Scheduled pull from sco.ca.gov → S3 → Snowflake. Canonical schema, dedupe, dbt models.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555480" y="2871216"/>
            <a:ext cx="1600200" cy="274320"/>
          </a:xfrm>
          <a:prstGeom prst="roundRect">
            <a:avLst>
              <a:gd name="adj" fmla="val 50000"/>
            </a:avLst>
          </a:prstGeom>
          <a:solidFill>
            <a:srgbClr val="2863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900" b="1">
                <a:solidFill>
                  <a:srgbClr val="FFFFFF"/>
                </a:solidFill>
                <a:latin typeface="Open Sans"/>
              </a:rPr>
              <a:t>Sprint 1 · ~6 weeks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3328415"/>
            <a:ext cx="11247120" cy="603503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3328415"/>
            <a:ext cx="164592" cy="603503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3493008"/>
            <a:ext cx="594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2863C5"/>
                </a:solidFill>
                <a:latin typeface="Open Sans"/>
              </a:rPr>
              <a:t>03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08760" y="3383279"/>
            <a:ext cx="7863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Plug in the PII matching engine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08760" y="3657599"/>
            <a:ext cx="78638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34155"/>
                </a:solidFill>
                <a:latin typeface="Open Sans"/>
              </a:rPr>
              <a:t>Connect SmartCredit's existing identity matcher. Alert only on high-confidence matches (name + address/city/state). Suppress name-only matches.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555480" y="3529584"/>
            <a:ext cx="1600200" cy="274320"/>
          </a:xfrm>
          <a:prstGeom prst="roundRect">
            <a:avLst>
              <a:gd name="adj" fmla="val 50000"/>
            </a:avLst>
          </a:prstGeom>
          <a:solidFill>
            <a:srgbClr val="2863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900" b="1">
                <a:solidFill>
                  <a:srgbClr val="FFFFFF"/>
                </a:solidFill>
                <a:latin typeface="Open Sans"/>
              </a:rPr>
              <a:t>Sprint 1–2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3986783"/>
            <a:ext cx="11247120" cy="603503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57200" y="3986783"/>
            <a:ext cx="164592" cy="603503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77240" y="4151375"/>
            <a:ext cx="594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059669"/>
                </a:solidFill>
                <a:latin typeface="Open Sans"/>
              </a:rPr>
              <a:t>04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08760" y="4041647"/>
            <a:ext cx="7863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Assisted e-file + ActionLetters fallback shipped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08760" y="4315968"/>
            <a:ext cx="78638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34155"/>
                </a:solidFill>
                <a:latin typeface="Open Sans"/>
              </a:rPr>
              <a:t>Member confirms a match. We prep packet → official state portal. Mail packet enabled only where legal approves the workflow.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555480" y="4187951"/>
            <a:ext cx="1600200" cy="274320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900" b="1">
                <a:solidFill>
                  <a:srgbClr val="FFFFFF"/>
                </a:solidFill>
                <a:latin typeface="Open Sans"/>
              </a:rPr>
              <a:t>End of Sprint 2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4645151"/>
            <a:ext cx="11247120" cy="603503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57200" y="4645151"/>
            <a:ext cx="164592" cy="603503"/>
          </a:xfrm>
          <a:prstGeom prst="rect">
            <a:avLst/>
          </a:prstGeom>
          <a:solidFill>
            <a:srgbClr val="FFB3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77240" y="4809743"/>
            <a:ext cx="594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FFB352"/>
                </a:solidFill>
                <a:latin typeface="Open Sans"/>
              </a:rPr>
              <a:t>05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508760" y="4700015"/>
            <a:ext cx="7863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State outreach &amp; registrations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508760" y="4974336"/>
            <a:ext cx="78638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34155"/>
                </a:solidFill>
                <a:latin typeface="Open Sans"/>
              </a:rPr>
              <a:t>Request written permission for caching, matching, redisplay, retention, commercial use. File GA CDR; open TX, NY, FL conversations.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555480" y="4846319"/>
            <a:ext cx="1600200" cy="274320"/>
          </a:xfrm>
          <a:prstGeom prst="roundRect">
            <a:avLst>
              <a:gd name="adj" fmla="val 50000"/>
            </a:avLst>
          </a:prstGeom>
          <a:solidFill>
            <a:srgbClr val="FFB3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900" b="1">
                <a:solidFill>
                  <a:srgbClr val="FFFFFF"/>
                </a:solidFill>
                <a:latin typeface="Open Sans"/>
              </a:rPr>
              <a:t>Parallel · Sprint 2+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57200" y="5303519"/>
            <a:ext cx="11247120" cy="603503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57200" y="5303519"/>
            <a:ext cx="164592" cy="603503"/>
          </a:xfrm>
          <a:prstGeom prst="rect">
            <a:avLst/>
          </a:prstGeom>
          <a:solidFill>
            <a:srgbClr val="FFB3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77240" y="5468111"/>
            <a:ext cx="594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FFB352"/>
                </a:solidFill>
                <a:latin typeface="Open Sans"/>
              </a:rPr>
              <a:t>06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508760" y="5358383"/>
            <a:ext cx="7863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Expand to top-5 states (as approved)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508760" y="5632703"/>
            <a:ext cx="78638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34155"/>
                </a:solidFill>
                <a:latin typeface="Open Sans"/>
              </a:rPr>
              <a:t>TX + NY added pending data-request approval; GA pending CDR registration + legal sign-off. Member-driven submit via state portals.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555480" y="5504687"/>
            <a:ext cx="1600200" cy="274320"/>
          </a:xfrm>
          <a:prstGeom prst="roundRect">
            <a:avLst>
              <a:gd name="adj" fmla="val 50000"/>
            </a:avLst>
          </a:prstGeom>
          <a:solidFill>
            <a:srgbClr val="FFB3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900" b="1">
                <a:solidFill>
                  <a:srgbClr val="FFFFFF"/>
                </a:solidFill>
                <a:latin typeface="Open Sans"/>
              </a:rPr>
              <a:t>Q3–Q4 2026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57200" y="5961887"/>
            <a:ext cx="11247120" cy="603503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457200" y="5961887"/>
            <a:ext cx="164592" cy="603503"/>
          </a:xfrm>
          <a:prstGeom prst="rect">
            <a:avLst/>
          </a:prstGeom>
          <a:solidFill>
            <a:srgbClr val="FC4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77240" y="6126479"/>
            <a:ext cx="594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FC4C0B"/>
                </a:solidFill>
                <a:latin typeface="Open Sans"/>
              </a:rPr>
              <a:t>07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508760" y="6016751"/>
            <a:ext cx="7863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Tier 3 unlock — we file for the member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508760" y="6291071"/>
            <a:ext cx="78638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34155"/>
                </a:solidFill>
                <a:latin typeface="Open Sans"/>
              </a:rPr>
              <a:t>First approved representative workflow. Show "we filed for you" only in states where SmartCredit (or partner) is authorized.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9555480" y="6163055"/>
            <a:ext cx="1600200" cy="274320"/>
          </a:xfrm>
          <a:prstGeom prst="roundRect">
            <a:avLst>
              <a:gd name="adj" fmla="val 50000"/>
            </a:avLst>
          </a:prstGeom>
          <a:solidFill>
            <a:srgbClr val="FC4C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900" b="1">
                <a:solidFill>
                  <a:srgbClr val="FFFFFF"/>
                </a:solidFill>
                <a:latin typeface="Open Sans"/>
              </a:rPr>
              <a:t>Q4 2026 · Q1 2027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457200" y="6647688"/>
            <a:ext cx="11247120" cy="182880"/>
          </a:xfrm>
          <a:prstGeom prst="roundRect">
            <a:avLst>
              <a:gd name="adj" fmla="val 10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40080" y="6675120"/>
            <a:ext cx="1097280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Open Sans"/>
              </a:rPr>
              <a:t>First member alert in ~6 weeks. First "we filed for you" within ~9 months.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