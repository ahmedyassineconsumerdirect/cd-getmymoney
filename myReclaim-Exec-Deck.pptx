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IS UNCLAIMED PROPERTY?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172A"/>
                </a:solidFill>
                <a:latin typeface="Open Sans"/>
              </a:rPr>
              <a:t>Money owed to you that the company holding it lost track of.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77440"/>
            <a:ext cx="11430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Open Sans"/>
              </a:rPr>
              <a:t>When a bank, employer, insurer, or utility can't reach the owner of an account or balance for a set period (typically 1–3 years), state law requires them to turn it over to the state. It sits there — in the owner's name — until someone claims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576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COMMON SOURCES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02336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023360"/>
            <a:ext cx="2743200" cy="7315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224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Bank accounts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59028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Dormant savings, checking, CDs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9272" y="402336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19272" y="4023360"/>
            <a:ext cx="2743200" cy="7315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7872" y="4224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Uncashed paychecks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459028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Final wages, commissions, bonuses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1344" y="402336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1344" y="4023360"/>
            <a:ext cx="2743200" cy="7315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9944" y="4224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Refunds &amp; deposits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459028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Utility, rent, insurance, retail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43416" y="402336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43416" y="4023360"/>
            <a:ext cx="2743200" cy="7315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72016" y="4224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Investments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2016" y="459028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Stock dividends, matured bonds, IRAs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55040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Nationwide: $70B+ sitting with state treasurers · ~33M Americans have property waiting (NAUPA, FY2024)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"Possible match found. The state may be holding property in your name."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possible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type, amount range — laid out as cards. The state determines eligibility.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hand them off to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Deep-link to the official state claim portal with step-by-step instructions for filing.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POSSIBLE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Reported by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$100 – $499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Matched on name + prior city / address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Continue to official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49224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Open Sans"/>
              </a:rPr>
              <a:t>The state determines eligibility. Official state claims are free. SmartCredit does not guarantee approval.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states cover ~68% of SC net actives (201,829 of 297,096). Four of the top five (FL, TX, GA, NY) need a state agreement before we can ingest at scale.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NET ACTIVES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48,436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LEGAL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Atty/CPA/PI rep path (Ch. 717). Bulk caching needs written DFS approval; portal manual by default.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45,670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Request-based dataset; enable only after written caching/redisplay approval.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31,110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updated Thursdays — prototype loaded 92.4M rows across 4 tiers 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18,837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+ background checks → weekly delimited file (&gt;1 GB)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15,001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quarterly. Excludes amounts and tax IDs.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10,536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 Assisted e-file via iCash.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9,549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clean bulk feed confirmed; annual public PDFs exist.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8,526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8,172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5,992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" y="6126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 10 states cover ~68% of SC net actives (201,829 of 297,096).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" y="635508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CA is the only top-10 state with a confirmed public bulk feed; Sprint 2 opens TX, NY, and GA pending state approval.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NAME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Open Sans"/>
              </a:rPr>
              <a:t>We matched 31,110 net actives CA · SmartCredit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Matching on name only.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23,166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net actives matched (name only)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74.5%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31,110 net actives CA · SmartCredit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2.3M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property records matched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$172M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4251960"/>
            <a:ext cx="7589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NET ACTIVES BY TOTAL OWED (name only)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4544568"/>
            <a:ext cx="7589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Each net active placed in one bucket by the SUM of their matched records. Add up to 23,166.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4937760"/>
            <a:ext cx="7589520" cy="25603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77440" y="4983480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Total owed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498348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Net actives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983480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Bucket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4983480"/>
            <a:ext cx="1920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$ per net active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5193792"/>
            <a:ext cx="7589520" cy="3108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77440" y="5257800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$0–$9.99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5257800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2,774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5257800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$9K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5257800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$3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0" y="5504688"/>
            <a:ext cx="758952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77440" y="5568696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$10–$99.99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0" y="5568696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4,526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5568696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$198K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63840" y="5568696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59669"/>
                </a:solidFill>
                <a:latin typeface="Open Sans"/>
              </a:rPr>
              <a:t>$44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0" y="5815584"/>
            <a:ext cx="7589520" cy="3108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77440" y="5879592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$100–$499.99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80" y="58795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4,317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5879592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$1.06M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5879592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B352"/>
                </a:solidFill>
                <a:latin typeface="Open Sans"/>
              </a:rPr>
              <a:t>$245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0" y="6126480"/>
            <a:ext cx="758952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77440" y="6190488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$500+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97680" y="6190488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11,549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6190488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$171M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6190488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863C5"/>
                </a:solidFill>
                <a:latin typeface="Open Sans"/>
              </a:rPr>
              <a:t>$14,814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Name-only is the upper bound — common names inflate the totals. Next slide adds city for the defensible view.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NAME + CITY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Open Sans"/>
              </a:rPr>
              <a:t>We matched 31,110 net actives CA · SmartCredit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Matching on name and city.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11,958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net actives matched (name + city)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38.4%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31,110 net actives CA · SmartCredit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69K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property records matched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$5.04M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4251960"/>
            <a:ext cx="7589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NET ACTIVES BY TOTAL OWED (name + city)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4544568"/>
            <a:ext cx="7589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Each net active placed in one bucket by the SUM of their matched records. Add up to 11,958.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4937760"/>
            <a:ext cx="7589520" cy="25603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77440" y="4983480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Total owed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498348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Net actives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983480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Bucket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4983480"/>
            <a:ext cx="1920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$ per net active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5193792"/>
            <a:ext cx="7589520" cy="3108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77440" y="5257800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$0–$9.99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5257800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3,684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5257800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$11K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5257800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$3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0" y="5504688"/>
            <a:ext cx="758952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77440" y="5568696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$10–$99.99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0" y="5568696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4,395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5568696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$174K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63840" y="5568696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59669"/>
                </a:solidFill>
                <a:latin typeface="Open Sans"/>
              </a:rPr>
              <a:t>$40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0" y="5815584"/>
            <a:ext cx="7589520" cy="3108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77440" y="5879592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$100–$499.99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80" y="58795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2,368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5879592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$534K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5879592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B352"/>
                </a:solidFill>
                <a:latin typeface="Open Sans"/>
              </a:rPr>
              <a:t>$225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0" y="6126480"/>
            <a:ext cx="758952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77440" y="6190488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$500+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97680" y="6190488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1,511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6190488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$4.32M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6190488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863C5"/>
                </a:solidFill>
                <a:latin typeface="Open Sans"/>
              </a:rPr>
              <a:t>$2,859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Adding city collapses 23,166 → 11,958 matched and $172M → $5.04M — the defensible floor before production PII (DOB, SSN-last-4, full address).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support online claim initiation, but some claims still require document upload, notarization, mailed forms, or manual review. v1 is assisted e-file. Mail packets via our ActionLetters service when states require physical paperwork. Filing on the member's behalf is a state-by-state regulatory unlock —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We prep the packet · user submits via state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Claim ID + status entered by member or updated manually until state APIs exist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Ships Sprint 1 · every state with online filing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60" y="260604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ActionLetters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Member; we generate the packet + mailing instructions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If ActionLetters mails directly, legal must confirm it isn't representative filing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States requiring notarized physical paperwork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Available now · same rail as credit-dispute mailers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260604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(CDR) · FL (Ch. 717) · OH (Finder) · MI (locator)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Fee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caps reps at 30% · we charge 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Sprint 4+ once first state approves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Members never pay. We never take a cut. Free reduces finder-fee risk — but representative filing still requires state-by-state approval, registration, and legal sign-off.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Free for members. State-approved where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Verified-identity matching, member consent, official state filing channels — and a clear list of things we will not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864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Open Sans"/>
              </a:rPr>
              <a:t>WHAT WE WILL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01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Use official state files or state-approved data access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587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Get explicit member consent before matching and claim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3159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Route members to official state claim portals for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731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Track claim ID + status inside SmartCredit (manual entry)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30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File on members' behalf only where registered or 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87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Source-by-source data-use permissions; legal review per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2606040"/>
            <a:ext cx="5486400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11D48"/>
                </a:solidFill>
                <a:latin typeface="Open Sans"/>
              </a:rPr>
              <a:t>WHAT WE WILL NOT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401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Scrape state portals or MissingMoney.com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8587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Guarantee a claim belongs to the 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3159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Charge a success fee or take a cut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7731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Submit claims without fresh user authorization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303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Re-use credit-report-derived data without legal sign-off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687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Store sensitive claim documents unless required and approved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44652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Every state ingestion has a legal review gate. Every claim has a fresh consent. Every data source has documented terms.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76272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66544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340864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2212848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70048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70048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72491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999232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2871216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28415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28415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93008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383279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657599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Connect SmartCredit's existing identity matcher. Alert only on high-confidence matches (name + address/city/state). Suppress name-only matches.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35295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86783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86783"/>
            <a:ext cx="164592" cy="60350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151375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0416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+ ActionLetters fallback shipped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315968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confirms a match. We prep packet → official state portal. Mail packet enabled only where legal approves the workflow.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4187951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645151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645151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809743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4700015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974336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Request written permission for caching, matching, redisplay, retention, commercial use. File GA CDR; open TX, NY,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55480" y="4846319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03519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03519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468111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5358383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 to top-5 states (as approved)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8760" y="5632703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TX + NY added pending data-request approval; GA pending CDR registration + legal sign-off. Member-driven submit via state portals.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55480" y="55046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961887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961887"/>
            <a:ext cx="164592" cy="603503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126479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6016751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6291071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First approved representative workflow. Show "we filed for you" only in states where SmartCredit (or partner) is authorized.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55480" y="6163055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·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647688"/>
            <a:ext cx="11247120" cy="1828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675120"/>
            <a:ext cx="10972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