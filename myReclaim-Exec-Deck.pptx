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206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640080" cy="685800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57200"/>
            <a:ext cx="3657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2863C5"/>
                </a:solidFill>
                <a:latin typeface="Open Sans"/>
              </a:rPr>
              <a:t>PRODUCT PROPOSAL · MONEY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0584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0" b="1">
                <a:solidFill>
                  <a:srgbClr val="0F172A"/>
                </a:solidFill>
                <a:latin typeface="Open Sans"/>
              </a:rPr>
              <a:t>myReclaim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611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>
                <a:solidFill>
                  <a:srgbClr val="334155"/>
                </a:solidFill>
                <a:latin typeface="Open Sans"/>
              </a:rPr>
              <a:t>Find money the state owes our members.
Automatically. Free.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126480"/>
            <a:ext cx="12188952" cy="7315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632764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Open Sans"/>
              </a:rPr>
              <a:t>Ahmed Yassine  ·  Consumer Direct, Inc.  ·  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2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280160"/>
            <a:ext cx="114300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0" b="1">
                <a:solidFill>
                  <a:srgbClr val="2863C5"/>
                </a:solidFill>
                <a:latin typeface="Open Sans"/>
              </a:rPr>
              <a:t>$70B+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57600"/>
            <a:ext cx="11430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Open Sans"/>
              </a:rPr>
              <a:t>estimated in unclaimed property nationwide. Some of it is reported in our members' names.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~33M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people may have property waiting to be claimed (NAUPA)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196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$2,080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average claim paid through MissingMoney.com (median $100, FY2024)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4846320"/>
            <a:ext cx="365760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5010912"/>
            <a:ext cx="3108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Unique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5623559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334155"/>
                </a:solidFill>
                <a:latin typeface="Open Sans"/>
              </a:rPr>
              <a:t>combination of verified-identity matching + alerts + free claim guidance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3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72A"/>
                </a:solidFill>
                <a:latin typeface="Open Sans"/>
              </a:rPr>
              <a:t>myReclaim is a free SmartCredit feature
that finds unclaimed money owed to our members.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346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THE MEMBER EXPERIENCES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3756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358444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45643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notify them inside SmartCredit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947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"Possible match found. The state may be holding property in your name."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9768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454456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41655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They review the possible matches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75488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Holder, type, amount range — laid out as cards. The state determines eligibility.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5257800"/>
            <a:ext cx="548640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" y="5504688"/>
            <a:ext cx="411480" cy="41148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Open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5376672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We help them file with the state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571500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Prepare claim packet · route to official state portal · track status.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83464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WHAT IT FEELS LIKE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3337560"/>
            <a:ext cx="5303520" cy="30175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9400" y="34747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C4C0B"/>
                </a:solidFill>
                <a:latin typeface="Open Sans"/>
              </a:rPr>
              <a:t>POSSIBLE MATCH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794760"/>
            <a:ext cx="49377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F172A"/>
                </a:solidFill>
                <a:latin typeface="Open Sans"/>
              </a:rPr>
              <a:t>Credit Balance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25196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Reported by financial institution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24160" y="3794760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E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2863C5"/>
                </a:solidFill>
                <a:latin typeface="Open Sans"/>
              </a:rPr>
              <a:t>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709160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$100 – $499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53212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Matched on name + prior city / address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29400" y="5897880"/>
            <a:ext cx="2194560" cy="36576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Open Sans"/>
              </a:rPr>
              <a:t>Continue to official claim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594360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Not 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649224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Open Sans"/>
              </a:rPr>
              <a:t>The state determines eligibility. Official state claims are free. SmartCredit does not guarantee approval.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4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THE PII MATCHING ENGINE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Same engine members already trust. New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SmartCredit's PII matching engine already auto-scans data brokers, businesses, and government sites for member info. Members get an alert and choose Remove or Keep. myReclaim points the same engine at state unclaimed-property records — same auto-scan, same alert, same trust envelope.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97480"/>
            <a:ext cx="5120640" cy="1645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TODAY · DATA-BROKER SCRUB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data brokers exposing the member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SmartCredit member identity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Fuzzy + phonetic name match (PII)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Hundreds of broker, business, gov sources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Remove  /  Keep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715000" y="4069080"/>
            <a:ext cx="365759" cy="548640"/>
          </a:xfrm>
          <a:prstGeom prst="rightArrow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23559" y="46634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C4C0B"/>
                </a:solidFill>
                <a:latin typeface="Open Sans"/>
              </a:rPr>
              <a:t>same engine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17920" y="2697480"/>
            <a:ext cx="5120640" cy="32004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2863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0" y="2697480"/>
            <a:ext cx="512064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2990088"/>
            <a:ext cx="47548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TOMORROW · myReclaim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410712"/>
            <a:ext cx="47548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72A"/>
                </a:solidFill>
                <a:latin typeface="Open Sans"/>
              </a:rPr>
              <a:t>Find unclaimed money owed to the member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4114800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Input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79" y="4114800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SmartCredit member identity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443984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Engine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4443984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Same PII matcher — no rebuild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773168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Corpus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26679" y="4773168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State unclaimed-property records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102352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Pattern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26679" y="5102352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Auto-scan → alert → member chooses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5431536"/>
            <a:ext cx="1280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Member action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6679" y="5431536"/>
            <a:ext cx="35661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334155"/>
                </a:solidFill>
                <a:latin typeface="Open Sans"/>
              </a:rPr>
              <a:t>Claim  /  Not me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80760"/>
            <a:ext cx="11247120" cy="45720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144768"/>
            <a:ext cx="10972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myReclaim is not a new product surface — it's a different outcome from the same security envelope members already opted into.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5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DATA INGESTION · CUSTOMER-DRIVEN PRIORITY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Where our members live. What each state lets us 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2024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Top 10 customer states cover ~68% of SmartCredit net actives (201,829 of 297,096). Four of the top five (FL, TX, GA, NY) need a state agreement before we can ingest at scale. CA is the only top-10 state with a clean public bulk feed — that's where the prototype starts.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68880"/>
            <a:ext cx="11247120" cy="29260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523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#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523744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252374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523744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INGEST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2523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WHAT THAT MEANS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761488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83464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281635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FL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282549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48,436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20440" y="281635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LEGAL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283464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Atty/CPA/PI rep path (Ch. 717). Bulk caching needs written DFS approval; portal manual by default.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90672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16382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314553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TX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3154679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45,670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20440" y="314553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316382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Request-based dataset; enable only after written caching/redisplay approval.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419856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49300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" y="347472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CA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20240" y="3483863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31,110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20440" y="347472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BUILD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37760" y="349300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Public CSV, updated Thursdays — prototype loaded 92.4M rows across 4 tiers ✓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749039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3822191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1560" y="3803903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GA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381304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18,837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520440" y="3803903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37760" y="3822191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CDR registration + background checks → weekly delimited file (&gt;1 GB)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4078224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15137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" y="4133087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20240" y="414223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15,001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520440" y="4133087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REQUEST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37760" y="415137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Secure-FTP owner-name file, quarterly. Excludes amounts and tax IDs.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407408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4480560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51560" y="4462272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20240" y="4471416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10,536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20440" y="4462272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37760" y="4480560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 Assisted e-file via iCash.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4736592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4809744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51560" y="4791456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20240" y="4800600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9,549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3520440" y="4791456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37760" y="4809744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clean bulk feed confirmed; annual public PDFs exist.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" y="5065776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" y="5138928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51560" y="5120640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NJ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920240" y="5129784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8,526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520440" y="512064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937760" y="5138928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7200" y="5394960"/>
            <a:ext cx="11247120" cy="3291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48640" y="5468112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" y="5449824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PA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920240" y="5458968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8,172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520440" y="5449824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937760" y="5468112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" y="5724144"/>
            <a:ext cx="11247120" cy="32918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48640" y="5797296"/>
            <a:ext cx="457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4748B"/>
                </a:solidFill>
                <a:latin typeface="Open Sans"/>
              </a:rPr>
              <a:t>10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1560" y="5779008"/>
            <a:ext cx="822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SC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920240" y="5788152"/>
            <a:ext cx="14630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5,992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520440" y="5779008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800" b="1">
                <a:solidFill>
                  <a:srgbClr val="FFFFFF"/>
                </a:solidFill>
                <a:latin typeface="Open Sans"/>
              </a:rPr>
              <a:t>HANDOFF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937760" y="5797296"/>
            <a:ext cx="6766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No public bulk feed confirmed.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57200" y="6080760"/>
            <a:ext cx="11247120" cy="50292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080" y="6126480"/>
            <a:ext cx="10972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Open Sans"/>
              </a:rPr>
              <a:t>Top 10 customer states cover ~68% of SmartCredit net actives (201,829 of 297,096).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0080" y="6355080"/>
            <a:ext cx="10972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CCDDFF"/>
                </a:solidFill>
                <a:latin typeface="Open Sans"/>
              </a:rPr>
              <a:t>CA is the only top-10 state with a confirmed public bulk feed; Sprint 2 opens TX, NY, and GA pending state approval.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6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WE'D FIND TODAY · LIVE 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Open Sans"/>
              </a:rPr>
              <a:t>We matched 31,110 net actives CA · SmartCredit against all four CA unclaimed tiers (92.4M records).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Matching on name only.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23,166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customers with at least one matching name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74.5%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of 31,110 net actives CA · SmartCredit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2.3M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property records matched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6112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$172M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estimated value across all matches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206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MATCH DISTRIBUTION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498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Number of records each customer's name returned. Fewer records = more distinctive name = more likely match.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846320"/>
            <a:ext cx="5486400" cy="237744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882896"/>
            <a:ext cx="868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Records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488289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0280" y="488289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3240" y="4882896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$/customer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3360" y="4882896"/>
            <a:ext cx="187451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Confidence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084064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5138927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1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5138927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3,331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0280" y="5138927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$219K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63240" y="5138927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23360" y="5138927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High confidence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385816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5440679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2–5 records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17320" y="5440679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5,790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40280" y="5440679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$1.19M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63240" y="5440679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$205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23360" y="5440679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High confidence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687568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5742431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6–20 records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5742431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4,388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40280" y="5742431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$3.47M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63240" y="5742431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B352"/>
                </a:solidFill>
                <a:latin typeface="Open Sans"/>
              </a:rPr>
              <a:t>$792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5742431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Mixed — review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5989320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920" y="6044183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20+ records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17320" y="6044183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9,657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240280" y="6044183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$167M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63240" y="6044183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$17,329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023360" y="6044183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Common-name collisions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4206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CUSTOMERS BY TOTAL OWED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4498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Each customer placed in one bucket based on the SUM of their matched records. Customers add up to 23,166.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17920" y="4846320"/>
            <a:ext cx="5486400" cy="237744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63640" y="4882896"/>
            <a:ext cx="1325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Total owed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80960" y="4882896"/>
            <a:ext cx="10972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23960" y="4882896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Bucket total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49840" y="4882896"/>
            <a:ext cx="1508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 per customer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17920" y="5084064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63640" y="5138927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$0–$9.99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513892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2,774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23960" y="5138927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$9K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49840" y="5138927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$3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17920" y="5385816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63640" y="5440679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$10–$99.99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80960" y="5440679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4,526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23960" y="5440679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$198K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49840" y="5440679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$44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17920" y="5687568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63640" y="5742431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$100–$499.99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80960" y="5742431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4,317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823960" y="5742431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$1.06M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149840" y="5742431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B352"/>
                </a:solidFill>
                <a:latin typeface="Open Sans"/>
              </a:rPr>
              <a:t>$245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17920" y="5989320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63640" y="6044183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$500+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680960" y="6044183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11,549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23960" y="6044183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$171M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149840" y="6044183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2863C5"/>
                </a:solidFill>
                <a:latin typeface="Open Sans"/>
              </a:rPr>
              <a:t>$14,814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57200" y="6400800"/>
            <a:ext cx="11247120" cy="41148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11,617 customers in the high-confidence buckets ($0–$499.99) map to ~$1.27M of likely-real CA unclaimed property.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7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WHAT WE'D FIND TODAY · NAME + CITY MATCH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0F172A"/>
                </a:solidFill>
                <a:latin typeface="Open Sans"/>
              </a:rPr>
              <a:t>We matched 31,110 net actives CA · SmartCredit against all four CA unclaimed tiers (92.4M records).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Matching on name and city.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11,958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customers with at least one name+city match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91840" y="2606040"/>
            <a:ext cx="2697480" cy="137160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2863C5"/>
                </a:solidFill>
                <a:latin typeface="Open Sans"/>
              </a:rPr>
              <a:t>38.4%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of 31,110 net actives CA · SmartCredit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69K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property records matched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0" y="2606040"/>
            <a:ext cx="2697480" cy="1417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61120" y="2606040"/>
            <a:ext cx="2697480" cy="137160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0" y="2880360"/>
            <a:ext cx="23317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FC4C0B"/>
                </a:solidFill>
                <a:latin typeface="Open Sans"/>
              </a:rPr>
              <a:t>$5.04M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611880"/>
            <a:ext cx="2331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estimated value across all matches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206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MATCH DISTRIBUTION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498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Records each (name + city) key returned. City filter shrinks the long tail of common-name collisions.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4846320"/>
            <a:ext cx="5486400" cy="237744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882896"/>
            <a:ext cx="8686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Records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20" y="488289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40280" y="4882896"/>
            <a:ext cx="7772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 total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63240" y="4882896"/>
            <a:ext cx="914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$/customer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23360" y="4882896"/>
            <a:ext cx="1874519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Confidence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084064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5138927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1 record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17320" y="5138927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4,742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0280" y="5138927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$240K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63240" y="5138927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$51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23360" y="5138927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High confidence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5385816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5440679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2–5 records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17320" y="5440679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4,971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240280" y="5440679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$710K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63240" y="5440679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$143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023360" y="5440679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High confidence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5687568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5742431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6–20 records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5742431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1,602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40280" y="5742431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$1.21M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063240" y="5742431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B352"/>
                </a:solidFill>
                <a:latin typeface="Open Sans"/>
              </a:rPr>
              <a:t>$755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023360" y="5742431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Mixed — review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5989320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920" y="6044183"/>
            <a:ext cx="8686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Open Sans"/>
              </a:rPr>
              <a:t>20+ records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417320" y="6044183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643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240280" y="6044183"/>
            <a:ext cx="7772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$2.88M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063240" y="6044183"/>
            <a:ext cx="914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$4,478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023360" y="6044183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Likely real, large estates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420624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CUSTOMERS BY TOTAL OWED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449884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Each customer placed in one bucket based on the SUM of their matched records. Customers add up to 11,958.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17920" y="4846320"/>
            <a:ext cx="5486400" cy="237744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63640" y="4882896"/>
            <a:ext cx="13258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Total owed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80960" y="4882896"/>
            <a:ext cx="109728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Customers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823960" y="4882896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Bucket total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49840" y="4882896"/>
            <a:ext cx="1508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Open Sans"/>
              </a:rPr>
              <a:t>$ per customer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217920" y="5084064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63640" y="5138927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$0–$9.99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5138927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3,684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23960" y="5138927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64748B"/>
                </a:solidFill>
                <a:latin typeface="Open Sans"/>
              </a:rPr>
              <a:t>$11K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49840" y="5138927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Open Sans"/>
              </a:rPr>
              <a:t>$3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17920" y="5385816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63640" y="5440679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$10–$99.99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80960" y="5440679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4,395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23960" y="5440679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059669"/>
                </a:solidFill>
                <a:latin typeface="Open Sans"/>
              </a:rPr>
              <a:t>$174K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49840" y="5440679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59669"/>
                </a:solidFill>
                <a:latin typeface="Open Sans"/>
              </a:rPr>
              <a:t>$40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17920" y="5687568"/>
            <a:ext cx="5486400" cy="301752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263640" y="5742431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$100–$499.99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80960" y="5742431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2,368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823960" y="5742431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B352"/>
                </a:solidFill>
                <a:latin typeface="Open Sans"/>
              </a:rPr>
              <a:t>$534K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149840" y="5742431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B352"/>
                </a:solidFill>
                <a:latin typeface="Open Sans"/>
              </a:rPr>
              <a:t>$225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17920" y="5989320"/>
            <a:ext cx="548640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263640" y="6044183"/>
            <a:ext cx="1325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$500+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680960" y="6044183"/>
            <a:ext cx="1097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1,511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823960" y="6044183"/>
            <a:ext cx="12801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863C5"/>
                </a:solidFill>
                <a:latin typeface="Open Sans"/>
              </a:rPr>
              <a:t>$4.32M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149840" y="6044183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2863C5"/>
                </a:solidFill>
                <a:latin typeface="Open Sans"/>
              </a:rPr>
              <a:t>$2,859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57200" y="6400800"/>
            <a:ext cx="11247120" cy="411480"/>
          </a:xfrm>
          <a:prstGeom prst="roundRect">
            <a:avLst>
              <a:gd name="adj" fmla="val 7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Adding city collapses 23,166 → 11,958 matched customers and $172M → $5.04M — the defensible floor before deeper PII matching.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8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FILING THE CLAIM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Open Sans"/>
              </a:rPr>
              <a:t>Three channels. E-file preferred. Mail when required. Rep when approved.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Open Sans"/>
              </a:rPr>
              <a:t>Most states support online claim initiation, but some claims still require document upload, notarization, mailed forms, or manual review. v1 is assisted e-file. Mail packets via our ActionLetters service when states require physical paperwork. Filing on the member's behalf is a state-by-state regulatory unlock — not a technical one.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36576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Open Sans"/>
              </a:rPr>
              <a:t>v1 · DEFAULT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Assisted e-file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The member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We prep the packet · user submits via state portal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We track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Claim ID + status entered by member or updated manually until state APIs exist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Ships Sprint 1 · every state with online filing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5196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51960" y="2606040"/>
            <a:ext cx="3657600" cy="164592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8056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B352"/>
                </a:solidFill>
                <a:latin typeface="Open Sans"/>
              </a:rPr>
              <a:t>v1 · FALLBACK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Mail packet via ActionLetters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Member; we generate the packet + mailing instructions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6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How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If ActionLetters mails directly, legal must confirm it isn't representative filing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States requiring notarized physical paperwork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8056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Available now · same rail as credit-dispute mailers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46720" y="2606040"/>
            <a:ext cx="365760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46720" y="2606040"/>
            <a:ext cx="3657600" cy="164592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20" y="2898648"/>
            <a:ext cx="32004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2863C5"/>
                </a:solidFill>
                <a:latin typeface="Open Sans"/>
              </a:rPr>
              <a:t>v2 · UNLOCK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3246120"/>
            <a:ext cx="32004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Open Sans"/>
              </a:rPr>
              <a:t>Registered representative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397763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Who submits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419709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SmartCredit, on the member's behalf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452627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Where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4745736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(CDR) · FL (Ch. 717) · OH (Finder) · MI (locator)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507491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Fee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20" y="529437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GA caps reps at 30% · we charge 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5623559"/>
            <a:ext cx="1371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2863C5"/>
                </a:solidFill>
                <a:latin typeface="Open Sans"/>
              </a:rPr>
              <a:t>Status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5843015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334155"/>
                </a:solidFill>
                <a:latin typeface="Open Sans"/>
              </a:rPr>
              <a:t>Sprint 4+ once first state approves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6400800"/>
            <a:ext cx="11247120" cy="365760"/>
          </a:xfrm>
          <a:prstGeom prst="roundRect">
            <a:avLst>
              <a:gd name="adj" fmla="val 10000"/>
            </a:avLst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44652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Members never pay. We never take a cut. Free reduces finder-fee risk — but representative filing still requires state-by-state approval, registration, and legal sign-off.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9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COMPLIANCE GUARDRAILS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0F172A"/>
                </a:solidFill>
                <a:latin typeface="Open Sans"/>
              </a:rPr>
              <a:t>Free for members. State-approved where required.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65960"/>
            <a:ext cx="11430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Open Sans"/>
              </a:rPr>
              <a:t>Verified-identity matching, member consent, official state filing channels — and a clear list of things we will not 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606040"/>
            <a:ext cx="5486400" cy="3703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606040"/>
            <a:ext cx="5486400" cy="16459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898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59669"/>
                </a:solidFill>
                <a:latin typeface="Open Sans"/>
              </a:rPr>
              <a:t>WHAT WE WILL 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83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4015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Use official state files or state-approved data access only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8587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Get explicit member consent before matching and claim prep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2976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3159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Route members to official state claim portals for v1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7548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7731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Track claim ID + status inside SmartCredit (manual entry)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2120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" y="52303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File on members' behalf only where registered or approved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669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9669"/>
                </a:solidFill>
                <a:latin typeface="Open Sans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568756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Source-by-source data-use permissions; legal review per state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2606040"/>
            <a:ext cx="5486400" cy="3703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0" y="2606040"/>
            <a:ext cx="5486400" cy="164592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2898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E11D48"/>
                </a:solidFill>
                <a:latin typeface="Open Sans"/>
              </a:rPr>
              <a:t>WHAT WE WILL NOT DO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383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34015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Scrape state portals or MissingMoney.com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38587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Guarantee a claim belongs to the member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42976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3159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Charge a success fee or take a cut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47548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7731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Submit claims without fresh user authorization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52120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52303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Re-use credit-report-derived data without legal sign-off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55080" y="56692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E11D48"/>
                </a:solidFill>
                <a:latin typeface="Open Sans"/>
              </a:rPr>
              <a:t>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0" y="568756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334155"/>
                </a:solidFill>
                <a:latin typeface="Open Sans"/>
              </a:rPr>
              <a:t>Store sensitive claim documents unless required and approved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446520"/>
            <a:ext cx="11247120" cy="365760"/>
          </a:xfrm>
          <a:prstGeom prst="roundRect">
            <a:avLst>
              <a:gd name="adj" fmla="val 7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49224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Open Sans"/>
              </a:rPr>
              <a:t>Every state ingestion has a legal review gate. Every claim has a fresh consent. Every data source has documented terms.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22860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72A"/>
                </a:solidFill>
                <a:latin typeface="Open Sans"/>
              </a:rPr>
              <a:t>smartcredit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0" y="644652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Open Sans"/>
              </a:rPr>
              <a:t>10 /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Open Sans"/>
              </a:rPr>
              <a:t>myReclaim · Confidential — Consumer Direct, Inc.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777240"/>
            <a:ext cx="11430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2863C5"/>
                </a:solidFill>
                <a:latin typeface="Open Sans"/>
              </a:rPr>
              <a:t>WORKFLOW · WHAT NEEDS TO HAPPEN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43000"/>
            <a:ext cx="11430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0F172A"/>
                </a:solidFill>
                <a:latin typeface="Open Sans"/>
              </a:rPr>
              <a:t>From approval to first member alert.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011680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011680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76272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066544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Exec approval &amp; resourcing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340864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Greenlight myReclaim. Assign 1 data engineer + 1 product engineer.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55480" y="2212848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Now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670048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670048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2834640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2724912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California ingestion live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2999232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Scheduled pull from sco.ca.gov → S3 → Snowflake. Canonical schema, dedupe, dbt models.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555480" y="2871216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 · ~6 weeks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328415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328415"/>
            <a:ext cx="164592" cy="603503"/>
          </a:xfrm>
          <a:prstGeom prst="rect">
            <a:avLst/>
          </a:prstGeom>
          <a:solidFill>
            <a:srgbClr val="2863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493008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863C5"/>
                </a:solidFill>
                <a:latin typeface="Open San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3383279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Plug in the PII matching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08760" y="3657599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Connect SmartCredit's existing identity matcher. Alert only on high-confidence matches (name + address/city/state). Suppress name-only matches.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555480" y="3529584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2863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Sprint 1–2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3986783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3986783"/>
            <a:ext cx="164592" cy="603503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4151375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059669"/>
                </a:solidFill>
                <a:latin typeface="Open San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08760" y="4041647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Assisted e-file + ActionLetters fallback shipped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08760" y="4315968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Member confirms a match. We prep packet → official state portal. Mail packet enabled only where legal approves the workflow.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55480" y="4187951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End of Sprint 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645151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645151"/>
            <a:ext cx="164592" cy="603503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4809743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B352"/>
                </a:solidFill>
                <a:latin typeface="Open Sans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08760" y="4700015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State outreach &amp; registrations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8760" y="4974336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Request written permission for caching, matching, redisplay, retention, commercial use. File GA CDR; open TX, NY, FL conversations.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55480" y="4846319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Parallel · Sprint 2+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303519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57200" y="5303519"/>
            <a:ext cx="164592" cy="603503"/>
          </a:xfrm>
          <a:prstGeom prst="rect">
            <a:avLst/>
          </a:prstGeom>
          <a:solidFill>
            <a:srgbClr val="FFB3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5468111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FB352"/>
                </a:solidFill>
                <a:latin typeface="Open Sans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8760" y="5358383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Expand to top-5 states (as approved)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08760" y="5632703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TX + NY added pending data-request approval; GA pending CDR registration + legal sign-off. Member-driven submit via state portals.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555480" y="5504687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FB3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Q3–Q4 2026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961887"/>
            <a:ext cx="11247120" cy="603503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57200" y="5961887"/>
            <a:ext cx="164592" cy="603503"/>
          </a:xfrm>
          <a:prstGeom prst="rect">
            <a:avLst/>
          </a:prstGeom>
          <a:solidFill>
            <a:srgbClr val="FC4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77240" y="6126479"/>
            <a:ext cx="594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FC4C0B"/>
                </a:solidFill>
                <a:latin typeface="Open Sans"/>
              </a:rPr>
              <a:t>07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508760" y="6016751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Open Sans"/>
              </a:rPr>
              <a:t>Tier 3 unlock — we file for the member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508760" y="6291071"/>
            <a:ext cx="78638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34155"/>
                </a:solidFill>
                <a:latin typeface="Open Sans"/>
              </a:rPr>
              <a:t>First approved representative workflow. Show "we filed for you" only in states where SmartCredit (or partner) is authorized.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555480" y="6163055"/>
            <a:ext cx="1600200" cy="274320"/>
          </a:xfrm>
          <a:prstGeom prst="roundRect">
            <a:avLst>
              <a:gd name="adj" fmla="val 50000"/>
            </a:avLst>
          </a:prstGeom>
          <a:solidFill>
            <a:srgbClr val="FC4C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/>
          <a:lstStyle/>
          <a:p>
            <a:pPr algn="ctr"/>
            <a:r>
              <a:rPr sz="900" b="1">
                <a:solidFill>
                  <a:srgbClr val="FFFFFF"/>
                </a:solidFill>
                <a:latin typeface="Open Sans"/>
              </a:rPr>
              <a:t>Q4 2026 · Q1 2027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57200" y="6647688"/>
            <a:ext cx="11247120" cy="182880"/>
          </a:xfrm>
          <a:prstGeom prst="roundRect">
            <a:avLst>
              <a:gd name="adj" fmla="val 10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" y="6675120"/>
            <a:ext cx="109728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Open Sans"/>
              </a:rPr>
              <a:t>First member alert in ~6 weeks. First "we filed for you" within ~9 months.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