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 billion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is sitting in U.S. state treasuries — money our members are owed.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1 in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Americans has unclaimed property in their name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~$200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household balance, growing every year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credit-monitoring competitors offer this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$X waiting. We found it for you."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amount, type — laid out as cards.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claim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One click → official state claim portal.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MATCH FOUND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Holder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Reported in member's name · last known city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Claim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943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WHY WE'RE THE ONES TO BUILD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We already have the three hardest pieces.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Verified member 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We already know who they are — name, addresses, DOB, verified at signup and consented for monitoring. No re-collection. No new PII surface.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1584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5904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C4C0B"/>
                </a:solidFill>
                <a:latin typeface="Open San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PrivacyMaster® matching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5904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Already in production scanning data brokers for member info. Fuzzy + phonetic name matching at scale. Same engine — myReclaim points it at a new corpus.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5968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F4F9E"/>
                </a:solidFill>
                <a:latin typeface="Open San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Snowflake 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288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Paid for, secured, audited, dbt-modeled. Adding myReclaim is a new schema — not new infrastructure or new vendor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355080"/>
            <a:ext cx="11247120" cy="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64748B"/>
                </a:solidFill>
                <a:latin typeface="Open Sans"/>
              </a:rPr>
              <a:t>Translation: every other player in this space has to build at least one of these from scratch. We don't.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TRUST PRECEDENT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Open Sans"/>
              </a:rPr>
              <a:t>We already do this — for a different problem.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PrivacyMaster® is a SmartCredit member feature that auto-scans data brokers, businesses, and government sites for member information. When found, the member chooses Remove or Keep. We monitor compliance until the data is gone.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60320"/>
            <a:ext cx="3636264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3636264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80360"/>
            <a:ext cx="3179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WHAT IT DOES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Auto-scan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93591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Hundreds of broker, business, and govt sources, on a schedule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04487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Alert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0520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gets notified inside SmartCredit when a match appears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4714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27448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instructs Remove or Keep on each finding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03834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Compliance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294376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We track the broker's removal timeline, 1–45 days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6344" y="2560320"/>
            <a:ext cx="3636264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6344" y="2560320"/>
            <a:ext cx="3636264" cy="16459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4944" y="2880360"/>
            <a:ext cx="3179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C4C0B"/>
                </a:solidFill>
                <a:latin typeface="Open Sans"/>
              </a:rPr>
              <a:t>WHAT MEMBERS TRUST US WITH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4944" y="333756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Identity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4944" y="3593591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Name, addresses, DOB, family — already in their SmartCredit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4944" y="3904487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Auto-monitoring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4944" y="4160520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Scanning happens whether or not they activate the feature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4944" y="44714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Acting on findings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4944" y="4727448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Authorized to send Remove requests on their behalf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4944" y="503834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4944" y="5294376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Equivalent standalone services charge $15–$20 / month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5488" y="2560320"/>
            <a:ext cx="3636264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95488" y="2560320"/>
            <a:ext cx="3636264" cy="164592"/>
          </a:xfrm>
          <a:prstGeom prst="rect">
            <a:avLst/>
          </a:prstGeom>
          <a:solidFill>
            <a:srgbClr val="1F4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4088" y="2880360"/>
            <a:ext cx="3179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4F9E"/>
                </a:solidFill>
                <a:latin typeface="Open Sans"/>
              </a:rPr>
              <a:t>WHAT myRECLAIM REUSES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088" y="333756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Identity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088" y="3593591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Same profile — no re-collection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4088" y="3904487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Auto-scan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4088" y="4160520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Same scheduled scan, just a different corpus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4088" y="44714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Alert pattern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4088" y="4727448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Same in-product notification UX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088" y="503834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Member choice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088" y="5294376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Remove / Keep becomes Claim / Not 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852160"/>
            <a:ext cx="11247120" cy="594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94360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myReclaim is not a new product surface.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19963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It's a different outcome from the same security envelope members have already opted into. Same engine, same alert pattern, new corpus, new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PRIVACYMASTER ↔ myRECLAIM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engine. Same UX pattern. Inverted purpose.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475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Open Sans"/>
              </a:rPr>
              <a:t>TODAY · PrivacyMaster®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40233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348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43484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Fuzzy + phonetic name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4632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Data-broker exposure 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578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715000" y="393192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3559" y="45262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46888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24688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788920"/>
            <a:ext cx="475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246120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Find unclaimed money for the member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40233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4348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443484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Same PrivacyMaster matcher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846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484632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257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52578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Open Sans"/>
              </a:rPr>
              <a:t>The only new thing is the corpus. The plumbing is already in production.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HOW WE GET THE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There's no MissingMoney API. We go state by state.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Open Sans"/>
              </a:rPr>
              <a:t>21 states ranked by data accessibility, member coverage, and legal posture. Four tiers, one playbook.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164592" cy="8229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27706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Public bulk — ingest 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28986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29352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59669"/>
                </a:solidFill>
                <a:latin typeface="Open Sans"/>
              </a:rPr>
              <a:t>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2461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California publishes a full CSV on sco.ca.gov, refreshed weekly.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204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520440"/>
            <a:ext cx="164592" cy="82296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36850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233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Permission required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74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TX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NY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GA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49039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9039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OH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62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160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Formal request to the state treasurer / department, plus ToS for caching and redisplay.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4348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34840"/>
            <a:ext cx="164592" cy="8229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77240" y="45994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377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Deep-link only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7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77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34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34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PA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NJ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49039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49039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SC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06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LA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20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VA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577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AZ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92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92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TN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949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06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6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63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63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7440" y="5074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bulk. Surface in the UI, deep-link to the state's claim portal.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57200" y="5349240"/>
            <a:ext cx="164592" cy="8229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77240" y="55138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BLOCKED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7240" y="58521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Don't ingest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3774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774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FL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8346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346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WA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40" y="5989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FL portal explicitly forbids automation. WA prohibits commercial redistribution by statute.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state portals to the SmartCredit dashboard.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26060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State data
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CA bulk CSV
•  TX requested file
•  NY SFTP quarterly
•  GA registered file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0896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8328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2377440"/>
            <a:ext cx="2606040" cy="16459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2044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S3 landing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Versioned by date
•  ETag-aware fetch
•  Schema-change quarantine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3504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936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2377440"/>
            <a:ext cx="2606040" cy="164592"/>
          </a:xfrm>
          <a:prstGeom prst="rect">
            <a:avLst/>
          </a:prstGeom>
          <a:solidFill>
            <a:srgbClr val="1F4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4652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1F4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Snowflake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Snowpipe auto-ingest
•  NAUPA III canonical schema
•  dbt models · row lineage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6112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3544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440" y="2377440"/>
            <a:ext cx="26060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37260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Member identity → match
•  Results card list
•  State claim deep-link
•  Notification engine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69280"/>
            <a:ext cx="1124712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Why Snowflake?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We already operate it. Adding myReclaim is a schema, not new infrastructure. Encryption, audit, dbt are already there.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The next unlock is regulatory, not technical.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For SmartCredit to submit claims on the member's behalf, we need state-approved representative status — or a third-party claim-submission API where one exists. The code is straightforward; the relationship is the moat.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11247120" cy="8138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201168" cy="81381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877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TIER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34640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Deep-link to state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606040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Member clicks Claim → state's official site opens. Member files their own claim.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0632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All states with online filing  ·  Zero regulatory exposure  ·  Ships with Sprint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2770632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SHIP NOW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401568"/>
            <a:ext cx="11247120" cy="8138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401568"/>
            <a:ext cx="201168" cy="81381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747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TIER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21607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Browser-extension form-fill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493008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SmartCredit extension auto-fills the state's claim form from the member's profile. Member still clicks Submit.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3950207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CA · TX · NY · IL · OH · PA · NJ  ·  FL excluded (ToS forbids automation)  ·  Still member-driven submit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36576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SPRINT 4-5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288536"/>
            <a:ext cx="11247120" cy="8138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288536"/>
            <a:ext cx="201168" cy="8138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3616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TIER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608575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Registered representative — SmartCredit submits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4379975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SmartCredit registers under each state's claimant-representative regime and files claims on the member's behalf.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837175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GA (CDR) · OH (Registered Finder) · MI (locator) · FL (atty/CPA/PI)  ·  Background-check + legal review per state  ·  This is the regulatory unlock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78240" y="454456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Q4 2026+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175503"/>
            <a:ext cx="11247120" cy="8138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175503"/>
            <a:ext cx="201168" cy="81381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48655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TIER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495543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Direct claim-submission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6120" y="5266943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Wire up a third-party API once a state, NAUPA, or Kelmar exposes one.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5724143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No state offers this today  ·  Watch NAUPA III / Kelmar evolution  ·  Opportunistic — not scheduled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5431536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WATCH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080760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Open Sans"/>
              </a:rPr>
              <a:t>The technical work is done in days. The state-approval work is the program.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Each state we register in expands what "we found you money" actually means — from "go file this" to "we filed it for you."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First state live in ~6 weeks.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164592" cy="58521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1343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Sprint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328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California 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CA ingest · Snowflake schema · matcher integration · alert UX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16936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990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09544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Permission outreach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309981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Texas data request · NY SFTP request · FL partnership conversations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93592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93592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6674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86200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Texas + New York 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377647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NY SFTP ingest (quarterly) · TX file ingest if approved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270248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270248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3434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62856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Georgia path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44531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CDR registration · background checks · legal approval · ingest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946904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946904"/>
            <a:ext cx="164592" cy="58521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0200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Open Sans"/>
              </a:rPr>
              <a:t>Sprint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239512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Florida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54680" y="5129784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Partnership with registered claimant rep, OR written permission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623560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623560"/>
            <a:ext cx="164592" cy="58521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69671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Ongoing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91616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Search-only handoff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54680" y="5806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IL · PA · NJ · SC · AL · LA · VA · AZ · MD · TN · MS · NC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POSTURE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Free + deep-link = no new regulatory exposure.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FCRA-safe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Unclaimed-property search isn't a credit-reporting activity.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No finder license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We don't take a fee on claims, so the 30-state finder regime doesn't apply.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No new PII surface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Reuses identity records members already consented 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977639"/>
            <a:ext cx="146304" cy="141732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B352"/>
                </a:solidFill>
                <a:latin typeface="Open Sans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State data 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Restricted states are gated behind registration or skipped entirely.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5196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1960" y="3977639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State files claims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Member is deep-linked to the state portal. We never hold claim funds.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3977639"/>
            <a:ext cx="146304" cy="141732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863C5"/>
                </a:solidFill>
                <a:latin typeface="Open San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Every state ingestion has a legal review gate before going live.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WHAT'S ALREADY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Working prototype. Real California data. Running today.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2863C5"/>
                </a:solidFill>
                <a:latin typeface="Open Sans"/>
              </a:rPr>
              <a:t>38M+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records indexed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46888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$11B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in unclaimed property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468880"/>
            <a:ext cx="2697480" cy="137160"/>
          </a:xfrm>
          <a:prstGeom prst="rect">
            <a:avLst/>
          </a:prstGeom>
          <a:solidFill>
            <a:srgbClr val="1F4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F4F9E"/>
                </a:solidFill>
                <a:latin typeface="Open Sans"/>
              </a:rPr>
              <a:t>113s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to bulk-load 34M rows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98280" y="2468880"/>
            <a:ext cx="2697480" cy="13716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B352"/>
                </a:solidFill>
                <a:latin typeface="Open Sans"/>
              </a:rPr>
              <a:t>&lt;1s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to match a member by name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2976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WHAT'S RUNNING TODAY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Web app — SmartCredit-themed search UI matching the production visual language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9560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Data — California State Controller bulk CSVs in DuckDB (Snowflake-shaped SQL)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2486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Match service — pluggable Protocol; production swaps in Privacy Master matcher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54126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Admin page — real ingestion stats, file load history, row counts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98932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Demo available now — ask any question, we'll search live.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Approve the program. Staff it. 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CDDFF"/>
                </a:solidFill>
                <a:latin typeface="Open Sans"/>
              </a:rPr>
              <a:t>RESOURCE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</a:rPr>
              <a:t>1 data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</a:rPr>
              <a:t>1 product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Open Sans"/>
              </a:rPr>
              <a:t>~6 weeks to first state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Open Sans"/>
              </a:rPr>
              <a:t>~6 months to top-10 state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864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DDFF"/>
                </a:solidFill>
                <a:latin typeface="Open Sans"/>
              </a:rPr>
              <a:t>No new infrastructure — Snowflake already paid for.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 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926080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2926080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999232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 first-of-its-kind feature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31012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No credit-monitoring competitor offers this.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730752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3730752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3803904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Retention lift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114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Every found-money notification is a "wow" from us.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535424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4535424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60857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Acquisition hook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91947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unclaimed money. Free to find out."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5340096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5340096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5413248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Defensible moat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72414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12+ months of state work others would have to repeat.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263640"/>
            <a:ext cx="11247120" cy="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C4C0B"/>
                </a:solidFill>
                <a:latin typeface="Open Sans"/>
              </a:rPr>
              <a:t>myReclaim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FFFFFF"/>
                </a:solidFill>
                <a:latin typeface="Open Sans"/>
              </a:rPr>
              <a:t>Let's go find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CCDDFF"/>
                </a:solidFill>
                <a:latin typeface="Open Sans"/>
              </a:rPr>
              <a:t>Questions?  ·  Live demo?  ·  Sprint 1 starts Monday?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CDDFF"/>
                </a:solidFill>
                <a:latin typeface="Open Sans"/>
              </a:rPr>
              <a:t>Ahmed Yassine  ·  ahmed@consumerdirect.com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