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420624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640080" cy="6858000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7200"/>
            <a:ext cx="3657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863C5"/>
                </a:solidFill>
                <a:latin typeface="Open Sans"/>
              </a:rPr>
              <a:t>PRODUCT PROPOSAL · MONEY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058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0" b="1">
                <a:solidFill>
                  <a:srgbClr val="0F172A"/>
                </a:solidFill>
                <a:latin typeface="Open Sans"/>
              </a:rPr>
              <a:t>myReclaim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611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>
                <a:solidFill>
                  <a:srgbClr val="334155"/>
                </a:solidFill>
                <a:latin typeface="Open Sans"/>
              </a:rPr>
              <a:t>Find money the state owes our members.
Automatically. Free.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126480"/>
            <a:ext cx="12188952" cy="7315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632764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Open Sans"/>
              </a:rPr>
              <a:t>Ahmed Yassine  ·  Consumer Direct, Inc.  ·  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2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WHAT IS UNCLAIMED PROPERTY?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11430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0F172A"/>
                </a:solidFill>
                <a:latin typeface="Open Sans"/>
              </a:rPr>
              <a:t>Money owed to you that the company holding it lost track of.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377440"/>
            <a:ext cx="11430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Open Sans"/>
              </a:rPr>
              <a:t>When a bank, employer, insurer, or utility can't reach the owner of an account or balance for a set period (typically 1–3 years), state law requires them to turn it over to the state. It sits there — in the owner's name — until someone claims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657600"/>
            <a:ext cx="11430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COMMON SOURCES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023360"/>
            <a:ext cx="274320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4023360"/>
            <a:ext cx="2743200" cy="73152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4224528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Bank accounts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590288"/>
            <a:ext cx="2286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Dormant savings, checking, CDs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19272" y="4023360"/>
            <a:ext cx="274320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19272" y="4023360"/>
            <a:ext cx="2743200" cy="73152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47872" y="4224528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Uncashed paychecks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47872" y="4590288"/>
            <a:ext cx="2286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Final wages, commissions, bonuses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81344" y="4023360"/>
            <a:ext cx="274320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81344" y="4023360"/>
            <a:ext cx="2743200" cy="73152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9944" y="4224528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Refunds &amp; deposits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9944" y="4590288"/>
            <a:ext cx="2286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Utility, rent, insurance, retail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43416" y="4023360"/>
            <a:ext cx="274320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43416" y="4023360"/>
            <a:ext cx="2743200" cy="73152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72016" y="4224528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Investments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72016" y="4590288"/>
            <a:ext cx="2286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Stock dividends, matured bonds, IRAs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486400"/>
            <a:ext cx="11247120" cy="502920"/>
          </a:xfrm>
          <a:prstGeom prst="roundRect">
            <a:avLst>
              <a:gd name="adj" fmla="val 7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555040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Nationwide: $70B+ sitting with state treasurers · ~33M Americans have property waiting (NAUPA, FY2024)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3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Open Sans"/>
              </a:rPr>
              <a:t>myReclaim is a free SmartCredit feature
that finds unclaimed money owed to our members.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83464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WHAT THE MEMBER EXPERIENCES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337560"/>
            <a:ext cx="548640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358444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45643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We notify them inside SmartCredit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79476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"Possible match found. The state may be holding property in your name."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297680"/>
            <a:ext cx="548640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080" y="454456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41655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They review the possible matches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475488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Holder, type, amount range — laid out as cards. The state determines eligibility.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257800"/>
            <a:ext cx="548640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50468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537667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We hand them off to the state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571500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Deep-link to the official state claim portal with step-by-step instructions for filing.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83464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WHAT IT FEELS LIKE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3337560"/>
            <a:ext cx="530352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29400" y="34747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C4C0B"/>
                </a:solidFill>
                <a:latin typeface="Open Sans"/>
              </a:rPr>
              <a:t>POSSIBLE MATCH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3794760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Open Sans"/>
              </a:rPr>
              <a:t>Credit Balance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425196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Reported by financial institution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424160" y="3794760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E6E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2863C5"/>
                </a:solidFill>
                <a:latin typeface="Open Sans"/>
              </a:rPr>
              <a:t>STATE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4709160"/>
            <a:ext cx="4937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$100 – $499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53212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Matched on name + prior city / address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29400" y="5897880"/>
            <a:ext cx="2194560" cy="365760"/>
          </a:xfrm>
          <a:prstGeom prst="roundRect">
            <a:avLst>
              <a:gd name="adj" fmla="val 50000"/>
            </a:avLst>
          </a:prstGeom>
          <a:solidFill>
            <a:srgbClr val="FC4C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Open Sans"/>
              </a:rPr>
              <a:t>Continue to official claim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6840" y="594360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Not 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6492240"/>
            <a:ext cx="5303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Open Sans"/>
              </a:rPr>
              <a:t>The state determines eligibility. Official state claims are free. SmartCredit does not guarantee approval.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4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THE PII MATCHING ENGINE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Open Sans"/>
              </a:rPr>
              <a:t>Same engine members already trust. New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65960"/>
            <a:ext cx="11430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SmartCredit's PII matching engine already auto-scans data brokers, businesses, and government sites for member info. Members get an alert and choose Remove or Keep. myReclaim points the same engine at state unclaimed-property records — same auto-scan, same alert, same trust envelope.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97480"/>
            <a:ext cx="5120640" cy="3200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97480"/>
            <a:ext cx="5120640" cy="164592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990088"/>
            <a:ext cx="47548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TODAY · DATA-BROKER SCRUB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10712"/>
            <a:ext cx="4754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Open Sans"/>
              </a:rPr>
              <a:t>Find data brokers exposing the member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11480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Input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65960" y="4114800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SmartCredit member identity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443984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Engine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4443984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Fuzzy + phonetic name match (PII)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77316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Corpus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4773168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Hundreds of broker, business, gov sources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1023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Pattern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5102352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Auto-scan → alert → member chooses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43153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Member action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65960" y="5431536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Remove  /  Keep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5715000" y="4069080"/>
            <a:ext cx="365759" cy="548640"/>
          </a:xfrm>
          <a:prstGeom prst="rightArrow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23559" y="46634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C4C0B"/>
                </a:solidFill>
                <a:latin typeface="Open Sans"/>
              </a:rPr>
              <a:t>same engine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2697480"/>
            <a:ext cx="5120640" cy="3200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2863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17920" y="2697480"/>
            <a:ext cx="5120640" cy="164592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2990088"/>
            <a:ext cx="47548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TOMORROW · myReclaim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3410712"/>
            <a:ext cx="4754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Open Sans"/>
              </a:rPr>
              <a:t>Find unclaimed money owed to the member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11480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Input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26679" y="4114800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Same SmartCredit member identity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4443984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Engine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26679" y="4443984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Same PII matcher — no rebuild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77316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Corpus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26679" y="4773168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State unclaimed-property records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51023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Pattern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26679" y="5102352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Auto-scan → alert → member chooses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543153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Member action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26679" y="5431536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Claim  /  Not me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6080760"/>
            <a:ext cx="11247120" cy="457200"/>
          </a:xfrm>
          <a:prstGeom prst="roundRect">
            <a:avLst>
              <a:gd name="adj" fmla="val 7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6144768"/>
            <a:ext cx="10972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myReclaim is not a new product surface — it's a different outcome from the same security envelope members already opted into.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5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DATA INGESTION · CUSTOMER-DRIVEN PRIORITY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Open Sans"/>
              </a:rPr>
              <a:t>Where our members live. What each state lets us 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20240"/>
            <a:ext cx="11430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Top 10 states cover ~68% of SC net actives (201,829 of 297,096). Four of the top five (FL, TX, GA, NY) need a state agreement before we can ingest at scale. CA is the only top-10 state with a clean public bulk feed — that's where the prototype starts.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468880"/>
            <a:ext cx="11247120" cy="29260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5237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#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523744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2523744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NET ACTIVES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523744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INGEST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2523744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WHAT THAT MEANS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761488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834640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2816352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FL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20240" y="2825496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48,436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20440" y="2816352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FC4C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LEGAL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37760" y="2834640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Atty/CPA/PI rep path (Ch. 717). Bulk caching needs written DFS approval; portal manual by default.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090672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316382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3145536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TX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0240" y="3154679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45,670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20440" y="3145536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REQUEST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37760" y="3163824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Request-based dataset; enable only after written caching/redisplay approval.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419856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3493008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3474720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CA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920240" y="3483863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31,110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520440" y="3474720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BUILD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37760" y="3493008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Public CSV, updated Thursdays — prototype loaded 92.4M rows across 4 tiers ✓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3749039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3822191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" y="3803903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GA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20240" y="3813048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18,837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520440" y="3803903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REQUEST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937760" y="3822191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CDR registration + background checks → weekly delimited file (&gt;1 GB)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4078224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4151376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51560" y="4133087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NY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920240" y="4142232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15,001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520440" y="4133087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REQUEST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37760" y="4151376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Secure-FTP owner-name file, quarterly. Excludes amounts and tax IDs.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4407408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8640" y="4480560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51560" y="4462272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920240" y="4471416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10,536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520440" y="4462272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937760" y="4480560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public bulk feed confirmed. Assisted e-file via iCash.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" y="4736592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8640" y="48097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51560" y="4791456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NC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920240" y="4800600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9,549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520440" y="4791456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37760" y="4809744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clean bulk feed confirmed; annual public PDFs exist.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7200" y="5065776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48640" y="5138928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1560" y="5120640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NJ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920240" y="5129784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8,526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3520440" y="5120640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937760" y="5138928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public bulk feed confirmed.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7200" y="5394960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48640" y="5468112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51560" y="5449824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PA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920240" y="5458968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8,172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3520440" y="5449824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937760" y="5468112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public bulk feed confirmed.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57200" y="5724144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48640" y="5797296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10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51560" y="5779008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SC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920240" y="5788152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5,992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520440" y="5779008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937760" y="5797296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public bulk feed confirmed.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57200" y="6080760"/>
            <a:ext cx="11247120" cy="502920"/>
          </a:xfrm>
          <a:prstGeom prst="roundRect">
            <a:avLst>
              <a:gd name="adj" fmla="val 7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40080" y="612648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Top 10 states cover ~68% of SC net actives (201,829 of 297,096).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40080" y="6355080"/>
            <a:ext cx="10972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CCDDFF"/>
                </a:solidFill>
                <a:latin typeface="Open Sans"/>
              </a:rPr>
              <a:t>CA is the only top-10 state with a confirmed public bulk feed; Sprint 2 opens TX, NY, and GA pending state approval.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6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WHAT WE'D FIND TODAY · NAME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0F172A"/>
                </a:solidFill>
                <a:latin typeface="Open Sans"/>
              </a:rPr>
              <a:t>We matched 31,110 net actives CA · SmartCredit against all four CA unclaimed tiers (92.4M records).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011680"/>
            <a:ext cx="11430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Matching on name only — the upper bound. Common names like 'John Smith' inflate the totals; the next slide adds city for the defensible view.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06040"/>
            <a:ext cx="553212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06040"/>
            <a:ext cx="5532120" cy="137160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880360"/>
            <a:ext cx="49834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2863C5"/>
                </a:solidFill>
                <a:latin typeface="Open Sans"/>
              </a:rPr>
              <a:t>23,166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611880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net actives matched at least one name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2606040"/>
            <a:ext cx="553212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2606040"/>
            <a:ext cx="5532120" cy="137160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2880360"/>
            <a:ext cx="49834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2863C5"/>
                </a:solidFill>
                <a:latin typeface="Open Sans"/>
              </a:rPr>
              <a:t>74.5%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3611880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of 31,110 net actives CA · SmartCredit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0" y="4251960"/>
            <a:ext cx="7589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NET ACTIVES BY TOTAL OWED (under their name)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4544568"/>
            <a:ext cx="7589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Each net active placed in one bucket by the SUM of their matched records. Add up to 23,166.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86000" y="4937760"/>
            <a:ext cx="7589520" cy="256032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77440" y="4983480"/>
            <a:ext cx="17373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Open Sans"/>
              </a:rPr>
              <a:t>Total owed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4983480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Open Sans"/>
              </a:rPr>
              <a:t>Net actives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4983480"/>
            <a:ext cx="17373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Open Sans"/>
              </a:rPr>
              <a:t>Bucket total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0" y="4983480"/>
            <a:ext cx="1920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Open Sans"/>
              </a:rPr>
              <a:t>$ per net active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86000" y="5193792"/>
            <a:ext cx="7589520" cy="31089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377440" y="5257800"/>
            <a:ext cx="1737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$0–$9.99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0" y="5257800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2,774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0" y="5257800"/>
            <a:ext cx="1737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$9K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0" y="5257800"/>
            <a:ext cx="1920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$3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286000" y="5504688"/>
            <a:ext cx="7589520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377440" y="5568696"/>
            <a:ext cx="1737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59669"/>
                </a:solidFill>
                <a:latin typeface="Open Sans"/>
              </a:rPr>
              <a:t>$10–$99.99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0" y="5568696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4,526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0" y="5568696"/>
            <a:ext cx="1737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59669"/>
                </a:solidFill>
                <a:latin typeface="Open Sans"/>
              </a:rPr>
              <a:t>$198K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63840" y="5568696"/>
            <a:ext cx="1920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59669"/>
                </a:solidFill>
                <a:latin typeface="Open Sans"/>
              </a:rPr>
              <a:t>$44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286000" y="5815584"/>
            <a:ext cx="7589520" cy="31089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377440" y="5879592"/>
            <a:ext cx="1737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B352"/>
                </a:solidFill>
                <a:latin typeface="Open Sans"/>
              </a:rPr>
              <a:t>$100–$499.99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97680" y="5879592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4,317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5879592"/>
            <a:ext cx="1737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B352"/>
                </a:solidFill>
                <a:latin typeface="Open Sans"/>
              </a:rPr>
              <a:t>$1.06M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0" y="5879592"/>
            <a:ext cx="1920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B352"/>
                </a:solidFill>
                <a:latin typeface="Open Sans"/>
              </a:rPr>
              <a:t>$245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286000" y="6126480"/>
            <a:ext cx="7589520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377440" y="6190488"/>
            <a:ext cx="1737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$500+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97680" y="6190488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11,549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43600" y="6190488"/>
            <a:ext cx="1737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$171M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63840" y="6190488"/>
            <a:ext cx="1920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2863C5"/>
                </a:solidFill>
                <a:latin typeface="Open Sans"/>
              </a:rPr>
              <a:t>$14,814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6400800"/>
            <a:ext cx="11247120" cy="411480"/>
          </a:xfrm>
          <a:prstGeom prst="roundRect">
            <a:avLst>
              <a:gd name="adj" fmla="val 7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" y="644652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Open Sans"/>
              </a:rPr>
              <a:t>Aggregate $172M / 2.3M records on this slide are upper bounds — name alone collides on common names. See next slide (name + city).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7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WHAT WE'D FIND TODAY · NAME + CITY MATCH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0F172A"/>
                </a:solidFill>
                <a:latin typeface="Open Sans"/>
              </a:rPr>
              <a:t>We matched 31,110 net actives CA · SmartCredit against all four CA unclaimed tiers (92.4M records).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011680"/>
            <a:ext cx="11430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Matching on name and city.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06040"/>
            <a:ext cx="269748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06040"/>
            <a:ext cx="2697480" cy="137160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880360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2863C5"/>
                </a:solidFill>
                <a:latin typeface="Open Sans"/>
              </a:rPr>
              <a:t>11,958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1188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net actives matched (name + city)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91840" y="2606040"/>
            <a:ext cx="269748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91840" y="2606040"/>
            <a:ext cx="2697480" cy="137160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0" y="2880360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2863C5"/>
                </a:solidFill>
                <a:latin typeface="Open Sans"/>
              </a:rPr>
              <a:t>38.4%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361188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of 31,110 net actives CA · SmartCredit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6480" y="2606040"/>
            <a:ext cx="269748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2606040"/>
            <a:ext cx="2697480" cy="137160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2880360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69K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61188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property records matched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1120" y="2606040"/>
            <a:ext cx="269748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61120" y="2606040"/>
            <a:ext cx="2697480" cy="137160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0" y="2880360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$5.04M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361188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estimated value across all matches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86000" y="4251960"/>
            <a:ext cx="7589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NET ACTIVES BY TOTAL OWED (name + city)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86000" y="4544568"/>
            <a:ext cx="7589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Each net active placed in one bucket by the SUM of their matched records. Add up to 11,958.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86000" y="4937760"/>
            <a:ext cx="7589520" cy="256032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77440" y="4983480"/>
            <a:ext cx="17373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Open Sans"/>
              </a:rPr>
              <a:t>Total owed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97680" y="4983480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Open Sans"/>
              </a:rPr>
              <a:t>Net actives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0" y="4983480"/>
            <a:ext cx="17373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Open Sans"/>
              </a:rPr>
              <a:t>Bucket total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4983480"/>
            <a:ext cx="1920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Open Sans"/>
              </a:rPr>
              <a:t>$ per net active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286000" y="5193792"/>
            <a:ext cx="7589520" cy="31089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377440" y="5257800"/>
            <a:ext cx="1737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$0–$9.99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97680" y="5257800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3,684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43600" y="5257800"/>
            <a:ext cx="1737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$11K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63840" y="5257800"/>
            <a:ext cx="1920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$3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286000" y="5504688"/>
            <a:ext cx="7589520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377440" y="5568696"/>
            <a:ext cx="1737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59669"/>
                </a:solidFill>
                <a:latin typeface="Open Sans"/>
              </a:rPr>
              <a:t>$10–$99.99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97680" y="5568696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4,395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0" y="5568696"/>
            <a:ext cx="1737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59669"/>
                </a:solidFill>
                <a:latin typeface="Open Sans"/>
              </a:rPr>
              <a:t>$174K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863840" y="5568696"/>
            <a:ext cx="1920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59669"/>
                </a:solidFill>
                <a:latin typeface="Open Sans"/>
              </a:rPr>
              <a:t>$40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286000" y="5815584"/>
            <a:ext cx="7589520" cy="31089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377440" y="5879592"/>
            <a:ext cx="1737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B352"/>
                </a:solidFill>
                <a:latin typeface="Open Sans"/>
              </a:rPr>
              <a:t>$100–$499.99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80" y="5879592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2,368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43600" y="5879592"/>
            <a:ext cx="1737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B352"/>
                </a:solidFill>
                <a:latin typeface="Open Sans"/>
              </a:rPr>
              <a:t>$534K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863840" y="5879592"/>
            <a:ext cx="1920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B352"/>
                </a:solidFill>
                <a:latin typeface="Open Sans"/>
              </a:rPr>
              <a:t>$225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286000" y="6126480"/>
            <a:ext cx="7589520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377440" y="6190488"/>
            <a:ext cx="1737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$500+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297680" y="6190488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1,511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6190488"/>
            <a:ext cx="1737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$4.32M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63840" y="6190488"/>
            <a:ext cx="1920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2863C5"/>
                </a:solidFill>
                <a:latin typeface="Open Sans"/>
              </a:rPr>
              <a:t>$2,859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7200" y="6400800"/>
            <a:ext cx="11247120" cy="411480"/>
          </a:xfrm>
          <a:prstGeom prst="roundRect">
            <a:avLst>
              <a:gd name="adj" fmla="val 7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0080" y="644652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Open Sans"/>
              </a:rPr>
              <a:t>Adding city collapses 23,166 → 11,958 matched and $172M → $5.04M — the defensible floor before production PII (DOB, SSN-last-4, full address).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8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FILING THE CLAIM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Open Sans"/>
              </a:rPr>
              <a:t>Three channels. E-file preferred. Mail when required. Rep when approved.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65960"/>
            <a:ext cx="11430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Most states support online claim initiation, but some claims still require document upload, notarization, mailed forms, or manual review. v1 is assisted e-file. Mail packets via our ActionLetters service when states require physical paperwork. Filing on the member's behalf is a state-by-state regulatory unlock — not a technical one.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06040"/>
            <a:ext cx="365760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06040"/>
            <a:ext cx="3657600" cy="16459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898648"/>
            <a:ext cx="32004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59669"/>
                </a:solidFill>
                <a:latin typeface="Open Sans"/>
              </a:rPr>
              <a:t>v1 · DEFAULT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246120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Assisted e-file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97763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Who submits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19709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The member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52627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How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74573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We prep the packet · user submits via state portal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07491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We track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29437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Claim ID + status entered by member or updated manually until state APIs exist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62355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Status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84301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Ships Sprint 1 · every state with online filing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51960" y="2606040"/>
            <a:ext cx="365760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51960" y="2606040"/>
            <a:ext cx="3657600" cy="164592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0560" y="2898648"/>
            <a:ext cx="32004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B352"/>
                </a:solidFill>
                <a:latin typeface="Open Sans"/>
              </a:rPr>
              <a:t>v1 · FALLBACK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3246120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Mail packet via ActionLetters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397763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Who submits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419709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Member; we generate the packet + mailing instructions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452627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How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474573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If ActionLetters mails directly, legal must confirm it isn't representative filing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507491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529437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States requiring notarized physical paperwork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0560" y="562355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584301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Available now · same rail as credit-dispute mailers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46720" y="2606040"/>
            <a:ext cx="365760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46720" y="2606040"/>
            <a:ext cx="3657600" cy="164592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75320" y="2898648"/>
            <a:ext cx="32004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v2 · UNLOCK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75320" y="3246120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Registered representative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5320" y="397763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Who submits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20" y="419709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SmartCredit, on the member's behalf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75320" y="452627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Where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75320" y="474573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GA (CDR) · FL (Ch. 717) · OH (Finder) · MI (locator)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75320" y="507491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Fee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75320" y="529437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GA caps reps at 30% · we charge 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75320" y="562355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Status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75320" y="584301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Sprint 4+ once first state approves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57200" y="6400800"/>
            <a:ext cx="11247120" cy="365760"/>
          </a:xfrm>
          <a:prstGeom prst="roundRect">
            <a:avLst>
              <a:gd name="adj" fmla="val 10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644652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Open Sans"/>
              </a:rPr>
              <a:t>Members never pay. We never take a cut. Free reduces finder-fee risk — but representative filing still requires state-by-state approval, registration, and legal sign-off.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9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COMPLIANCE GUARDRAILS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Open Sans"/>
              </a:rPr>
              <a:t>Free for members. State-approved where required.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65960"/>
            <a:ext cx="11430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Open Sans"/>
              </a:rPr>
              <a:t>Verified-identity matching, member consent, official state filing channels — and a clear list of things we will not do.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06040"/>
            <a:ext cx="5486400" cy="3703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06040"/>
            <a:ext cx="5486400" cy="16459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89864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59669"/>
                </a:solidFill>
                <a:latin typeface="Open Sans"/>
              </a:rPr>
              <a:t>WHAT WE WILL 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3832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4015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Use official state files or state-approved data access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8404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8587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Get explicit member consent before matching and claim prep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2976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3159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Route members to official state claim portals for v1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7548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47731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Track claim ID + status inside SmartCredit (manual entry)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2120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2303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File on members' behalf only where registered or approved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6692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6875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Source-by-source data-use permissions; legal review per state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2606040"/>
            <a:ext cx="5486400" cy="3703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17920" y="2606040"/>
            <a:ext cx="5486400" cy="164592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289864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E11D48"/>
                </a:solidFill>
                <a:latin typeface="Open Sans"/>
              </a:rPr>
              <a:t>WHAT WE WILL NOT DO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33832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34015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Scrape state portals or MissingMoney.com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80" y="38404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0" y="38587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Guarantee a claim belongs to the member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80" y="42976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0" y="43159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Charge a success fee or take a cut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5080" y="47548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0" y="47731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Submit claims without fresh user authorization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5080" y="52120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75120" y="52303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Re-use credit-report-derived data without legal sign-off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55080" y="56692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0" y="56875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Store sensitive claim documents unless required and approved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6446520"/>
            <a:ext cx="11247120" cy="365760"/>
          </a:xfrm>
          <a:prstGeom prst="roundRect">
            <a:avLst>
              <a:gd name="adj" fmla="val 7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649224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Open Sans"/>
              </a:rPr>
              <a:t>Every state ingestion has a legal review gate. Every claim has a fresh consent. Every data source has documented terms.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10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WORKFLOW · WHAT NEEDS TO HAPPEN NEXT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Open Sans"/>
              </a:rPr>
              <a:t>From approval to first member alert.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011680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011680"/>
            <a:ext cx="164592" cy="603503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176272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863C5"/>
                </a:solidFill>
                <a:latin typeface="Open San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066544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Exec approval &amp; resourcing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2340864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Greenlight myReclaim. Assign 1 data engineer + 1 product engineer.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55480" y="2212848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Now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670048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2670048"/>
            <a:ext cx="164592" cy="603503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2834640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863C5"/>
                </a:solidFill>
                <a:latin typeface="Open Sans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2724912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California ingestion live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2999232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Scheduled pull from sco.ca.gov → S3 → Snowflake. Canonical schema, dedupe, dbt models.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555480" y="2871216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Sprint 1 · ~6 weeks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328415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328415"/>
            <a:ext cx="164592" cy="603503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3493008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863C5"/>
                </a:solidFill>
                <a:latin typeface="Open Sans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3383279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Plug in the PII matching engine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08760" y="3657599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Connect SmartCredit's existing identity matcher. Alert only on high-confidence matches (name + address/city/state). Suppress name-only matches.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555480" y="3529584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Sprint 1–2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986783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3986783"/>
            <a:ext cx="164592" cy="603503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4151375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59669"/>
                </a:solidFill>
                <a:latin typeface="Open Sans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08760" y="4041647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Assisted e-file + ActionLetters fallback shipped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08760" y="4315968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Member confirms a match. We prep packet → official state portal. Mail packet enabled only where legal approves the workflow.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555480" y="4187951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End of Sprint 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4645151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4645151"/>
            <a:ext cx="164592" cy="603503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4809743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FB352"/>
                </a:solidFill>
                <a:latin typeface="Open Sans"/>
              </a:rP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08760" y="4700015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State outreach &amp; registrations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08760" y="4974336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Request written permission for caching, matching, redisplay, retention, commercial use. File GA CDR; open TX, NY, FL conversations.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555480" y="4846319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Parallel · Sprint 2+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5303519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7200" y="5303519"/>
            <a:ext cx="164592" cy="603503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" y="5468111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FB352"/>
                </a:solidFill>
                <a:latin typeface="Open Sans"/>
              </a:rPr>
              <a:t>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08760" y="5358383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Expand to top-5 states (as approved)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08760" y="5632703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TX + NY added pending data-request approval; GA pending CDR registration + legal sign-off. Member-driven submit via state portals.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555480" y="5504687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Q3–Q4 2026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5961887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57200" y="5961887"/>
            <a:ext cx="164592" cy="603503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77240" y="6126479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C4C0B"/>
                </a:solidFill>
                <a:latin typeface="Open Sans"/>
              </a:rPr>
              <a:t>07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508760" y="6016751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Tier 3 unlock — we file for the member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508760" y="6291071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First approved representative workflow. Show "we filed for you" only in states where SmartCredit (or partner) is authorized.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555480" y="6163055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FC4C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Q4 2026 · Q1 2027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57200" y="6647688"/>
            <a:ext cx="11247120" cy="182880"/>
          </a:xfrm>
          <a:prstGeom prst="roundRect">
            <a:avLst>
              <a:gd name="adj" fmla="val 10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0080" y="6675120"/>
            <a:ext cx="109728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Open Sans"/>
              </a:rPr>
              <a:t>First member alert in ~6 weeks. First "we filed for you" within ~9 months.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