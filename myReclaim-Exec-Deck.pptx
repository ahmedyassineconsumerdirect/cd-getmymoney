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42062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640080" cy="685800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7200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863C5"/>
                </a:solidFill>
                <a:latin typeface="Open Sans"/>
              </a:rPr>
              <a:t>PRODUCT PROPOSAL · MONEY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0" b="1">
                <a:solidFill>
                  <a:srgbClr val="0F172A"/>
                </a:solidFill>
                <a:latin typeface="Open Sans"/>
              </a:rPr>
              <a:t>myReclaim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11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>
                <a:solidFill>
                  <a:srgbClr val="334155"/>
                </a:solidFill>
                <a:latin typeface="Open Sans"/>
              </a:rPr>
              <a:t>Find money the state owes our members.
Automatically. Free.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126480"/>
            <a:ext cx="12188952" cy="7315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32764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Open Sans"/>
              </a:rPr>
              <a:t>Ahmed Yassine  ·  Consumer Direct, Inc.  ·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2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114300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0" b="1">
                <a:solidFill>
                  <a:srgbClr val="2863C5"/>
                </a:solidFill>
                <a:latin typeface="Open Sans"/>
              </a:rPr>
              <a:t>$70B+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5760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Open Sans"/>
              </a:rPr>
              <a:t>estimated in unclaimed property nationwide. Some of it is reported in our members' names.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~33M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people may have property waiting to be claimed (NAUPA)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$2,080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average claim paid through MissingMoney.com (median $100, FY2024)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Unique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combination of verified-identity matching + alerts + free claim guidance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3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Open Sans"/>
              </a:rPr>
              <a:t>myReclaim is a free SmartCredit feature
that finds unclaimed money owed to our members.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346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THE MEMBER EXPERIENCES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3756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358444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45643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notify them inside SmartCredit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7947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"Possible match found. The state may be holding property in your name."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9768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454456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41655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They review the possible matches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75488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Holder, type, amount range — laid out as cards. The state determines eligibility.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25780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50468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37667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help them file with the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571500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Prepare claim packet · route to official state portal · track status.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8346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IT FEELS LIKE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337560"/>
            <a:ext cx="530352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34747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C4C0B"/>
                </a:solidFill>
                <a:latin typeface="Open Sans"/>
              </a:rPr>
              <a:t>POSSIBLE MATCH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9476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Credit Balance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2519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Reported by financial institution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24160" y="379476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E6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2863C5"/>
                </a:solidFill>
                <a:latin typeface="Open Sans"/>
              </a:rPr>
              <a:t>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70916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$100 – $499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321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Matched on name + prior city / address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29400" y="5897880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Open Sans"/>
              </a:rPr>
              <a:t>Continue to official claim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59436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Not 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649224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Open Sans"/>
              </a:rPr>
              <a:t>The state determines eligibility. Official state claims are free. SmartCredit does not guarantee approval.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4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PII MATCHING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Same engine members already trust. New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SmartCredit's PII matching engine already auto-scans data brokers, businesses, and government sites for member info. Members get an alert and choose Remove or Keep. myReclaim points the same engine at state unclaimed-property records — same auto-scan, same alert, same trust envelope.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97480"/>
            <a:ext cx="5120640" cy="16459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TODAY · DATA-BROKER SCRUB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data brokers exposing the member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SmartCredit member identity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Fuzzy + phonetic name match (PII)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Hundreds of broker, business, gov sources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Remove  /  Keep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715000" y="4069080"/>
            <a:ext cx="365759" cy="548640"/>
          </a:xfrm>
          <a:prstGeom prst="rightArrow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3559" y="46634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C4C0B"/>
                </a:solidFill>
                <a:latin typeface="Open Sans"/>
              </a:rPr>
              <a:t>same engine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286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2697480"/>
            <a:ext cx="512064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TOMORROW · myReclaim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unclaimed money owed to the member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6679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SmartCredit member identity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79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PII matcher — no rebuild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26679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State unclaimed-property records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26679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6679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Claim  /  Not me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080760"/>
            <a:ext cx="11247120" cy="45720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14476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myReclaim is not a new product surface — it's a different outcome from the same security envelope members already opted into.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5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DATA INGESTION · CUSTOMER-DRIVEN PRIORITY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Open Sans"/>
              </a:rPr>
              <a:t>Where our members live. What each state lets us 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Top 10 customer states cover ~70% of the SmartCredit base. Four of the top five (FL, TX, GA, NY) need a state agreement before we can ingest at scale. CA is the only top-10 state with a clean public bulk feed — that's where the prototype starts.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68880"/>
            <a:ext cx="11247120" cy="29260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237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#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523744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52374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523744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INGEST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252374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WHAT THAT MEANS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761488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834640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816352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FL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282549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65,400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2816352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MANUAL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283464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Registered FL rep path (atty/CPA/PI, Ch. 717). No cacheable bulk dataset confirmed.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90672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16382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145536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3154679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61,414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20440" y="3145536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316382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Request-based dataset; enable only after written caching/redisplay approval.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419856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3419856"/>
            <a:ext cx="109728" cy="32918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49300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3474720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3483863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44,222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520440" y="347472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BUILD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60" y="3493008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Public CSV, updated Thursdays — prototype loaded 81M rows 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3749039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3822191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3803903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GA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20240" y="3813048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29,566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520440" y="3803903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37760" y="3822191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CDR registration + background checks → weekly delimited file (&gt;1 GB)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078224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415137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" y="4133087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20240" y="4142232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22,137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520440" y="4133087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37760" y="415137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Secure-FTP owner-name file, quarterly. Excludes amounts and tax IDs.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407408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4480560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" y="4462272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IL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20240" y="447141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16,242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520440" y="4462272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37760" y="448056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 Assisted e-file via iCash.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4736592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48097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" y="4791456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920240" y="4800600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14,404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520440" y="4791456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937760" y="480974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clean bulk feed confirmed; annual public PDFs exist.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7200" y="5065776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513892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" y="5120640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PA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920240" y="512978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12,290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520440" y="512064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37760" y="5138928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5394960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5468112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" y="5449824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NJ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20240" y="5458968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11,856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520440" y="5449824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37760" y="5468112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57200" y="5724144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48640" y="579729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51560" y="5779008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SC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20240" y="5788152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10,534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520440" y="5779008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37760" y="579729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57200" y="6080760"/>
            <a:ext cx="11247120" cy="50292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0080" y="614476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Top-10 states = 288,065 customers (~70% of base, pending base-size confirmation).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0080" y="6400800"/>
            <a:ext cx="10972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CCDDFF"/>
                </a:solidFill>
                <a:latin typeface="Open Sans"/>
              </a:rPr>
              <a:t>CA is the only top-10 state with a confirmed public bulk feed. Sprint 2 begins TX + NY data requests and GA CDR registration; bulk availability depends on state approval, terms, and legal sign-off.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6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WE'D FIND TODAY · LIVE MATCH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We matched 30,862 active CA customers against all four CA unclaimed tiers (92.4M records).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Method: exact name match (FIRST LAST or LAST FIRST) — same matching logic the prototype uses, run via the indexed equality path. The state determines actual eligibility per record.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2863C5"/>
                </a:solidFill>
                <a:latin typeface="Open Sans"/>
              </a:rPr>
              <a:t>21,864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customers with at least one possible match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260604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2863C5"/>
                </a:solidFill>
                <a:latin typeface="Open Sans"/>
              </a:rPr>
              <a:t>70.8%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of the 30,862 active CA base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260604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4.4M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matched property records across all tiers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61120" y="260604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$324M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estimated value across all matches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2062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MATCH DISTRIBUTION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4988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Distinct names cluster in the 1–5 record bucket — high-confidence matches.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846320"/>
            <a:ext cx="5486400" cy="256032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892040"/>
            <a:ext cx="1554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Bucket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94560" y="4892040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46120" y="4892040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 value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4892040"/>
            <a:ext cx="1554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Note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102352"/>
            <a:ext cx="5486400" cy="36576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175504"/>
            <a:ext cx="1554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Open Sans"/>
              </a:rPr>
              <a:t>1 record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4560" y="5175504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3,266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46120" y="5175504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Open Sans"/>
              </a:rPr>
              <a:t>$239K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5175504"/>
            <a:ext cx="1554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High confidence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5468112"/>
            <a:ext cx="548640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541264"/>
            <a:ext cx="1554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Open Sans"/>
              </a:rPr>
              <a:t>2–5 records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94560" y="5541264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5,788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46120" y="5541264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Open Sans"/>
              </a:rPr>
              <a:t>$1.21M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97680" y="5541264"/>
            <a:ext cx="1554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High confidence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5833872"/>
            <a:ext cx="5486400" cy="36576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907024"/>
            <a:ext cx="1554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Open Sans"/>
              </a:rPr>
              <a:t>6–20 records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94560" y="5907024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4,393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46120" y="5907024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$3.50M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5907024"/>
            <a:ext cx="1554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Mixed — needs review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6199632"/>
            <a:ext cx="548640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" y="6272784"/>
            <a:ext cx="1554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Open Sans"/>
              </a:rPr>
              <a:t>20+ records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94560" y="6272784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8,417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46120" y="6272784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$319M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80" y="6272784"/>
            <a:ext cx="1554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Common-name collisions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17920" y="42062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MATCHES BY TIER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17920" y="44988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Tier 04 ($500+) = highest dollar value per record.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17920" y="4846320"/>
            <a:ext cx="5486400" cy="256032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0" y="4892040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Tier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69480" y="4892040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Range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41080" y="4892040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Records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104120" y="4892040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 value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17920" y="5102352"/>
            <a:ext cx="5486400" cy="36576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09360" y="5175504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Tier 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69480" y="5175504"/>
            <a:ext cx="1280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$0–$9.99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641080" y="5175504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2,283,461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04120" y="5175504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$5.8M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17920" y="5468112"/>
            <a:ext cx="548640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0" y="5541264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Tier 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69480" y="5541264"/>
            <a:ext cx="1280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$10–$99.99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641080" y="5541264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1,622,140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5541264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$57.9M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17920" y="5833872"/>
            <a:ext cx="5486400" cy="36576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309360" y="5907024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C4C0B"/>
                </a:solidFill>
                <a:latin typeface="Open Sans"/>
              </a:rPr>
              <a:t>Tier 03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269480" y="5907024"/>
            <a:ext cx="1280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$100–$499.99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641080" y="5907024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425,201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104120" y="5907024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C4C0B"/>
                </a:solidFill>
                <a:latin typeface="Open Sans"/>
              </a:rPr>
              <a:t>$87.5M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17920" y="6199632"/>
            <a:ext cx="548640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309360" y="6272784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Tier 04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69480" y="6272784"/>
            <a:ext cx="1280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$500+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641080" y="6272784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97,787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104120" y="6272784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$173.1M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57200" y="6400800"/>
            <a:ext cx="11247120" cy="41148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Even discounting common-name false positives, ~9,000 customers in the high-confidence bucket map to ~$1.5M of unclaimed property in CA alone.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7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FILING THE CLAIM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Three channels. E-file preferred. Mail when required. Rep when approved.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Most states support online claim initiation, but some claims still require document upload, notarization, mailed forms, or manual review. v1 is assisted e-file. Mail packets via our ActionLetters service when states require physical paperwork. Filing on the member's behalf is a state-by-state regulatory unlock — not a technical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3657600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Open Sans"/>
              </a:rPr>
              <a:t>v1 · DEFAULT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Assisted e-file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The member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How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We prep the packet · user submits via state portal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We track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Claim ID + status entered by member or updated manually until state APIs exist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Ships Sprint 1 · every state with online filing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6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51960" y="2606040"/>
            <a:ext cx="3657600" cy="164592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v1 · FALLBACK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Mail packet via ActionLetters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Member; we generate the packet + mailing instructions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How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If ActionLetters mails directly, legal must confirm it isn't representative filing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States requiring notarized physical paperwork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Available now · same rail as credit-dispute mailers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2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46720" y="2606040"/>
            <a:ext cx="365760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532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v2 · UNLOCK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Registered representative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SmartCredit, on the member's behalf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Where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532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GA (CDR) · FL (Ch. 717) · OH (Finder) · MI (locator)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7532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Fee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532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GA caps reps at 30% · we charge 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532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Sprint 4+ once first state approves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6400800"/>
            <a:ext cx="11247120" cy="365760"/>
          </a:xfrm>
          <a:prstGeom prst="roundRect">
            <a:avLst>
              <a:gd name="adj" fmla="val 10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Members never pay. We never take a cut. Free reduces finder-fee risk — but representative filing still requires state-by-state approval, registration, and legal sign-off.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8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COMPLIANCE GUARDRAILS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Open Sans"/>
              </a:rPr>
              <a:t>Free for members. State-approved where required.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Open Sans"/>
              </a:rPr>
              <a:t>Verified-identity matching, member consent, official state filing channels — and a clear list of things we will not 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5486400" cy="3703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5486400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98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59669"/>
                </a:solidFill>
                <a:latin typeface="Open Sans"/>
              </a:rPr>
              <a:t>WHAT WE WILL 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4015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Use official state files or state-approved data access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0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8587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Get explicit member consent before matching and claim prep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976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3159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Route members to official state claim portals for v1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548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7731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Track claim ID + status inside SmartCredit (manual entry)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2120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2303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File on members' behalf only where registered or approved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669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6875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Source-by-source data-use permissions; legal review per state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2606040"/>
            <a:ext cx="5486400" cy="3703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2606040"/>
            <a:ext cx="5486400" cy="164592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898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11D48"/>
                </a:solidFill>
                <a:latin typeface="Open Sans"/>
              </a:rPr>
              <a:t>WHAT WE WILL NOT 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383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34015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Scrape state portals or MissingMoney.com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3840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38587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Guarantee a claim belongs to the member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42976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43159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Charge a success fee or take a cut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47548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47731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Submit claims without fresh user authorization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52120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52303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Re-use credit-report-derived data without legal sign-off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5669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56875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Store sensitive claim documents unless required and approved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446520"/>
            <a:ext cx="11247120" cy="365760"/>
          </a:xfrm>
          <a:prstGeom prst="roundRect">
            <a:avLst>
              <a:gd name="adj" fmla="val 7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49224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Every state ingestion has a legal review gate. Every claim has a fresh consent. Every data source has documented terms.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9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WORKFLOW · WHAT NEEDS TO HAPPEN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From approval to first member alert.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011680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76272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066544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Exec approval &amp; resourcing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340864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Greenlight myReclaim. Assign 1 data engineer + 1 product engineer.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55480" y="2212848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Now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70048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670048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83464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2724912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California ingestion live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2999232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Scheduled pull from sco.ca.gov → S3 → Snowflake. Canonical schema, dedupe, dbt models.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55480" y="2871216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Sprint 1 · ~6 weeks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328415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328415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493008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383279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Plug in the PII matching engine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3657599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Connect SmartCredit's existing identity matcher. Alert only on high-confidence matches (name + address/city/state). Suppress name-only matches.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55480" y="35295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Sprint 1–2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986783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986783"/>
            <a:ext cx="164592" cy="603503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151375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59669"/>
                </a:solidFill>
                <a:latin typeface="Open San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08760" y="4041647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Assisted e-file + ActionLetters fallback shipped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" y="4315968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Member confirms a match. We prep packet → official state portal. Mail packet enabled only where legal approves the workflow.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55480" y="4187951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End of Sprint 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645151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4645151"/>
            <a:ext cx="164592" cy="603503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4809743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B352"/>
                </a:solidFill>
                <a:latin typeface="Open Sans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08760" y="4700015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State outreach &amp; registrations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08760" y="4974336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Request written permission for caching, matching, redisplay, retention, commercial use. File GA CDR; open TX, NY, FL conversations.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55480" y="4846319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Parallel · Sprint 2+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303519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5303519"/>
            <a:ext cx="164592" cy="603503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5468111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B352"/>
                </a:solidFill>
                <a:latin typeface="Open Sans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08760" y="5358383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Expand to top-5 states (as approved)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08760" y="5632703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TX + NY added pending data-request approval; GA pending CDR registration + legal sign-off. Member-driven submit via state portals.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555480" y="5504687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Q3–Q4 2026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961887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57200" y="5961887"/>
            <a:ext cx="164592" cy="603503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6126479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C4C0B"/>
                </a:solidFill>
                <a:latin typeface="Open Sans"/>
              </a:rPr>
              <a:t>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08760" y="6016751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Tier 3 unlock — we file for the member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08760" y="6291071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First approved representative workflow. Show "we filed for you" only in states where SmartCredit (or partner) is authorized.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555480" y="6163055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Q4 2026 · Q1 2027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7200" y="6647688"/>
            <a:ext cx="11247120" cy="18288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6675120"/>
            <a:ext cx="10972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First member alert in ~6 weeks. First "we filed for you" within ~9 months.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