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206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863C5"/>
                </a:solidFill>
                <a:latin typeface="Open Sans"/>
              </a:rPr>
              <a:t>PRODUCT PROPOSAL ·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0F172A"/>
                </a:solidFill>
                <a:latin typeface="Open Sans"/>
              </a:rPr>
              <a:t>myReclaim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334155"/>
                </a:solidFill>
                <a:latin typeface="Open Sans"/>
              </a:rPr>
              <a:t>Find money the state owes our members.
Automatically. Free.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276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en Sans"/>
              </a:rPr>
              <a:t>Ahmed Yassine  ·  Consumer Direct, Inc.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430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0" b="1">
                <a:solidFill>
                  <a:srgbClr val="2863C5"/>
                </a:solidFill>
                <a:latin typeface="Open Sans"/>
              </a:rPr>
              <a:t>$70B+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Open Sans"/>
              </a:rPr>
              <a:t>estimated in unclaimed property nationwide. Some of it is reported in our members'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1091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~33M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5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Open Sans"/>
              </a:rPr>
              <a:t>people may have property waiting to be claimed (NAUPA)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84632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501091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$2,080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62355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Open Sans"/>
              </a:rPr>
              <a:t>average claim paid through MissingMoney.com (median $100, FY2024)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84632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01091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62355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Open Sans"/>
              </a:rPr>
              <a:t>combination of verified-identity matching + alerts + free claim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Open Sans"/>
              </a:rPr>
              <a:t>myReclaim is a free SmartCredit feature
that finds unclaimed money owed to our 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WHAT THE MEMBER EXPERIENCES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3756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844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564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 notify them inside SmartCredit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"Possible match found. The state may be holding property in your name."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544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165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They review the possible 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Holder, type, amount range — laid out as cards. The state determines eligibility.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57800"/>
            <a:ext cx="54864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5046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766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We help them file with the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715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Prepare claim packet · route to official state portal · track status.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WHAT IT FEELS LIKE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337560"/>
            <a:ext cx="530352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474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C4C0B"/>
                </a:solidFill>
                <a:latin typeface="Open Sans"/>
              </a:rPr>
              <a:t>POSSIBLE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947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Open Sans"/>
              </a:rPr>
              <a:t>Credit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51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Reported by financial institution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60" y="3794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2863C5"/>
                </a:solidFill>
                <a:latin typeface="Open Sans"/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709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$100 – $499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Matched on name + prior city / address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Continue to official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943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Not 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922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Open Sans"/>
              </a:rPr>
              <a:t>The state determines eligibility. Official state claims are free. SmartCredit does not guarantee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THE PII MATCHING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Open Sans"/>
              </a:rPr>
              <a:t>Same engine members already trust. New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SmartCredit's PII matching engine already auto-scans data brokers, businesses, and government sites for member info. Members get an alert and choose Remove or Keep. myReclaim points the same engine at state unclaimed-property records — same auto-scan, same alert, same trust envelope.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120640" cy="164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5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TODAY · DATA-BROKER SCRUB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071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Open Sans"/>
              </a:rPr>
              <a:t>Find data brokers exposing the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114800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SmartCredit member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43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443984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Fuzzy + phonetic name match (PII)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773168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Hundreds of broker, business, gov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02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102352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Auto-scan → alert → member chooses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31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Member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431536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Remove  /  Keep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15000" y="4069080"/>
            <a:ext cx="365759" cy="548640"/>
          </a:xfrm>
          <a:prstGeom prst="rightArrow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59" y="46634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C4C0B"/>
                </a:solidFill>
                <a:latin typeface="Open Sans"/>
              </a:rPr>
              <a:t>same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697480"/>
            <a:ext cx="512064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286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97480"/>
            <a:ext cx="5120640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475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TOMORROW · myReclaim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1071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Open Sans"/>
              </a:rPr>
              <a:t>Find unclaimed money owed to the 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114800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Same SmartCredit member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43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443984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Same PII matcher — no rebuild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731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Corpus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773168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State unclaimed-property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023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Pattern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102352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Auto-scan → alert → member chooses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315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Member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431536"/>
            <a:ext cx="3566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Open Sans"/>
              </a:rPr>
              <a:t>Claim  /  Not 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080760"/>
            <a:ext cx="11247120" cy="45720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4476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myReclaim is not a new product surface — it's a different outcome from the same security envelope members already opted 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DATA INGESTION · CUSTOMER-DRIVEN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Open Sans"/>
              </a:rPr>
              <a:t>Where our members live. What each state lets us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Top 10 customer states cover ~65% of the SmartCredit base (288,065 of 443,206). Four of the top five (FL, TX, GA, NY) need a state agreement before we can ingest at scale. CA is the only top-10 state with a clean public bulk feed — that's where the prototype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1247120" cy="2926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2374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2374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237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2374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WHAT THAT MEANS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61488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16352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FL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2549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65,400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281635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34640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Permissioned claimant-rep path (FL atty/CPA/PI, Ch. 717). Bulk ingest/caching only after written DFS approval; portal manual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90672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638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45536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79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61,414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14553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16382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Request-based dataset; enable only after written caching/redisplay approval.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19856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419856"/>
            <a:ext cx="109728" cy="32918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9300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47472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83863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44,222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347472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493008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Public CSV, updated Thursdays — prototype loaded 92.4M rows across 4 tiers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49039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822191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3803903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81304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29,566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20440" y="3803903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822191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CDR registration + background checks → weekly delimited file (&gt;1 GB)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078224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15137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4133087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14223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22,137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40" y="4133087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151376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Secure-FTP owner-name file, quarterly. Excludes amounts and tax IDs.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07408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48056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4462272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47141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16,242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20440" y="4462272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HANDOFF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4480560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public bulk feed confirmed. Assisted e-file via iCash.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736592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8097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4791456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NC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480060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14,404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20440" y="4791456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HANDOFF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4809744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clean bulk feed confirmed; annual public PDFs exist.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065776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13892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5120640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PA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512978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12,290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520440" y="512064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HANDOFF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5138928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public bulk feed confirmed.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394960"/>
            <a:ext cx="11247120" cy="3291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468112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5449824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NJ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545896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11,856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0440" y="544982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HANDOFF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5468112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public bulk feed confirmed.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724144"/>
            <a:ext cx="112471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79729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Open Sans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" y="5779008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SC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0240" y="578815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10,534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20440" y="577900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Open Sans"/>
              </a:rPr>
              <a:t>HANDOFF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0" y="5797296"/>
            <a:ext cx="6766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No public bulk feed confirmed.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6080760"/>
            <a:ext cx="11247120" cy="50292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14476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Top 10 customer states cover ~65% of the SmartCredit base (288,065 of 443,206).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Open Sans"/>
              </a:rPr>
              <a:t>CA is the only top-10 state with a confirmed public bulk feed. Sprint 2 begins TX + NY data requests and GA CDR registration; bulk availability depends on state approval, terms, and legal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WHAT WE'D FIND TODAY · LIVE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Open Sans"/>
              </a:rPr>
              <a:t>We matched 30,931 active CA customers against all four CA unclaimed tiers (92.4M records).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Cohort: active SmartCredit customers (customerproductid=4, non-test) — 30,931 of the 44,222 total CA base. Customer-level counts via CUSTOMERTOKEN. Method: exact LAST FIRST match (CA's storage convention). State determines actual eligibility per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  <a:latin typeface="Open Sans"/>
              </a:rPr>
              <a:t>23,166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customers with at least one matching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60604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  <a:latin typeface="Open Sans"/>
              </a:rPr>
              <a:t>74.9%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of the 30,931 active CA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60604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2.3M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property records matched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606040"/>
            <a:ext cx="26974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60604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8803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  <a:latin typeface="Open Sans"/>
              </a:rPr>
              <a:t>$172M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118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estimated value across all 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MATCH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Number of records each customer's name returned. Fewer records = more distinctive name = more likely match.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5486400" cy="23774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82896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88289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882896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$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882896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$/customer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88289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Confidence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84064"/>
            <a:ext cx="548640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38927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Open Sans"/>
              </a:rPr>
              <a:t>1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138927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3,331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138927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$219K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138927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Open Sans"/>
              </a:rPr>
              <a:t>$66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138927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High confidence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85816"/>
            <a:ext cx="548640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440679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Open Sans"/>
              </a:rPr>
              <a:t>2–5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440679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5,790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5440679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$1.19M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5440679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Open Sans"/>
              </a:rPr>
              <a:t>$205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5440679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High confidence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87568"/>
            <a:ext cx="548640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742431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Open Sans"/>
              </a:rPr>
              <a:t>6–20 records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742431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4,388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5742431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$3.47M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5742431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B352"/>
                </a:solidFill>
                <a:latin typeface="Open Sans"/>
              </a:rPr>
              <a:t>$792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5742431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Mixed —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989320"/>
            <a:ext cx="548640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044183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Open Sans"/>
              </a:rPr>
              <a:t>20+ records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" y="6044183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9,657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40280" y="6044183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$167M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63240" y="6044183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$17,329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3360" y="6044183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Common-name collisions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206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CUSTOMERS BY TOTAL OWED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4988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Each customer placed in one bucket based on the SUM of their matched records. Customers add up to 21,864.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846320"/>
            <a:ext cx="5486400" cy="23774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488289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Total owed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488289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Customers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23960" y="4882896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Bucket total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4882896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Open Sans"/>
              </a:rPr>
              <a:t>$ per customer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5084064"/>
            <a:ext cx="548640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5138927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$0–$9.99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5138927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2,774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513892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Open Sans"/>
              </a:rPr>
              <a:t>$9K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5138927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Open Sans"/>
              </a:rPr>
              <a:t>$3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5385816"/>
            <a:ext cx="548640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5440679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$10–$99.99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80960" y="5440679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4,526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23960" y="5440679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Open Sans"/>
              </a:rPr>
              <a:t>$198K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5440679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Open Sans"/>
              </a:rPr>
              <a:t>$44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687568"/>
            <a:ext cx="548640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5742431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$100–$499.99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80960" y="5742431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4,317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23960" y="574243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352"/>
                </a:solidFill>
                <a:latin typeface="Open Sans"/>
              </a:rPr>
              <a:t>$1.06M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0" y="5742431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B352"/>
                </a:solidFill>
                <a:latin typeface="Open Sans"/>
              </a:rPr>
              <a:t>$245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5989320"/>
            <a:ext cx="548640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6044183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$500+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80960" y="6044183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11,549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23960" y="6044183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  <a:latin typeface="Open Sans"/>
              </a:rPr>
              <a:t>$171M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840" y="6044183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863C5"/>
                </a:solidFill>
                <a:latin typeface="Open Sans"/>
              </a:rPr>
              <a:t>$14,814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6400800"/>
            <a:ext cx="11247120" cy="411480"/>
          </a:xfrm>
          <a:prstGeom prst="roundRect">
            <a:avLst>
              <a:gd name="adj" fmla="val 7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11,617 customers in the high-confidence buckets ($0–$499.99) map to ~$1.27M of likely-real CA unclaimed property.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FILING THE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Open Sans"/>
              </a:rPr>
              <a:t>Three channels. E-file preferred. Mail when required. Rep when approved.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Most states support online claim initiation, but some claims still require document upload, notarization, mailed forms, or manual review. v1 is assisted e-file. Mail packets via our ActionLetters service when states require physical paperwork. Filing on the member's behalf is a state-by-state regulatory unlock — not a technical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3657600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Open Sans"/>
              </a:rPr>
              <a:t>v1 ·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Assisted e-file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7763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Who submits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70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The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7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457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We prep the packet · user submits via state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1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We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9437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Claim ID + status entered by member or updated manually until state APIs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2355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4301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Ships Sprint 1 · every state with online filing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60604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606040"/>
            <a:ext cx="3657600" cy="1645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898648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  <a:latin typeface="Open Sans"/>
              </a:rPr>
              <a:t>v1 ·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2461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Mail packet via ActionLetters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3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Who submits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970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Member; we generate the packet + mailing instructions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2627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How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457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If ActionLetters mails directly, legal must confirm it isn't representative filing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07491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When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9437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States requiring notarized physical paperwork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62355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84301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Available now · same rail as credit-dispute mailers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60604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2606040"/>
            <a:ext cx="3657600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2898648"/>
            <a:ext cx="3200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  <a:latin typeface="Open Sans"/>
              </a:rPr>
              <a:t>v2 · UNLOCK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2461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Open Sans"/>
              </a:rPr>
              <a:t>Registered representative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97763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Who submits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1970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SmartCredit, on the member's behalf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52627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74573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GA (CDR) · FL (Ch. 717) · OH (Finder) · MI (locator)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07491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Fee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529437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GA caps reps at 30% · we charge 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62355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63C5"/>
                </a:solidFill>
                <a:latin typeface="Open Sans"/>
              </a:rPr>
              <a:t>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843015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Open Sans"/>
              </a:rPr>
              <a:t>Sprint 4+ once first state approves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400800"/>
            <a:ext cx="11247120" cy="365760"/>
          </a:xfrm>
          <a:prstGeom prst="roundRect">
            <a:avLst>
              <a:gd name="adj" fmla="val 10000"/>
            </a:avLst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Members never pay. We never take a cut. Free reduces finder-fee risk — but representative filing still requires state-by-state approval, registration, and legal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COMPLIANCE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Open Sans"/>
              </a:rPr>
              <a:t>Free for members. State-approved where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Verified-identity matching, member consent, official state filing channels — and a clear list of things we will not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8640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486400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Open Sans"/>
              </a:rPr>
              <a:t>WHAT WE WILL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Open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015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Use official state files or state-approved data access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Open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587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Get explicit member consent before matching and claim 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Open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159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Route members to official state claim portals for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Open Sa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731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Track claim ID + status inside SmartCredit (manual entry)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Open San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303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File on members' behalf only where registered or 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Open San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875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Source-by-source data-use permissions; legal review per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606040"/>
            <a:ext cx="548640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606040"/>
            <a:ext cx="5486400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8986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Open Sans"/>
              </a:rPr>
              <a:t>WHAT WE WILL 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383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Open Sans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015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Scrape state portals or MissingMoney.com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Open Sans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587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Guarantee a claim belongs to the member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97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Open Sans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15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Charge a success fee or take a cut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754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Open Sans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731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Submit claims without fresh user authorization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212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Open Sans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303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Re-use credit-report-derived data without legal sign-off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669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11D48"/>
                </a:solidFill>
                <a:latin typeface="Open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6875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Open Sans"/>
              </a:rPr>
              <a:t>Store sensitive claim documents unless required and approved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446520"/>
            <a:ext cx="11247120" cy="36576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Every state ingestion has a legal review gate. Every claim has a fresh consent. Every data source has documented terms.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Open Sans"/>
              </a:rPr>
              <a:t>smartcredit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Open Sans"/>
              </a:rPr>
              <a:t>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Open Sans"/>
              </a:rPr>
              <a:t>myReclaim · Confidential — Consumer Direct,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  <a:latin typeface="Open Sans"/>
              </a:rPr>
              <a:t>WORKFLOW · WHAT NEEDS TO HAPPEN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Open Sans"/>
              </a:rPr>
              <a:t>From approval to first member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64592" cy="603503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863C5"/>
                </a:solidFill>
                <a:latin typeface="Open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66544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Exec approval &amp; resourcing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40864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Greenlight myReclaim. Assign 1 data engineer + 1 product engineer.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221284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70048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70048"/>
            <a:ext cx="164592" cy="603503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863C5"/>
                </a:solidFill>
                <a:latin typeface="Ope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249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California ingestion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999232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Scheduled pull from sco.ca.gov → S3 → Snowflake. Canonical schema, dedupe, dbt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871216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Sprint 1 · ~6 weeks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28415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28415"/>
            <a:ext cx="164592" cy="603503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93008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863C5"/>
                </a:solidFill>
                <a:latin typeface="Open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83279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Plug in the PII matching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657599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Connect SmartCredit's existing identity matcher. Alert only on high-confidence matches (name + address/city/state). Suppress name-only matches.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35295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Sprint 1–2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86783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86783"/>
            <a:ext cx="164592" cy="60350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51375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Open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041647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Assisted e-file + ActionLetters fallback shipped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15968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Member confirms a match. We prep packet → official state portal. Mail packet enabled only where legal approves the workflow.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418795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End of Sprint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45151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645151"/>
            <a:ext cx="164592" cy="603503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809743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352"/>
                </a:solidFill>
                <a:latin typeface="Open San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700015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State outreach &amp; registrations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974336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Request written permission for caching, matching, redisplay, retention, commercial use. File GA CDR; open TX, NY, FL conversations.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55480" y="4846319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Parallel · Sprint 2+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03519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303519"/>
            <a:ext cx="164592" cy="603503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468111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352"/>
                </a:solidFill>
                <a:latin typeface="Open San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5358383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Expand to top-5 states (as approved)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5632703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TX + NY added pending data-request approval; GA pending CDR registration + legal sign-off. Member-driven submit via state portals.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5504687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Q3–Q4 2026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61887"/>
            <a:ext cx="11247120" cy="6035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961887"/>
            <a:ext cx="164592" cy="603503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126479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4C0B"/>
                </a:solidFill>
                <a:latin typeface="Open Sans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6016751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Open Sans"/>
              </a:rPr>
              <a:t>Tier 3 unlock — we file for the 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6291071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Open Sans"/>
              </a:rPr>
              <a:t>First approved representative workflow. Show "we filed for you" only in states where SmartCredit (or partner) is authorized.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55480" y="6163055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Q4 2026 · Q1 2027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647688"/>
            <a:ext cx="11247120" cy="1828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675120"/>
            <a:ext cx="10972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Open Sans"/>
              </a:rPr>
              <a:t>First member alert in ~6 weeks. First "we filed for you" within ~9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