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IS UNCLAIMED PROPERTY?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0F172A"/>
                </a:solidFill>
                <a:latin typeface="Open Sans"/>
              </a:rPr>
              <a:t>Money owed to you that the company holding it lost track of.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11430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Open Sans"/>
              </a:rPr>
              <a:t>When a bank, employer, insurer, or utility can't reach the owner of an account or balance for a set period (typically 1–3 years), state law requires them to turn it over to the state. It sits there — in the owner's name — until someone claims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143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COMMON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Bank accounts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Dormant savings, checking, CDs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9272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7872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Uncashed paychecks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7872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Final wages, commissions, bonuses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1344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1344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9944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Refunds &amp; deposits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Utility, rent, insurance,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43416" y="4023360"/>
            <a:ext cx="27432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43416" y="4023360"/>
            <a:ext cx="2743200" cy="7315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72016" y="4224528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Investments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72016" y="459028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Stock dividends, matured bonds, IRAs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55040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Nationwide: $70B+ sitting with state treasurers · ~33M Americans have property waiting (NAUPA, FY2024)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hand them off to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Deep-link to the official state claim portal with step-by-step instructions for filing.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states cover ~68% of SC net actives (201,829 of 297,096).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NET ACTIVES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48,436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Atty/CPA/PI rep path (Ch. 717). Bulk caching needs written DFS approval; portal manual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45,670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31,110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92.4M rows across 4 tiers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18,837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15,001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9,549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8,526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8,172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5,992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126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 10 states cover ~68% of SC net actives (201,829 of 297,096).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635508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feed; Sprint 2 opens TX, NY, and GA pending state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NAME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23,166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net actives matched (name only)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74.5%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251960"/>
            <a:ext cx="7589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NET ACTIVES BY TOTAL OWED (name only)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544568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net active placed in one bucket by the SUM of their matched records. Add up to 23,166.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937760"/>
            <a:ext cx="7589520" cy="25603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98348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Net actives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983480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$ per net active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193792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25780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2,774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$9K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257800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0" y="5504688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5568696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4,526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$198K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556869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5815584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7744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879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4,317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5879592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B352"/>
                </a:solidFill>
                <a:latin typeface="Open Sans"/>
              </a:rPr>
              <a:t>$245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6126480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7744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619048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11,549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$171M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6190488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863C5"/>
                </a:solidFill>
                <a:latin typeface="Open Sans"/>
              </a:rPr>
              <a:t>$14,814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Name-only is the upper bound — common names inflate the totals. Next slide adds city for the defensible view.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NAME + CITY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and city.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11,958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net actives matched (name + city)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38.4%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69K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$5.04M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4251960"/>
            <a:ext cx="7589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NET ACTIVES BY TOTAL OWED (name + city)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544568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net active placed in one bucket by the SUM of their matched records. Add up to 11,958.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4937760"/>
            <a:ext cx="7589520" cy="256032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98348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Net actives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983480"/>
            <a:ext cx="1737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4983480"/>
            <a:ext cx="1920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$ per net active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193792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7744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5257800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3,684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257800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$11K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257800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0" y="5504688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5568696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4,395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5568696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$174K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63840" y="5568696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59669"/>
                </a:solidFill>
                <a:latin typeface="Open Sans"/>
              </a:rPr>
              <a:t>$40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286000" y="5815584"/>
            <a:ext cx="7589520" cy="31089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7744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879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2,368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879592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$534K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5879592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B352"/>
                </a:solidFill>
                <a:latin typeface="Open Sans"/>
              </a:rPr>
              <a:t>$225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0" y="6126480"/>
            <a:ext cx="758952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7744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80" y="6190488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1,511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619048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$4.32M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6190488"/>
            <a:ext cx="1920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863C5"/>
                </a:solidFill>
                <a:latin typeface="Open Sans"/>
              </a:rPr>
              <a:t>$2,859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Adding city collapses 23,166 → 11,958 matched and $172M → $5.04M — the defensible floor before production PII (DOB, SSN-last-4, full address).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Engage legal — unlock the top 5 states where our members live.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The prototype proves we can match at scale against CA's public feed. Scaling to FL, TX, GA, NY is a regulatory unlock — not a technical one. Legal owns the next step in each state: confirm caching/redisplay rights, file the right registration, or open a written-permission dialogue.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6090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66090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66090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NET ACTIVES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660904"/>
            <a:ext cx="960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POSTURE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60904"/>
            <a:ext cx="7040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LEGAL ACTION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98648"/>
            <a:ext cx="11247120" cy="67665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14553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118104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14553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48,436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311810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962656"/>
            <a:ext cx="704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Open dialogue with FL Dept of Financial Services on Ch. 717 registered-rep path AND written approval for bulk caching of the claimant portal data. Confirm FL atty / CPA / PI partnership model.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75304"/>
            <a:ext cx="1124712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94760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822191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45,670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7947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639312"/>
            <a:ext cx="704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Submit dataset request via data.gov contact (name, company, mailing address, phone, TX PI license if applicable). Secure written approval for caching, matching, redisplay, and commercial use before production.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51960"/>
            <a:ext cx="11247120" cy="67665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9884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471416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44988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31,110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4471416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4315968"/>
            <a:ext cx="704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Already ingestible — public CSV in production. Legal sign-off needed on commercial caching + in-product redisplay terms before launch. Lowest-friction state.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928616"/>
            <a:ext cx="1124712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17550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514807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17550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18,837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0440" y="5148072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17720" y="4992624"/>
            <a:ext cx="704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Begin Claimant Designated Representative registration (background checks + bond). Confirm reuse and automation rights for the weekly delimited file. CDR fee cap is 30% — we charge $0.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605272"/>
            <a:ext cx="11247120" cy="67665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8521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824728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585216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Open Sans"/>
              </a:rPr>
              <a:t>15,001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582472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5669280"/>
            <a:ext cx="704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Submit owner-name file request to OSC (secure-FTP TXT, quarterly). File excludes amounts and tax IDs. Get written caching and redisplay approval for matching against members.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Owner: Legal · Goal: written posture per state in 30 days · Output: go/no-go decision matrix to unlock the next ingest tier.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