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50292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 billion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is sitting in U.S. state treasuries — money our members are owed.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1 in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Americans has unclaimed property in their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household balance, growing every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credit-monitoring competitors offer this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waiting. We found it for you."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matches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amount, type — laid out as cards.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claim with the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One click → official state claim portal.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MATCH FOUND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Holder financial institution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 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Reported in member's name · last known city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58978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Claim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943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WHY WE'RE THE ONES TO BUILD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We already have the three hardest pieces.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Verified member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We already know who they are — name, addresses, DOB, verified at signup and consented for monitoring. No re-collection. No new PII surface.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5904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C4C0B"/>
                </a:solidFill>
                <a:latin typeface="Open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5904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PrivacyMaster® matching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5904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Already in production scanning data brokers for member info. Fuzzy + phonetic name matching at scale. Same engine — myReclaim points it at a new corpus.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5968" y="2743200"/>
            <a:ext cx="3605784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0288" y="3017520"/>
            <a:ext cx="305714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F4F9E"/>
                </a:solidFill>
                <a:latin typeface="Open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288" y="4069080"/>
            <a:ext cx="3057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Snowflake warehouse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0288" y="4617720"/>
            <a:ext cx="305714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Paid for, secured, audited, dbt-modeled. Adding myReclaim is a new schema — not new infrastructure or new vendor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55080"/>
            <a:ext cx="11247120" cy="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64748B"/>
                </a:solidFill>
                <a:latin typeface="Open Sans"/>
              </a:rPr>
              <a:t>Translation: every other player in this space has to build at least one of these from scratch. We don't.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TRUST PRECEDENT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Open Sans"/>
              </a:rPr>
              <a:t>We already do this — for a different problem.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PrivacyMaster® is a SmartCredit member feature that auto-scans data brokers, businesses, and government sites for member information. When found, the member chooses Remove or Keep. We monitor compliance until the data is gone.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60320"/>
            <a:ext cx="3636264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3636264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80360"/>
            <a:ext cx="3179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WHAT IT DOES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375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Auto-scan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93591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Hundreds of broker, business, and govt sources, on a schedule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0448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Alert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gets notified inside SmartCredit when a match appears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714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Choice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727448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instructs Remove or Keep on each finding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03834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294376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We track the broker's removal timeline, 1–45 days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6344" y="2560320"/>
            <a:ext cx="3636264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6344" y="2560320"/>
            <a:ext cx="3636264" cy="16459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4944" y="2880360"/>
            <a:ext cx="3179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C4C0B"/>
                </a:solidFill>
                <a:latin typeface="Open Sans"/>
              </a:rPr>
              <a:t>WHAT MEMBERS TRUST US WITH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4944" y="33375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Identity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4944" y="3593591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Name, addresses, DOB, family — already in their SmartCredit profile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4944" y="390448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Auto-monitoring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4944" y="4160520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Scanning happens whether or not they activate the feature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4944" y="44714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Acting on findings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4944" y="4727448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Authorized to send Remove requests on their behalf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4944" y="503834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Value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4944" y="5294376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Equivalent standalone services charge $15–$20 / month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5488" y="2560320"/>
            <a:ext cx="3636264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95488" y="2560320"/>
            <a:ext cx="3636264" cy="164592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4088" y="2880360"/>
            <a:ext cx="3179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F4F9E"/>
                </a:solidFill>
                <a:latin typeface="Open Sans"/>
              </a:rPr>
              <a:t>WHAT myRECLAIM REUSES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088" y="333756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Identity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4088" y="3593591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profile — no re-collection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4088" y="390448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Auto-scan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4088" y="4160520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scheduled scan, just a different corpus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4088" y="447141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Alert pattern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088" y="4727448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in-product notification UX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088" y="503834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Member choice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088" y="5294376"/>
            <a:ext cx="317906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Remove / Keep becomes Claim / Not me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852160"/>
            <a:ext cx="11247120" cy="594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94360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myReclaim is not a new product surface.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19963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It's a different outcome from the same security envelope members have already opted into. Same engine, same alert pattern, new corpus, new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PRIVACYMASTER ↔ 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engine. Same UX pattern. Inverted purpose.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475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Open Sans"/>
              </a:rPr>
              <a:t>TODAY · PrivacyMaster®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23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0233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43484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Fuzzy + phonetic name 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46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8463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Data-broker exposure database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257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715000" y="393192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59" y="45262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46888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4688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475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246120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Find unclaimed money for the 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023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40233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3484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443484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Same PrivacyMaster matcher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4632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48463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257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525780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Open Sans"/>
              </a:rPr>
              <a:t>The only new thing is the corpus. The plumbing is already in production.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HOW WE GET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There's no MissingMoney API. We go state by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Open Sans"/>
              </a:rPr>
              <a:t>21 states ranked by data accessibility, member coverage, and legal posture. Four tiers, one playbook.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164592" cy="8229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7706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Public bulk — ingest 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28986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7440" y="29352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59669"/>
                </a:solidFill>
                <a:latin typeface="Open Sans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32461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California publishes a full CSV on sco.ca.gov, refreshed weekly.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204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20440"/>
            <a:ext cx="164592" cy="8229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6850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233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Permission required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TX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NY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GA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49039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OH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62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MI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4160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Formal request to the state treasurer / department, plus ToS for caching and redisplay.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348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434840"/>
            <a:ext cx="164592" cy="8229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5994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9377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Deep-link only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377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77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34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34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PA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1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NJ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49039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9039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SC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06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06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63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63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LA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120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20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VA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77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77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AZ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350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92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TN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949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49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06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06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63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63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5074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bulk. Surface in the UI, deep-link to the state's claim portal.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5349240"/>
            <a:ext cx="164592" cy="8229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77240" y="55138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BLOCKED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58521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Don't ingest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774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FL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346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8346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WA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377440" y="5989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FL portal explicitly forbids automation. WA prohibits commercial redistribution by statute.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state portals to the SmartCredit dashboard.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77440"/>
            <a:ext cx="26060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State data
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CA bulk CSV
•  TX requested file
•  NY SFTP quarterly
•  GA registered file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0896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8328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2377440"/>
            <a:ext cx="2606040" cy="16459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044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S3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Versioned by date
•  ETag-aware fetch
•  Schema-change quarantine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03504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0936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2377440"/>
            <a:ext cx="2606040" cy="164592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1F4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Snowflake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Snowpipe auto-ingest
•  NAUPA III canonical schema
•  dbt models · row lineage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961120" y="3657600"/>
            <a:ext cx="228599" cy="45720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35440" y="2377440"/>
            <a:ext cx="260604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35440" y="2377440"/>
            <a:ext cx="26060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372600" y="26700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697480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3566160"/>
            <a:ext cx="2240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•  Member identity → match
•  Results card list
•  State claim deep-link
•  Notification engine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69280"/>
            <a:ext cx="11247120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Why Snowflake?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We already operate it. Adding myReclaim is a schema, not new infrastructure. Encryption, audit, dbt are already there.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Four ways we can deliver the money — pick the highest tier each state allows.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201168" cy="8869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TIER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Deep-link to state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404872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Member clicks Claim → state's official site opens with property pre-selected.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8803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All states with online claims  ·  Zero regulatory exposure  ·  Ships with Sprint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5786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SHIP NOW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46120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201168" cy="886968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337560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TIER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611879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Browser-extension form-fill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364991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A SmartCredit extension auto-fills the state's claim form from the member's profile. Member still clicks Submit.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38404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CA · TX · NY · IL · OH · PA · NJ  ·  FL excluded (ToS forbids automation)  ·  Member-driven, no auto-submit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3538727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SPRINT 4-5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206240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206240"/>
            <a:ext cx="201168" cy="886968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97679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TIER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7200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file the claim for them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4325112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SmartCredit registers as a claimant representative and submits paperwork on the member's behalf — high-value claims only.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8006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GA · OH · MI (registered finder regimes)  ·  Background-check + legal-review gated  ·  $500+ records only initially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78240" y="4498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Q4 2026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166359"/>
            <a:ext cx="11247120" cy="886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166359"/>
            <a:ext cx="201168" cy="88696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57799"/>
            <a:ext cx="1280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TIER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32120"/>
            <a:ext cx="2377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Direct API submission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6120" y="5285231"/>
            <a:ext cx="5303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If a state ever exposes a claim-submission API, we wire it up.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57607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No state offers this today  ·  Watch NAUPA / Kelmar evolution  ·  Opportunistic — not on roadmap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545896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WATCH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263640"/>
            <a:ext cx="11247120" cy="41148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Tier 2 is the breakthrough — "we found money" → "we filled the form" is what nobody else can ship.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10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First state live in ~6 weeks.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40280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64592" cy="58521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1343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Sprint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328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California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CA ingest · Snowflake schema · matcher integration · alert UX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16936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16936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90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209544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Permission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3099816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Texas data request · NY SFTP request · FL partnership conversations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93592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93592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66674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886200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Texas + New York 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377647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NY SFTP ingest (quarterly) · TX file ingest if approved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70248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270248"/>
            <a:ext cx="164592" cy="58521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434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Sprint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62856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Georgia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44531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CDR registration · background checks · legal approval · ingest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46904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46904"/>
            <a:ext cx="164592" cy="58521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00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E11D48"/>
                </a:solidFill>
                <a:latin typeface="Open Sans"/>
              </a:rPr>
              <a:t>Sprint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239512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Florida 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51297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Partnership with registered claimant rep, OR written permission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623560"/>
            <a:ext cx="1124712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623560"/>
            <a:ext cx="164592" cy="5852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69671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Ongoing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1616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Search-only handoff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54680" y="5806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IL · PA · NJ · SC · AL · LA · VA · AZ · MD · TN · MS · NC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11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POSTURE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Free + deep-link = no new regulatory exposure.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FCRA-safe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Unclaimed-property search isn't a credit-reporting activity.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No finder license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We don't take a fee on claims, so the 30-state finder regime doesn't apply.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377440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377440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542032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257860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No new PII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30175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Reuses identity records members already consented 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977639"/>
            <a:ext cx="146304" cy="141732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B352"/>
                </a:solidFill>
                <a:latin typeface="Open San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State data 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Restricted states are gated behind registration or skipped entirely.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5196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51960" y="3977639"/>
            <a:ext cx="146304" cy="1417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State files claims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Member is deep-linked to the state portal. We never hold claim funds.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3977639"/>
            <a:ext cx="3657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20" y="3977639"/>
            <a:ext cx="146304" cy="141732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4142231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863C5"/>
                </a:solidFill>
                <a:latin typeface="Open Sans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178807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Legal sign-off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46177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Every state ingestion has a legal review gate before going live.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12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WHAT'S ALREADY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Working prototype. Real California data. Running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2863C5"/>
                </a:solidFill>
                <a:latin typeface="Open Sans"/>
              </a:rPr>
              <a:t>38M+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records indexed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246888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in unclaimed property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468880"/>
            <a:ext cx="2697480" cy="137160"/>
          </a:xfrm>
          <a:prstGeom prst="rect">
            <a:avLst/>
          </a:prstGeom>
          <a:solidFill>
            <a:srgbClr val="1F4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F4F9E"/>
                </a:solidFill>
                <a:latin typeface="Open Sans"/>
              </a:rPr>
              <a:t>113s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to bulk-load 34M rows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46888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2468880"/>
            <a:ext cx="2697480" cy="1371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2788920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B352"/>
                </a:solidFill>
                <a:latin typeface="Open Sans"/>
              </a:rPr>
              <a:t>&lt;1s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365760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to match a member by 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WHAT'S RUNNING TODAY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Web app — SmartCredit-themed search UI with the new BETA visual language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560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Data — California State Controller bulk CSVs in DuckDB (Snowflake-shaped SQL)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2486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Match service — pluggable Protocol; production swaps in Privacy Master matcher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54126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✓  Admin page — real ingestion stats, file load history, row counts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989320"/>
            <a:ext cx="11247120" cy="45720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Demo available now — ask any question, we'll search live.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20116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BETA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Approve the program. Staff it. 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68880"/>
            <a:ext cx="5486400" cy="3657600"/>
          </a:xfrm>
          <a:prstGeom prst="roundRect">
            <a:avLst>
              <a:gd name="adj" fmla="val 4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CDDFF"/>
                </a:solidFill>
                <a:latin typeface="Open Sans"/>
              </a:rPr>
              <a:t>RESOURCE REQUEST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</a:rPr>
              <a:t>1 data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pen Sans"/>
              </a:rPr>
              <a:t>1 product engineer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Open Sans"/>
              </a:rPr>
              <a:t>~6 weeks to first state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CDDFF"/>
                </a:solidFill>
                <a:latin typeface="Open Sans"/>
              </a:rPr>
              <a:t>~6 months to top-10 state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864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CDDFF"/>
                </a:solidFill>
                <a:latin typeface="Open Sans"/>
              </a:rPr>
              <a:t>No new infrastructure — Snowflake already paid for.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468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 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926080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926080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999232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 first-of-its-kind feature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31012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No credit-monitoring competitor offers this.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730752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730752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803904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Retention lift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114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Every found-money notification is a "wow" from us.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535424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535424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4608576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Acquisition hook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91947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unclaimed money. Free to find out."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340096"/>
            <a:ext cx="530352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5340096"/>
            <a:ext cx="146304" cy="713232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5413248"/>
            <a:ext cx="4937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Defensible moat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572414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12+ months of state work others would have to repeat.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263640"/>
            <a:ext cx="11247120" cy="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C4C0B"/>
                </a:solidFill>
                <a:latin typeface="Open Sans"/>
              </a:rPr>
              <a:t>myReclaim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Open Sans"/>
              </a:rPr>
              <a:t>Let's go find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CCDDFF"/>
                </a:solidFill>
                <a:latin typeface="Open Sans"/>
              </a:rPr>
              <a:t>Questions?  ·  Live demo?  ·  Sprint 1 starts Monday?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CDDFF"/>
                </a:solidFill>
                <a:latin typeface="Open Sans"/>
              </a:rPr>
              <a:t>Ahmed Yassine  ·  ahmed@consumerdirect.com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