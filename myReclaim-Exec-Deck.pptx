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206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40080" cy="685800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PRODUCT PROPOSAL · MONEY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334155"/>
                </a:solidFill>
                <a:latin typeface="Open Sans"/>
              </a:rPr>
              <a:t>Find money the state owes our members.
Automatically. Free.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3276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en Sans"/>
              </a:rPr>
              <a:t>Ahmed Yassine  ·  Consumer Direct, Inc.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2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430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0" b="1">
                <a:solidFill>
                  <a:srgbClr val="2863C5"/>
                </a:solidFill>
                <a:latin typeface="Open Sans"/>
              </a:rPr>
              <a:t>$70 billion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is sitting in U.S. state treasuries — money our members are owed.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1 in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Americans has unclaimed property — about 33 million people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~$2,080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average claim value (median $100, mean ~$2,000)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credit-monitoring competitors offer this today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3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myReclaim is a free SmartCredit feature
that finds unclaimed money owed to our 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THE MEMBER EXPERIENCES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3756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844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4564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notify them inside SmartCredit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947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"You may have $X waiting. We found it for you."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9768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45445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165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review the matches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7548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Holder, amount, type — laid out as cards.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5780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50468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37667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claim with the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7150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One click → official state claim portal.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8346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IT FEELS LIKE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337560"/>
            <a:ext cx="53035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MATCH FOUND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9476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Credit Balance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251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Holder financial institution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60" y="37947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E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2863C5"/>
                </a:solidFill>
                <a:latin typeface="Open Sans"/>
              </a:rPr>
              <a:t>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C4C0B"/>
                </a:solidFill>
                <a:latin typeface="Open Sans"/>
              </a:rPr>
              <a:t>$ 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32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Reported in member's name · last known city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589788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Claim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59436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Not 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4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PII MATCHING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Same engine members already trust. New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SmartCredit's PII matching engine already auto-scans data brokers, businesses, and government sites for member info. Members get an alert and choose Remove or Keep. myReclaim points the same engine at state unclaimed-property records — same auto-scan, same alert, same trust envelope.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5120640" cy="164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TODAY · DATA-BROKER SCRUB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data brokers exposing the 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SmartCredit member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Fuzzy + phonetic name match (PII)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Hundreds of broker, business, gov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Remove  /  Keep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715000" y="4069080"/>
            <a:ext cx="365759" cy="548640"/>
          </a:xfrm>
          <a:prstGeom prst="rightArrow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59" y="46634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C4C0B"/>
                </a:solidFill>
                <a:latin typeface="Open Sans"/>
              </a:rPr>
              <a:t>same engine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2697480"/>
            <a:ext cx="51206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TOMORROW · myReclaim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unclaimed money owed to the member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SmartCredit member identity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PII matcher — no rebuild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State unclaimed-property records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26679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Claim  /  Not me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80760"/>
            <a:ext cx="11247120" cy="45720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14476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myReclaim is not a new product surface — it's a different outcome from the same security envelope members already opted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5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DATA INGESTION · CUSTOMER-DRIVEN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Where our members live. What each state lets us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Top 10 customer states cover ~70% of the SmartCredit base. Four of the top five (FL, TX, GA, NY) need a state agreement before we can ingest at scale. CA is the only top-10 state with a clean public bulk feed — that's where the prototype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11247120" cy="29260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23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23744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52374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5237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523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WHAT THAT MEANS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61488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83464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81635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FL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82549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65,400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281635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MANUAL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83464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Registered FL rep (atty/CPA/PI per Ch. 717) — manual portal lookups, no automation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90672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16382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14553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154679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61,414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0440" y="314553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16382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Written data request + caching agreement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19856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419856"/>
            <a:ext cx="109728" cy="32918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49300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347472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3483863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44,222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20440" y="347472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349300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Public CSV, weekly — 81M rows already loaded 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749039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822191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3803903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GA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0240" y="381304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29,566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20440" y="3803903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37760" y="3822191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CDR registration → searchable data file (live Jul '24)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078224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15137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4133087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20240" y="414223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22,137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520440" y="4133087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37760" y="415137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Secure-FTP owner-name file, quarterly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407408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448056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446227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IL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20240" y="447141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16,242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20440" y="446227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37760" y="448056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bulk feed; assisted e-file via iCash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4736592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4809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" y="479145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20240" y="4800600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14,404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520440" y="479145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37760" y="4809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PDFs only; not a clean feed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5065776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13892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" y="512064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PA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920240" y="512978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12,290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520440" y="512064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37760" y="513892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bulk; assisted e-file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5394960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5468112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" y="5449824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NJ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20240" y="545896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11,856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520440" y="5449824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37760" y="5468112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bulk; assisted e-file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57200" y="5724144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48640" y="579729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" y="5779008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20240" y="578815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10,534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520440" y="5779008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37760" y="579729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bulk; assisted e-file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7200" y="6080760"/>
            <a:ext cx="11247120" cy="50292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614476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Top-10 states = 287,765 customers (~70% of base). CA is the only fully bulk-ingestable state today.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" y="6400800"/>
            <a:ext cx="10972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CDDFF"/>
                </a:solidFill>
                <a:latin typeface="Open Sans"/>
              </a:rPr>
              <a:t>Sprint 2 unlocks TX + NY + GA at bulk; FL needs a registered-rep partnership for manual access (no automation, but full data).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6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FILING THE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Three channels. E-file preferred. Mail when required. Rep when approved.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Most states accept online claim filings — that's our v1 path. When a state requires a notarized paper packet, we ship it via ActionLetters (our existing letter-mailing service that already handles credit-dispute mailers). Filing on the member's behalf is a regulatory unlock per state, not a technical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36576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v1 · 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Assisted e-file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The member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We prep the packet · user submits via state portal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We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Claim ID + status sync back to SmartCredit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Ships Sprint 1 · every state with online filing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51960" y="2606040"/>
            <a:ext cx="3657600" cy="164592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v1 · FALLBACK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Mail packet via ActionLetters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Member submits; we generate the paper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Notarized packet → ActionLetters → state mail intake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States requiring notarized physical paperwork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Available now · same rail as credit-dispute mailers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20" y="2606040"/>
            <a:ext cx="365760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v2 · UNLOCK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Registered representative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SmartCredit, on the member's behalf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(CDR) · FL (Ch. 717) · OH (Finder) · MI (locator)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Fee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caps reps at 30% · we charge 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Sprint 4+ once first state approves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6400800"/>
            <a:ext cx="11247120" cy="365760"/>
          </a:xfrm>
          <a:prstGeom prst="roundRect">
            <a:avLst>
              <a:gd name="adj" fmla="val 10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Members never pay. We never take a cut. Free is the regulatory shield and the brand promise.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7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WORKFLOW · WHAT NEEDS TO HAPPEN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From approval to first member alert.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164592" cy="539496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221991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863C5"/>
                </a:solidFill>
                <a:latin typeface="Open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17627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Exec approval &amp; resourcing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39572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Greenlight myReclaim. Assign 1 data engineer + 1 product engineer.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0" y="224942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Now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97479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697479"/>
            <a:ext cx="164592" cy="539496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816351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863C5"/>
                </a:solidFill>
                <a:latin typeface="Ope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277063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California ingestion 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299008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Scheduled pull from sco.ca.gov → S3 → Snowflake. Canonical schema, dedupe, dbt models.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84378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 · ~6 weeks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291839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291839"/>
            <a:ext cx="164592" cy="539496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410711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863C5"/>
                </a:solidFill>
                <a:latin typeface="Open San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3364991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Plug in the PII matching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358444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Connect SmartCredit's existing identity matcher to the Snowflake corpus. Surface alerts in member dashboard.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01200" y="343814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1–2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886200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886200"/>
            <a:ext cx="164592" cy="539496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005072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59669"/>
                </a:solidFill>
                <a:latin typeface="Open San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395935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Assisted e-file shipped (with ActionLetters mail-packet fallback)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20" y="417880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Member confirms a match → SmartCredit preps the packet → user submits via state portal. ActionLetters handles physical packets where states require it.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01200" y="403250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End of Sprint 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0560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480560"/>
            <a:ext cx="164592" cy="539496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599432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B352"/>
                </a:solidFill>
                <a:latin typeface="Open San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45537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State outreach &amp; registrations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20" y="477316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Begin TX &amp; NY data requests. File Georgia CDR registration (first rep path). Open FL conversations.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601200" y="462686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Parallel · Sprint 2+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074920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074920"/>
            <a:ext cx="164592" cy="539496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193792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B352"/>
                </a:solidFill>
                <a:latin typeface="Open San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17320" y="514807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Expand: more states, more states' worth of money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20" y="536752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TX + NY + GA online (data + claim filing). Browser-extension form-fill for member-driven submit. Quarterly state additions.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01200" y="522122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Q3–Q4 2026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669280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669280"/>
            <a:ext cx="164592" cy="539496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5788152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C4C0B"/>
                </a:solidFill>
                <a:latin typeface="Open Sans"/>
              </a:rPr>
              <a:t>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574243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Tier 3 unlock — we file for the member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20" y="596188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First state-approved representative submission. "We found you money" becomes "we filed it for you."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01200" y="581558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Q4 2026 / Q1 2027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6400800"/>
            <a:ext cx="11247120" cy="365760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First member alert in ~6 weeks. First "we filed for you" within ~9 months.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