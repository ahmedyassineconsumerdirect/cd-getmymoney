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420624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640080" cy="6858000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57200"/>
            <a:ext cx="3657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2863C5"/>
                </a:solidFill>
                <a:latin typeface="Open Sans"/>
              </a:rPr>
              <a:t>PRODUCT PROPOSAL · MONEY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058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0" b="1">
                <a:solidFill>
                  <a:srgbClr val="0F172A"/>
                </a:solidFill>
                <a:latin typeface="Open Sans"/>
              </a:rPr>
              <a:t>myReclaim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611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>
                <a:solidFill>
                  <a:srgbClr val="334155"/>
                </a:solidFill>
                <a:latin typeface="Open Sans"/>
              </a:rPr>
              <a:t>Find money the state owes our members.
Automatically. Free.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126480"/>
            <a:ext cx="12188952" cy="73152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6327648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Open Sans"/>
              </a:rPr>
              <a:t>Ahmed Yassine  ·  Consumer Direct, Inc.  ·  April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2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280160"/>
            <a:ext cx="114300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0" b="1">
                <a:solidFill>
                  <a:srgbClr val="2863C5"/>
                </a:solidFill>
                <a:latin typeface="Open Sans"/>
              </a:rPr>
              <a:t>$70B+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657600"/>
            <a:ext cx="11430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Open Sans"/>
              </a:rPr>
              <a:t>estimated in unclaimed property nationwide. Some of it is reported in our members' names.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846320"/>
            <a:ext cx="3657600" cy="1280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5010912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~33M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623559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Open Sans"/>
              </a:rPr>
              <a:t>people may have property waiting to be claimed (NAUPA)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51960" y="4846320"/>
            <a:ext cx="3657600" cy="1280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26280" y="5010912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$2,080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5623559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Open Sans"/>
              </a:rPr>
              <a:t>average claim paid through MissingMoney.com (median $100, FY2024)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4846320"/>
            <a:ext cx="3657600" cy="1280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5010912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Unique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5623559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Open Sans"/>
              </a:rPr>
              <a:t>combination of verified-identity matching + alerts + free claim guidance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3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WHAT IT 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0F172A"/>
                </a:solidFill>
                <a:latin typeface="Open Sans"/>
              </a:rPr>
              <a:t>myReclaim is a free SmartCredit feature
that finds unclaimed money owed to our members.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83464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WHAT THE MEMBER EXPERIENCES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337560"/>
            <a:ext cx="5486400" cy="86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3584448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3456432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We notify them inside SmartCredit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79476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"Possible match found. The state may be holding property in your name."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297680"/>
            <a:ext cx="5486400" cy="86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0080" y="4544568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4416552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They review the possible matches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475488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Holder, type, amount range — laid out as cards. The state determines eligibility.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257800"/>
            <a:ext cx="5486400" cy="86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5504688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5376672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We help them file with the state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571500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Prepare claim packet · route to official state portal · track status.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283464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WHAT IT FEELS LIKE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0" y="3337560"/>
            <a:ext cx="5303520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29400" y="34747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C4C0B"/>
                </a:solidFill>
                <a:latin typeface="Open Sans"/>
              </a:rPr>
              <a:t>POSSIBLE MATCH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3794760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Open Sans"/>
              </a:rPr>
              <a:t>Credit Balance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425196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Reported by financial institution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424160" y="3794760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E6E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2863C5"/>
                </a:solidFill>
                <a:latin typeface="Open Sans"/>
              </a:rPr>
              <a:t>STATE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4709160"/>
            <a:ext cx="4937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$100 – $499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553212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Open Sans"/>
              </a:rPr>
              <a:t>Matched on name + prior city / address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29400" y="5897880"/>
            <a:ext cx="2194560" cy="365760"/>
          </a:xfrm>
          <a:prstGeom prst="roundRect">
            <a:avLst>
              <a:gd name="adj" fmla="val 50000"/>
            </a:avLst>
          </a:prstGeom>
          <a:solidFill>
            <a:srgbClr val="FC4C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Open Sans"/>
              </a:rPr>
              <a:t>Continue to official claim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06840" y="594360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Not 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6492240"/>
            <a:ext cx="5303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Open Sans"/>
              </a:rPr>
              <a:t>The state determines eligibility. Official state claims are free. SmartCredit does not guarantee approval.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4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THE PII MATCHING ENGINE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Open Sans"/>
              </a:rPr>
              <a:t>Same engine members already trust. New mission.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65960"/>
            <a:ext cx="11430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Open Sans"/>
              </a:rPr>
              <a:t>SmartCredit's PII matching engine already auto-scans data brokers, businesses, and government sites for member info. Members get an alert and choose Remove or Keep. myReclaim points the same engine at state unclaimed-property records — same auto-scan, same alert, same trust envelope.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697480"/>
            <a:ext cx="5120640" cy="32004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697480"/>
            <a:ext cx="5120640" cy="164592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990088"/>
            <a:ext cx="47548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TODAY · DATA-BROKER SCRUB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410712"/>
            <a:ext cx="4754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Open Sans"/>
              </a:rPr>
              <a:t>Find data brokers exposing the member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11480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Input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65960" y="4114800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SmartCredit member identity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443984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Engine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65960" y="4443984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Fuzzy + phonetic name match (PII)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77316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Corpus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65960" y="4773168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Hundreds of broker, business, gov sources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1023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Pattern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65960" y="5102352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Auto-scan → alert → member chooses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431536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Member action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65960" y="5431536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Remove  /  Keep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5715000" y="4069080"/>
            <a:ext cx="365759" cy="548640"/>
          </a:xfrm>
          <a:prstGeom prst="rightArrow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23559" y="466344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C4C0B"/>
                </a:solidFill>
                <a:latin typeface="Open Sans"/>
              </a:rPr>
              <a:t>same engine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2697480"/>
            <a:ext cx="5120640" cy="32004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2863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17920" y="2697480"/>
            <a:ext cx="5120640" cy="164592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2990088"/>
            <a:ext cx="47548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TOMORROW · myReclaim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3410712"/>
            <a:ext cx="4754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Open Sans"/>
              </a:rPr>
              <a:t>Find unclaimed money owed to the member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411480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Input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26679" y="4114800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Same SmartCredit member identity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4443984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Engine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26679" y="4443984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Same PII matcher — no rebuild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77316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Corpus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26679" y="4773168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State unclaimed-property records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51023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Pattern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26679" y="5102352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Auto-scan → alert → member chooses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5431536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Member action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26679" y="5431536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Claim  /  Not me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7200" y="6080760"/>
            <a:ext cx="11247120" cy="457200"/>
          </a:xfrm>
          <a:prstGeom prst="roundRect">
            <a:avLst>
              <a:gd name="adj" fmla="val 7000"/>
            </a:avLst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6144768"/>
            <a:ext cx="10972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Open Sans"/>
              </a:rPr>
              <a:t>myReclaim is not a new product surface — it's a different outcome from the same security envelope members already opted into.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5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DATA INGESTION · CUSTOMER-DRIVEN PRIORITY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0F172A"/>
                </a:solidFill>
                <a:latin typeface="Open Sans"/>
              </a:rPr>
              <a:t>Where our members live. What each state lets us do.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20240"/>
            <a:ext cx="11430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Open Sans"/>
              </a:rPr>
              <a:t>Top 10 customer states cover ~68% of SmartCredit net actives (201,829 of 297,096). Four of the top five (FL, TX, GA, NY) need a state agreement before we can ingest at scale. CA is the only top-10 state with a clean public bulk feed — that's where the prototype starts.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468880"/>
            <a:ext cx="11247120" cy="29260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5237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#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523744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STATE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2523744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CUSTOMERS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2523744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INGEST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0" y="2523744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WHAT THAT MEANS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761488"/>
            <a:ext cx="11247120" cy="32918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2834640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2816352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FL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20240" y="2825496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48,436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20440" y="2816352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FC4C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LEGAL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37760" y="2834640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Atty/CPA/PI rep path (Ch. 717). Bulk caching needs written DFS approval; portal manual by default.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090672"/>
            <a:ext cx="112471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316382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" y="3145536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TX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20240" y="3154679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45,670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20440" y="3145536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REQUEST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37760" y="3163824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Request-based dataset; enable only after written caching/redisplay approval.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3419856"/>
            <a:ext cx="11247120" cy="32918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3493008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" y="3474720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CA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920240" y="3483863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31,110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520440" y="3474720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BUILD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37760" y="3493008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Public CSV, updated Thursdays — prototype loaded 92.4M rows across 4 tiers ✓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3749039"/>
            <a:ext cx="112471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3822191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1560" y="3803903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GA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20240" y="3813048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18,837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520440" y="3803903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REQUEST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937760" y="3822191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CDR registration + background checks → weekly delimited file (&gt;1 GB)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4078224"/>
            <a:ext cx="11247120" cy="32918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40" y="4151376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51560" y="4133087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NY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920240" y="4142232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15,001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520440" y="4133087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REQUEST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937760" y="4151376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Secure-FTP owner-name file, quarterly. Excludes amounts and tax IDs.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4407408"/>
            <a:ext cx="112471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8640" y="4480560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51560" y="4462272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920240" y="4471416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10,536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520440" y="4462272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HANDOFF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937760" y="4480560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No public bulk feed confirmed. Assisted e-file via iCash.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7200" y="4736592"/>
            <a:ext cx="11247120" cy="32918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8640" y="48097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7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51560" y="4791456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NC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920240" y="4800600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9,549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3520440" y="4791456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HANDOFF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37760" y="4809744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No clean bulk feed confirmed; annual public PDFs exist.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57200" y="5065776"/>
            <a:ext cx="112471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48640" y="5138928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51560" y="5120640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NJ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920240" y="5129784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8,526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3520440" y="5120640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HANDOFF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937760" y="5138928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No public bulk feed confirmed.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7200" y="5394960"/>
            <a:ext cx="11247120" cy="32918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48640" y="5468112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51560" y="5449824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PA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920240" y="5458968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8,172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3520440" y="5449824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HANDOFF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937760" y="5468112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No public bulk feed confirmed.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57200" y="5724144"/>
            <a:ext cx="112471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48640" y="5797296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10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51560" y="5779008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SC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920240" y="5788152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5,992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3520440" y="5779008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HANDOFF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937760" y="5797296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No public bulk feed confirmed.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457200" y="6080760"/>
            <a:ext cx="11247120" cy="502920"/>
          </a:xfrm>
          <a:prstGeom prst="roundRect">
            <a:avLst>
              <a:gd name="adj" fmla="val 7000"/>
            </a:avLst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40080" y="612648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Open Sans"/>
              </a:rPr>
              <a:t>Top 10 customer states cover ~68% of SmartCredit net actives (201,829 of 297,096).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40080" y="6355080"/>
            <a:ext cx="109728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CCDDFF"/>
                </a:solidFill>
                <a:latin typeface="Open Sans"/>
              </a:rPr>
              <a:t>CA is the only top-10 state with a confirmed public bulk feed; Sprint 2 opens TX, NY, and GA pending state approval.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6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WHAT WE'D FIND TODAY · LIVE MATCH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0F172A"/>
                </a:solidFill>
                <a:latin typeface="Open Sans"/>
              </a:rPr>
              <a:t>We matched 30,931 active CA customers against all four CA unclaimed tiers (92.4M records).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011680"/>
            <a:ext cx="11430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Open Sans"/>
              </a:rPr>
              <a:t>Cohort: active SmartCredit customers (customerproductid=4, non-test) — 30,931 of the 44,222 total CA base. Customer-level counts via CUSTOMERTOKEN. Method: exact LAST FIRST match (CA's storage convention). State determines actual eligibility per record.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606040"/>
            <a:ext cx="269748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606040"/>
            <a:ext cx="2697480" cy="137160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880360"/>
            <a:ext cx="2331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2863C5"/>
                </a:solidFill>
                <a:latin typeface="Open Sans"/>
              </a:rPr>
              <a:t>23,166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611880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customers with at least one matching name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91840" y="2606040"/>
            <a:ext cx="269748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91840" y="2606040"/>
            <a:ext cx="2697480" cy="137160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0" y="2880360"/>
            <a:ext cx="2331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2863C5"/>
                </a:solidFill>
                <a:latin typeface="Open Sans"/>
              </a:rPr>
              <a:t>74.9%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3611880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of the 30,931 active CA customers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26480" y="2606040"/>
            <a:ext cx="269748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2606040"/>
            <a:ext cx="2697480" cy="137160"/>
          </a:xfrm>
          <a:prstGeom prst="rect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2880360"/>
            <a:ext cx="2331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2.3M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611880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property records matched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61120" y="2606040"/>
            <a:ext cx="269748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61120" y="2606040"/>
            <a:ext cx="2697480" cy="137160"/>
          </a:xfrm>
          <a:prstGeom prst="rect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0" y="2880360"/>
            <a:ext cx="2331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$172M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0" y="3611880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estimated value across all matches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20624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MATCH DISTRIBUTION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49884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Open Sans"/>
              </a:rPr>
              <a:t>Number of records each customer's name returned. Fewer records = more distinctive name = more likely match.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4846320"/>
            <a:ext cx="5486400" cy="237744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4882896"/>
            <a:ext cx="8686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Records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20" y="4882896"/>
            <a:ext cx="7772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Customers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40280" y="4882896"/>
            <a:ext cx="7772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$ total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63240" y="4882896"/>
            <a:ext cx="914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$/customer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23360" y="4882896"/>
            <a:ext cx="187451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Confidence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5084064"/>
            <a:ext cx="5486400" cy="301752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920" y="5138927"/>
            <a:ext cx="868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Open Sans"/>
              </a:rPr>
              <a:t>1 record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17320" y="5138927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3,331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240280" y="5138927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59669"/>
                </a:solidFill>
                <a:latin typeface="Open Sans"/>
              </a:rPr>
              <a:t>$219K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063240" y="5138927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059669"/>
                </a:solidFill>
                <a:latin typeface="Open Sans"/>
              </a:rPr>
              <a:t>$66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023360" y="5138927"/>
            <a:ext cx="187451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High confidence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5385816"/>
            <a:ext cx="5486400" cy="3017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2920" y="5440679"/>
            <a:ext cx="868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Open Sans"/>
              </a:rPr>
              <a:t>2–5 records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417320" y="5440679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5,790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240280" y="5440679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59669"/>
                </a:solidFill>
                <a:latin typeface="Open Sans"/>
              </a:rPr>
              <a:t>$1.19M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063240" y="5440679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059669"/>
                </a:solidFill>
                <a:latin typeface="Open Sans"/>
              </a:rPr>
              <a:t>$205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023360" y="5440679"/>
            <a:ext cx="187451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High confidence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5687568"/>
            <a:ext cx="5486400" cy="301752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5742431"/>
            <a:ext cx="868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Open Sans"/>
              </a:rPr>
              <a:t>6–20 records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417320" y="5742431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4,388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240280" y="5742431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B352"/>
                </a:solidFill>
                <a:latin typeface="Open Sans"/>
              </a:rPr>
              <a:t>$3.47M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063240" y="5742431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FFB352"/>
                </a:solidFill>
                <a:latin typeface="Open Sans"/>
              </a:rPr>
              <a:t>$792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23360" y="5742431"/>
            <a:ext cx="187451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Mixed — review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7200" y="5989320"/>
            <a:ext cx="5486400" cy="3017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02920" y="6044183"/>
            <a:ext cx="868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Open Sans"/>
              </a:rPr>
              <a:t>20+ records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417320" y="6044183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9,657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240280" y="6044183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64748B"/>
                </a:solidFill>
                <a:latin typeface="Open Sans"/>
              </a:rPr>
              <a:t>$167M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063240" y="6044183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Open Sans"/>
              </a:rPr>
              <a:t>$17,329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023360" y="6044183"/>
            <a:ext cx="187451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Common-name collisions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17920" y="420624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CUSTOMERS BY TOTAL OWED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449884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Open Sans"/>
              </a:rPr>
              <a:t>Each customer placed in one bucket based on the SUM of their matched records. Customers add up to 21,864.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217920" y="4846320"/>
            <a:ext cx="5486400" cy="237744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263640" y="4882896"/>
            <a:ext cx="13258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Total owed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80960" y="4882896"/>
            <a:ext cx="10972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Customers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823960" y="4882896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Bucket total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149840" y="4882896"/>
            <a:ext cx="1508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$ per customer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217920" y="5084064"/>
            <a:ext cx="5486400" cy="301752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263640" y="5138927"/>
            <a:ext cx="13258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64748B"/>
                </a:solidFill>
                <a:latin typeface="Open Sans"/>
              </a:rPr>
              <a:t>$0–$9.99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5138927"/>
            <a:ext cx="1097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2,774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823960" y="5138927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64748B"/>
                </a:solidFill>
                <a:latin typeface="Open Sans"/>
              </a:rPr>
              <a:t>$9K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49840" y="5138927"/>
            <a:ext cx="15087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Open Sans"/>
              </a:rPr>
              <a:t>$3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217920" y="5385816"/>
            <a:ext cx="5486400" cy="3017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263640" y="5440679"/>
            <a:ext cx="13258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59669"/>
                </a:solidFill>
                <a:latin typeface="Open Sans"/>
              </a:rPr>
              <a:t>$10–$99.99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680960" y="5440679"/>
            <a:ext cx="1097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4,526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23960" y="5440679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59669"/>
                </a:solidFill>
                <a:latin typeface="Open Sans"/>
              </a:rPr>
              <a:t>$198K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149840" y="5440679"/>
            <a:ext cx="15087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059669"/>
                </a:solidFill>
                <a:latin typeface="Open Sans"/>
              </a:rPr>
              <a:t>$44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217920" y="5687568"/>
            <a:ext cx="5486400" cy="301752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263640" y="5742431"/>
            <a:ext cx="13258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B352"/>
                </a:solidFill>
                <a:latin typeface="Open Sans"/>
              </a:rPr>
              <a:t>$100–$499.99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80960" y="5742431"/>
            <a:ext cx="1097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4,317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823960" y="5742431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B352"/>
                </a:solidFill>
                <a:latin typeface="Open Sans"/>
              </a:rPr>
              <a:t>$1.06M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149840" y="5742431"/>
            <a:ext cx="15087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FFB352"/>
                </a:solidFill>
                <a:latin typeface="Open Sans"/>
              </a:rPr>
              <a:t>$245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217920" y="5989320"/>
            <a:ext cx="5486400" cy="3017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263640" y="6044183"/>
            <a:ext cx="13258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$500+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680960" y="6044183"/>
            <a:ext cx="1097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11,549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823960" y="6044183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$171M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149840" y="6044183"/>
            <a:ext cx="15087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2863C5"/>
                </a:solidFill>
                <a:latin typeface="Open Sans"/>
              </a:rPr>
              <a:t>$14,814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457200" y="6400800"/>
            <a:ext cx="11247120" cy="411480"/>
          </a:xfrm>
          <a:prstGeom prst="roundRect">
            <a:avLst>
              <a:gd name="adj" fmla="val 7000"/>
            </a:avLst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40080" y="644652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Open Sans"/>
              </a:rPr>
              <a:t>11,617 customers in the high-confidence buckets ($0–$499.99) map to ~$1.27M of likely-real CA unclaimed property.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7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WHAT WE'D FIND TODAY · NAME + CITY MATCH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0F172A"/>
                </a:solidFill>
                <a:latin typeface="Open Sans"/>
              </a:rPr>
              <a:t>Adding city to the join key cuts common-name collisions — the conservative view of who really has property.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011680"/>
            <a:ext cx="11430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Open Sans"/>
              </a:rPr>
              <a:t>Same cohort (30,931 active CA customers, customertoken-aware). Match key now: LAST FIRST + last_known_city. Filters customers without a stored city; CA's last_known_city populated on 96% of records.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606040"/>
            <a:ext cx="269748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606040"/>
            <a:ext cx="2697480" cy="137160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880360"/>
            <a:ext cx="2331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2863C5"/>
                </a:solidFill>
                <a:latin typeface="Open Sans"/>
              </a:rPr>
              <a:t>11,958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611880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customers with at least one name+city match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91840" y="2606040"/>
            <a:ext cx="269748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91840" y="2606040"/>
            <a:ext cx="2697480" cy="137160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0" y="2880360"/>
            <a:ext cx="2331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2863C5"/>
                </a:solidFill>
                <a:latin typeface="Open Sans"/>
              </a:rPr>
              <a:t>38.7%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3611880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of the 30,931 active CA customers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26480" y="2606040"/>
            <a:ext cx="269748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2606040"/>
            <a:ext cx="2697480" cy="137160"/>
          </a:xfrm>
          <a:prstGeom prst="rect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2880360"/>
            <a:ext cx="2331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69K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611880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property records matched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61120" y="2606040"/>
            <a:ext cx="269748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61120" y="2606040"/>
            <a:ext cx="2697480" cy="137160"/>
          </a:xfrm>
          <a:prstGeom prst="rect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0" y="2880360"/>
            <a:ext cx="2331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$5.04M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0" y="3611880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estimated value across all matches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20624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MATCH DISTRIBUTION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49884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Open Sans"/>
              </a:rPr>
              <a:t>Records each (name + city) key returned. City filter shrinks the long tail of common-name collisions.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4846320"/>
            <a:ext cx="5486400" cy="237744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4882896"/>
            <a:ext cx="8686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Records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20" y="4882896"/>
            <a:ext cx="7772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Customers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40280" y="4882896"/>
            <a:ext cx="7772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$ total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63240" y="4882896"/>
            <a:ext cx="914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$/customer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23360" y="4882896"/>
            <a:ext cx="187451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Confidence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5084064"/>
            <a:ext cx="5486400" cy="301752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920" y="5138927"/>
            <a:ext cx="868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Open Sans"/>
              </a:rPr>
              <a:t>1 record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17320" y="5138927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4,742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240280" y="5138927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59669"/>
                </a:solidFill>
                <a:latin typeface="Open Sans"/>
              </a:rPr>
              <a:t>$240K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063240" y="5138927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059669"/>
                </a:solidFill>
                <a:latin typeface="Open Sans"/>
              </a:rPr>
              <a:t>$51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023360" y="5138927"/>
            <a:ext cx="187451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High confidence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5385816"/>
            <a:ext cx="5486400" cy="3017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2920" y="5440679"/>
            <a:ext cx="868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Open Sans"/>
              </a:rPr>
              <a:t>2–5 records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417320" y="5440679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4,971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240280" y="5440679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59669"/>
                </a:solidFill>
                <a:latin typeface="Open Sans"/>
              </a:rPr>
              <a:t>$710K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063240" y="5440679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059669"/>
                </a:solidFill>
                <a:latin typeface="Open Sans"/>
              </a:rPr>
              <a:t>$143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023360" y="5440679"/>
            <a:ext cx="187451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High confidence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5687568"/>
            <a:ext cx="5486400" cy="301752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5742431"/>
            <a:ext cx="868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Open Sans"/>
              </a:rPr>
              <a:t>6–20 records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417320" y="5742431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1,602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240280" y="5742431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B352"/>
                </a:solidFill>
                <a:latin typeface="Open Sans"/>
              </a:rPr>
              <a:t>$1.21M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063240" y="5742431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FFB352"/>
                </a:solidFill>
                <a:latin typeface="Open Sans"/>
              </a:rPr>
              <a:t>$755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23360" y="5742431"/>
            <a:ext cx="187451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Mixed — review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7200" y="5989320"/>
            <a:ext cx="5486400" cy="3017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02920" y="6044183"/>
            <a:ext cx="868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Open Sans"/>
              </a:rPr>
              <a:t>20+ records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417320" y="6044183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643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240280" y="6044183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64748B"/>
                </a:solidFill>
                <a:latin typeface="Open Sans"/>
              </a:rPr>
              <a:t>$2.88M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063240" y="6044183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Open Sans"/>
              </a:rPr>
              <a:t>$4,478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023360" y="6044183"/>
            <a:ext cx="187451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Likely real, large estates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17920" y="420624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CUSTOMERS BY TOTAL OWED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449884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Open Sans"/>
              </a:rPr>
              <a:t>Each customer placed in one bucket based on the SUM of their matched records. Customers add up to 11,958.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217920" y="4846320"/>
            <a:ext cx="5486400" cy="237744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263640" y="4882896"/>
            <a:ext cx="13258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Total owed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80960" y="4882896"/>
            <a:ext cx="10972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Customers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823960" y="4882896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Bucket total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149840" y="4882896"/>
            <a:ext cx="1508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$ per customer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217920" y="5084064"/>
            <a:ext cx="5486400" cy="301752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263640" y="5138927"/>
            <a:ext cx="13258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64748B"/>
                </a:solidFill>
                <a:latin typeface="Open Sans"/>
              </a:rPr>
              <a:t>$0–$9.99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5138927"/>
            <a:ext cx="1097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3,684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823960" y="5138927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64748B"/>
                </a:solidFill>
                <a:latin typeface="Open Sans"/>
              </a:rPr>
              <a:t>$11K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49840" y="5138927"/>
            <a:ext cx="15087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Open Sans"/>
              </a:rPr>
              <a:t>$3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217920" y="5385816"/>
            <a:ext cx="5486400" cy="3017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263640" y="5440679"/>
            <a:ext cx="13258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59669"/>
                </a:solidFill>
                <a:latin typeface="Open Sans"/>
              </a:rPr>
              <a:t>$10–$99.99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680960" y="5440679"/>
            <a:ext cx="1097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4,395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23960" y="5440679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59669"/>
                </a:solidFill>
                <a:latin typeface="Open Sans"/>
              </a:rPr>
              <a:t>$174K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149840" y="5440679"/>
            <a:ext cx="15087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059669"/>
                </a:solidFill>
                <a:latin typeface="Open Sans"/>
              </a:rPr>
              <a:t>$40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217920" y="5687568"/>
            <a:ext cx="5486400" cy="301752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263640" y="5742431"/>
            <a:ext cx="13258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B352"/>
                </a:solidFill>
                <a:latin typeface="Open Sans"/>
              </a:rPr>
              <a:t>$100–$499.99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80960" y="5742431"/>
            <a:ext cx="1097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2,368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823960" y="5742431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B352"/>
                </a:solidFill>
                <a:latin typeface="Open Sans"/>
              </a:rPr>
              <a:t>$534K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149840" y="5742431"/>
            <a:ext cx="15087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FFB352"/>
                </a:solidFill>
                <a:latin typeface="Open Sans"/>
              </a:rPr>
              <a:t>$225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217920" y="5989320"/>
            <a:ext cx="5486400" cy="3017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263640" y="6044183"/>
            <a:ext cx="13258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$500+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680960" y="6044183"/>
            <a:ext cx="1097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1,511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823960" y="6044183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$4.32M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149840" y="6044183"/>
            <a:ext cx="15087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2863C5"/>
                </a:solidFill>
                <a:latin typeface="Open Sans"/>
              </a:rPr>
              <a:t>$2,859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457200" y="6400800"/>
            <a:ext cx="11247120" cy="411480"/>
          </a:xfrm>
          <a:prstGeom prst="roundRect">
            <a:avLst>
              <a:gd name="adj" fmla="val 7000"/>
            </a:avLst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40080" y="644652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Open Sans"/>
              </a:rPr>
              <a:t>Adding city collapses 23,166 → 11,958 matched customers and $172M → $5.04M — the defensible floor before deeper PII matching.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8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FILING THE CLAIM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Open Sans"/>
              </a:rPr>
              <a:t>Three channels. E-file preferred. Mail when required. Rep when approved.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65960"/>
            <a:ext cx="11430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Open Sans"/>
              </a:rPr>
              <a:t>Most states support online claim initiation, but some claims still require document upload, notarization, mailed forms, or manual review. v1 is assisted e-file. Mail packets via our ActionLetters service when states require physical paperwork. Filing on the member's behalf is a state-by-state regulatory unlock — not a technical one.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606040"/>
            <a:ext cx="365760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606040"/>
            <a:ext cx="3657600" cy="16459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898648"/>
            <a:ext cx="32004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59669"/>
                </a:solidFill>
                <a:latin typeface="Open Sans"/>
              </a:rPr>
              <a:t>v1 · DEFAULT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246120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Assisted e-file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97763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Who submits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197096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The member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52627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How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745736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We prep the packet · user submits via state portal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07491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We track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294375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Claim ID + status entered by member or updated manually until state APIs exist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62355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Status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5843015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Ships Sprint 1 · every state with online filing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51960" y="2606040"/>
            <a:ext cx="365760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51960" y="2606040"/>
            <a:ext cx="3657600" cy="164592"/>
          </a:xfrm>
          <a:prstGeom prst="rect">
            <a:avLst/>
          </a:prstGeom>
          <a:solidFill>
            <a:srgbClr val="FFB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80560" y="2898648"/>
            <a:ext cx="32004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B352"/>
                </a:solidFill>
                <a:latin typeface="Open Sans"/>
              </a:rPr>
              <a:t>v1 · FALLBACK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3246120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Mail packet via ActionLetters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397763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Who submits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4197096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Member; we generate the packet + mailing instructions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452627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How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4745736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If ActionLetters mails directly, legal must confirm it isn't representative filing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60" y="507491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When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5294375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States requiring notarized physical paperwork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80560" y="562355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Status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0560" y="5843015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Available now · same rail as credit-dispute mailers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46720" y="2606040"/>
            <a:ext cx="365760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046720" y="2606040"/>
            <a:ext cx="3657600" cy="164592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75320" y="2898648"/>
            <a:ext cx="32004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v2 · UNLOCK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75320" y="3246120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Registered representative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5320" y="397763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Who submits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5320" y="4197096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SmartCredit, on the member's behalf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75320" y="452627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Where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75320" y="4745736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GA (CDR) · FL (Ch. 717) · OH (Finder) · MI (locator)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75320" y="507491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Fee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75320" y="5294375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GA caps reps at 30% · we charge 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75320" y="562355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Status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75320" y="5843015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Sprint 4+ once first state approves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57200" y="6400800"/>
            <a:ext cx="11247120" cy="365760"/>
          </a:xfrm>
          <a:prstGeom prst="roundRect">
            <a:avLst>
              <a:gd name="adj" fmla="val 10000"/>
            </a:avLst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" y="644652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Open Sans"/>
              </a:rPr>
              <a:t>Members never pay. We never take a cut. Free reduces finder-fee risk — but representative filing still requires state-by-state approval, registration, and legal sign-off.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9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COMPLIANCE GUARDRAILS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0F172A"/>
                </a:solidFill>
                <a:latin typeface="Open Sans"/>
              </a:rPr>
              <a:t>Free for members. State-approved where required.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65960"/>
            <a:ext cx="11430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Open Sans"/>
              </a:rPr>
              <a:t>Verified-identity matching, member consent, official state filing channels — and a clear list of things we will not do.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606040"/>
            <a:ext cx="5486400" cy="3703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606040"/>
            <a:ext cx="5486400" cy="16459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898648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59669"/>
                </a:solidFill>
                <a:latin typeface="Open Sans"/>
              </a:rPr>
              <a:t>WHAT WE WILL 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3832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Open Sans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40156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Use official state files or state-approved data access only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8404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Open Sans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85876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Get explicit member consent before matching and claim prep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2976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Open Sans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31596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Route members to official state claim portals for v1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7548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Open Sans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477316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Track claim ID + status inside SmartCredit (manual entry)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2120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Open Sans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523036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File on members' behalf only where registered or approved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6692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Open Sans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568756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Source-by-source data-use permissions; legal review per state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2606040"/>
            <a:ext cx="5486400" cy="3703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17920" y="2606040"/>
            <a:ext cx="5486400" cy="164592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2898648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E11D48"/>
                </a:solidFill>
                <a:latin typeface="Open Sans"/>
              </a:rPr>
              <a:t>WHAT WE WILL NOT DO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33832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11D48"/>
                </a:solidFill>
                <a:latin typeface="Open Sans"/>
              </a:rPr>
              <a:t>✗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5120" y="340156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Scrape state portals or MissingMoney.com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5080" y="38404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11D48"/>
                </a:solidFill>
                <a:latin typeface="Open Sans"/>
              </a:rPr>
              <a:t>✗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75120" y="385876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Guarantee a claim belongs to the member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5080" y="42976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11D48"/>
                </a:solidFill>
                <a:latin typeface="Open Sans"/>
              </a:rPr>
              <a:t>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75120" y="431596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Charge a success fee or take a cut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55080" y="47548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11D48"/>
                </a:solidFill>
                <a:latin typeface="Open Sans"/>
              </a:rPr>
              <a:t>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75120" y="477316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Submit claims without fresh user authorization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5080" y="52120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11D48"/>
                </a:solidFill>
                <a:latin typeface="Open Sans"/>
              </a:rPr>
              <a:t>✗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75120" y="523036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Re-use credit-report-derived data without legal sign-off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55080" y="56692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11D48"/>
                </a:solidFill>
                <a:latin typeface="Open Sans"/>
              </a:rPr>
              <a:t>✗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75120" y="568756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Store sensitive claim documents unless required and approved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7200" y="6446520"/>
            <a:ext cx="11247120" cy="365760"/>
          </a:xfrm>
          <a:prstGeom prst="roundRect">
            <a:avLst>
              <a:gd name="adj" fmla="val 7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649224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Open Sans"/>
              </a:rPr>
              <a:t>Every state ingestion has a legal review gate. Every claim has a fresh consent. Every data source has documented terms.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10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WORKFLOW · WHAT NEEDS TO HAPPEN NEXT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Open Sans"/>
              </a:rPr>
              <a:t>From approval to first member alert.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011680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011680"/>
            <a:ext cx="164592" cy="603503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176272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863C5"/>
                </a:solidFill>
                <a:latin typeface="Open Sans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066544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Exec approval &amp; resourcing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2340864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Greenlight myReclaim. Assign 1 data engineer + 1 product engineer.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555480" y="2212848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Now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670048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2670048"/>
            <a:ext cx="164592" cy="603503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2834640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863C5"/>
                </a:solidFill>
                <a:latin typeface="Open Sans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2724912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California ingestion live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2999232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Scheduled pull from sco.ca.gov → S3 → Snowflake. Canonical schema, dedupe, dbt models.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555480" y="2871216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Sprint 1 · ~6 weeks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328415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328415"/>
            <a:ext cx="164592" cy="603503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3493008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863C5"/>
                </a:solidFill>
                <a:latin typeface="Open Sans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3383279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Plug in the PII matching engine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08760" y="3657599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Connect SmartCredit's existing identity matcher. Alert only on high-confidence matches (name + address/city/state). Suppress name-only matches.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555480" y="3529584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Sprint 1–2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3986783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3986783"/>
            <a:ext cx="164592" cy="603503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4151375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59669"/>
                </a:solidFill>
                <a:latin typeface="Open Sans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08760" y="4041647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Assisted e-file + ActionLetters fallback shipped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08760" y="4315968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Member confirms a match. We prep packet → official state portal. Mail packet enabled only where legal approves the workflow.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555480" y="4187951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End of Sprint 2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4645151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" y="4645151"/>
            <a:ext cx="164592" cy="603503"/>
          </a:xfrm>
          <a:prstGeom prst="rect">
            <a:avLst/>
          </a:prstGeom>
          <a:solidFill>
            <a:srgbClr val="FFB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7240" y="4809743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FFB352"/>
                </a:solidFill>
                <a:latin typeface="Open Sans"/>
              </a:rPr>
              <a:t>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08760" y="4700015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State outreach &amp; registrations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08760" y="4974336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Request written permission for caching, matching, redisplay, retention, commercial use. File GA CDR; open TX, NY, FL conversations.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555480" y="4846319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Parallel · Sprint 2+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5303519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7200" y="5303519"/>
            <a:ext cx="164592" cy="603503"/>
          </a:xfrm>
          <a:prstGeom prst="rect">
            <a:avLst/>
          </a:prstGeom>
          <a:solidFill>
            <a:srgbClr val="FFB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7240" y="5468111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FFB352"/>
                </a:solidFill>
                <a:latin typeface="Open Sans"/>
              </a:rPr>
              <a:t>06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08760" y="5358383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Expand to top-5 states (as approved)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508760" y="5632703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TX + NY added pending data-request approval; GA pending CDR registration + legal sign-off. Member-driven submit via state portals.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555480" y="5504687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Q3–Q4 2026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5961887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57200" y="5961887"/>
            <a:ext cx="164592" cy="603503"/>
          </a:xfrm>
          <a:prstGeom prst="rect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77240" y="6126479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FC4C0B"/>
                </a:solidFill>
                <a:latin typeface="Open Sans"/>
              </a:rPr>
              <a:t>07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508760" y="6016751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Tier 3 unlock — we file for the member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508760" y="6291071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First approved representative workflow. Show "we filed for you" only in states where SmartCredit (or partner) is authorized.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555480" y="6163055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FC4C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Q4 2026 · Q1 2027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57200" y="6647688"/>
            <a:ext cx="11247120" cy="182880"/>
          </a:xfrm>
          <a:prstGeom prst="roundRect">
            <a:avLst>
              <a:gd name="adj" fmla="val 10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0080" y="6675120"/>
            <a:ext cx="109728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Open Sans"/>
              </a:rPr>
              <a:t>First member alert in ~6 weeks. First "we filed for you" within ~9 months.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