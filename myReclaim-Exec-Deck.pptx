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50292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 billion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is sitting in U.S. state treasuries — money our members are owed.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1 in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Americans has unclaimed property in their name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household balance, growing every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credit-monitoring competitors offer this today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"You may have $X waiting. We found it for you."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matches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amount, type — laid out as cards.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claim with the state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One click → official state claim portal.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MATCH FOUND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 — Accts Rec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CITIBANK N.A.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CA RECORD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C4C0B"/>
                </a:solidFill>
                <a:latin typeface="Open Sans"/>
              </a:rPr>
              <a:t>$83.19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Reported in name: YASSINE AHMED · Irvine, CA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29400" y="58978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Claim 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5943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WHY WE'RE THE ONES TO BUILD THIS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We already have the three hardest pieces.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43200"/>
            <a:ext cx="3605784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30571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69080"/>
            <a:ext cx="3057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The member's 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617720"/>
            <a:ext cx="30571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We already know who they are — name, addresses, DOB. Verified, consented, in our system today.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2743200"/>
            <a:ext cx="3605784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5904" y="3017520"/>
            <a:ext cx="30571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C4C0B"/>
                </a:solidFill>
                <a:latin typeface="Open San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5904" y="4069080"/>
            <a:ext cx="3057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The matching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5904" y="4617720"/>
            <a:ext cx="30571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Privacy Master already runs fuzzy + phonetic name matching at production scale. Same engine, new corpus.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5968" y="2743200"/>
            <a:ext cx="3605784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00288" y="3017520"/>
            <a:ext cx="30571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F4F9E"/>
                </a:solidFill>
                <a:latin typeface="Open San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0288" y="4069080"/>
            <a:ext cx="3057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The data warehouse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0288" y="4617720"/>
            <a:ext cx="30571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Snowflake is paid for, secured, audited. Adding myReclaim is a new schema — not new infrastructure.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55080"/>
            <a:ext cx="11247120" cy="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64748B"/>
                </a:solidFill>
                <a:latin typeface="Open Sans"/>
              </a:rPr>
              <a:t>Translation: every other player in this space has to build at least one of these from scratch. We don't.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HOW WE GET THE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There's no MissingMoney API. We go state by state.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Open Sans"/>
              </a:rPr>
              <a:t>21 states ranked by data accessibility, member coverage, and legal posture. Four tiers, one playbook.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060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6040"/>
            <a:ext cx="164592" cy="8229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77063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Public bulk — ingest 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7440" y="28986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7440" y="29352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59669"/>
                </a:solidFill>
                <a:latin typeface="Open Sans"/>
              </a:rPr>
              <a:t>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32461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California publishes a full CSV on sco.ca.gov, refreshed weekly.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204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520440"/>
            <a:ext cx="164592" cy="822960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368503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0233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Permission required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74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4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TX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NY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GA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49039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OH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062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MI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7440" y="4160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Formal request to the state treasurer / department, plus ToS for caching and redisplay.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348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434840"/>
            <a:ext cx="164592" cy="8229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4599431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4937759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Deep-link only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3774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774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IL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346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346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PA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18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918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NJ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49039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49039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SC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062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062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634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634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LA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1206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206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VA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5778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778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AZ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350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MD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4922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922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TN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9494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494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MS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4066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066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MO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638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638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77440" y="5074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bulk. Surface in the UI, deep-link to the state's claim portal.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53492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7200" y="5349240"/>
            <a:ext cx="164592" cy="82296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77240" y="5513831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BLOCKED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7240" y="5852159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Don't ingest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377440" y="56418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77440" y="56784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11D48"/>
                </a:solidFill>
                <a:latin typeface="Open Sans"/>
              </a:rPr>
              <a:t>FL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34640" y="56418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834640" y="56784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11D48"/>
                </a:solidFill>
                <a:latin typeface="Open Sans"/>
              </a:rPr>
              <a:t>WA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77440" y="5989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FL portal explicitly forbids automation. WA prohibits commercial redistribution by statute.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state portals to the SmartCredit dashboard.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77440"/>
            <a:ext cx="260604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377440"/>
            <a:ext cx="26060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6700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97480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Open Sans"/>
              </a:rPr>
              <a:t>State data
sources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66160"/>
            <a:ext cx="2240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•  CA bulk CSV
•  TX requested file
•  NY SFTP quarterly
•  GA registered file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08960" y="3657600"/>
            <a:ext cx="228599" cy="45720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83280" y="2377440"/>
            <a:ext cx="260604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83280" y="2377440"/>
            <a:ext cx="2606040" cy="16459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0440" y="26700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2697480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Open Sans"/>
              </a:rPr>
              <a:t>S3 landing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566160"/>
            <a:ext cx="2240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•  Versioned by date
•  ETag-aware fetch
•  Schema-change quarantine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035040" y="3657600"/>
            <a:ext cx="228599" cy="45720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09360" y="2377440"/>
            <a:ext cx="260604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2377440"/>
            <a:ext cx="2606040" cy="164592"/>
          </a:xfrm>
          <a:prstGeom prst="rect">
            <a:avLst/>
          </a:prstGeom>
          <a:solidFill>
            <a:srgbClr val="1F4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46520" y="26700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1F4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697480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Open Sans"/>
              </a:rPr>
              <a:t>Snowflake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3566160"/>
            <a:ext cx="2240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•  Snowpipe auto-ingest
•  NAUPA III canonical schema
•  dbt models · row lineage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961120" y="3657600"/>
            <a:ext cx="228599" cy="45720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35440" y="2377440"/>
            <a:ext cx="260604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35440" y="2377440"/>
            <a:ext cx="26060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372600" y="26700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2697480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4040" y="3566160"/>
            <a:ext cx="2240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•  Member identity → match
•  Results card list
•  State claim deep-link
•  Notification engine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69280"/>
            <a:ext cx="1124712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Why Snowflake?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We already operate it. Adding myReclaim is a schema, not new infrastructure. Encryption, audit, dbt are already there.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REUSING WHAT WE ALREADY 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Our Privacy Master engine becomes the heart of myReclaim.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6888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788920"/>
            <a:ext cx="4754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Open Sans"/>
              </a:rPr>
              <a:t>TODAY · Privacy Master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2336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02336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348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43484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Fuzzy + phonetic name 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463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484632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Data-broker exposure database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25780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"X brokers expose your info — Remove"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715000" y="393192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23559" y="45262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46888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4688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4754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246120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Find unclaimed money for the member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02336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402336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4348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443484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Same Privacy Master matcher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8463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484632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257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Output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525780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"You may have $X waiting — Claim"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4748B"/>
                </a:solidFill>
                <a:latin typeface="Open Sans"/>
              </a:rPr>
              <a:t>The only new thing is the corpus. The plumbing is already in production.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First state live in ~6 weeks.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40280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164592" cy="58521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31343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Sprint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5328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California foundation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CA ingest · Snowflake schema · matcher integration · alert UX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16936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916936"/>
            <a:ext cx="164592" cy="58521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990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Sprint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209544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Permission outreach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309981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Texas data request · NY SFTP request · FL partnership conversations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593592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593592"/>
            <a:ext cx="164592" cy="58521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66674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Sprint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886200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Texas + New York live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377647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NY SFTP ingest (quarterly) · TX file ingest if approved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70248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270248"/>
            <a:ext cx="164592" cy="58521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34340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Sprint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562856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Georgia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44531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CDR registration · background checks · legal approval · ingest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46904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46904"/>
            <a:ext cx="164592" cy="58521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00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E11D48"/>
                </a:solidFill>
                <a:latin typeface="Open Sans"/>
              </a:rPr>
              <a:t>Sprint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239512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Florida path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5129784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Partnership with registered claimant rep, OR written permission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623560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623560"/>
            <a:ext cx="164592" cy="58521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69671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Ongoing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1616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Search-only handoff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54680" y="58064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IL · PA · NJ · SC · AL · LA · VA · AZ · MD · TN · MS · NC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POSTURE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Free + deep-link = no new regulatory exposure.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77440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377440"/>
            <a:ext cx="146304" cy="1417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54203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78608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FCRA-safe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175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Unclaimed-property search isn't a credit-reporting activity.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2377440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2377440"/>
            <a:ext cx="146304" cy="1417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254203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578608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No finder license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0175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We don't take a fee on claims, so the 30-state finder regime doesn't apply.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377440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2377440"/>
            <a:ext cx="146304" cy="1417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54203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60" y="2578608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No new PII surface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30175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Reuses identity records members already consented to.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977639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977639"/>
            <a:ext cx="146304" cy="1417320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142231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B352"/>
                </a:solidFill>
                <a:latin typeface="Open San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178807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State data ToS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6177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Restricted states are gated behind registration or skipped entirely.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51960" y="3977639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51960" y="3977639"/>
            <a:ext cx="146304" cy="1417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26280" y="4142231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4178807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State files claims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6177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Member is deep-linked to the state portal. We never hold claim funds.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20" y="3977639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46720" y="3977639"/>
            <a:ext cx="146304" cy="141732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4142231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863C5"/>
                </a:solidFill>
                <a:latin typeface="Open Sans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4178807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Legal sign-off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3960" y="46177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Every state ingestion has a legal review gate before going live.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10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WHAT'S ALREADY 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Working prototype. Real California data. Running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6888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78892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2863C5"/>
                </a:solidFill>
                <a:latin typeface="Open Sans"/>
              </a:rPr>
              <a:t>38M+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57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records indexed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246888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246888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278892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C4C0B"/>
                </a:solidFill>
                <a:latin typeface="Open Sans"/>
              </a:rPr>
              <a:t>$11B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657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in unclaimed property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46888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468880"/>
            <a:ext cx="2697480" cy="137160"/>
          </a:xfrm>
          <a:prstGeom prst="rect">
            <a:avLst/>
          </a:prstGeom>
          <a:solidFill>
            <a:srgbClr val="1F4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78892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F4F9E"/>
                </a:solidFill>
                <a:latin typeface="Open Sans"/>
              </a:rPr>
              <a:t>113s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657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to bulk-load 34M rows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246888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280" y="2468880"/>
            <a:ext cx="2697480" cy="137160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278892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B352"/>
                </a:solidFill>
                <a:latin typeface="Open San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3657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of Ahmed's records found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WHAT'S RUNNING TODAY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✓  Web app — SmartCredit-themed search UI with the new BETA visual language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9560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✓  Data — California State Controller bulk CSVs in DuckDB (Snowflake-shaped SQL)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24865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✓  Match service — pluggable Protocol; production swaps in Privacy Master matcher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54126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✓  Admin page — real ingestion stats, file load history, row counts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989320"/>
            <a:ext cx="11247120" cy="45720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Demo available now — ask any question, we'll search live.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11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Approve the program. Staff it. Ship.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6888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CDDFF"/>
                </a:solidFill>
                <a:latin typeface="Open Sans"/>
              </a:rPr>
              <a:t>RESOURCE REQUEST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0040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Open Sans"/>
              </a:rPr>
              <a:t>1 data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Open Sans"/>
              </a:rPr>
              <a:t>1 product engineer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Open Sans"/>
              </a:rPr>
              <a:t>~6 weeks to first state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749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Open Sans"/>
              </a:rPr>
              <a:t>~6 months to top-10 state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864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CDDFF"/>
                </a:solidFill>
                <a:latin typeface="Open Sans"/>
              </a:rPr>
              <a:t>No new infrastructure — Snowflake already paid for.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4688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 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2926080"/>
            <a:ext cx="530352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2926080"/>
            <a:ext cx="146304" cy="71323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2999232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 first-of-its-kind feature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31012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No credit-monitoring competitor offers this.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3730752"/>
            <a:ext cx="530352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3730752"/>
            <a:ext cx="146304" cy="71323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3803904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Retention lift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114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Every found-money notification is a "wow" from us.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4535424"/>
            <a:ext cx="530352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4535424"/>
            <a:ext cx="146304" cy="71323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4608576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Acquisition hook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91947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"You may have unclaimed money. Free to find out."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5340096"/>
            <a:ext cx="530352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5340096"/>
            <a:ext cx="146304" cy="71323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5120" y="5413248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Defensible moat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572414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12+ months of state work others would have to repeat.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263640"/>
            <a:ext cx="11247120" cy="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C4C0B"/>
                </a:solidFill>
                <a:latin typeface="Open Sans"/>
              </a:rPr>
              <a:t>myReclaim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0" b="1">
                <a:solidFill>
                  <a:srgbClr val="FFFFFF"/>
                </a:solidFill>
                <a:latin typeface="Open Sans"/>
              </a:rPr>
              <a:t>Let's go find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CCDDFF"/>
                </a:solidFill>
                <a:latin typeface="Open Sans"/>
              </a:rPr>
              <a:t>Questions?  ·  Live demo?  ·  Sprint 1 starts Monday?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CDDFF"/>
                </a:solidFill>
                <a:latin typeface="Open Sans"/>
              </a:rPr>
              <a:t>Ahmed Yassine  ·  ahmed@consumerdirect.com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