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Open Sans"/>
              </a:rPr>
              <a:t>estimated in unclaimed property nationwide. Some of it is reported in our members' names.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~33M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people may have property waiting to be claimed (NAUPA)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$2,080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claim paid through MissingMoney.com (median $100, FY2024)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Unique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combination of verified-identity matching + alerts + free claim guidance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"Possible match found. The state may be holding property in your name."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possible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type, amount range — laid out as cards. The state determines eligibility.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help them file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Prepare claim packet · route to official state portal · track status.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POSSIBLE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Reported by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$100 – $499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Matched on name + prior city / address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Continue to official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49224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Open Sans"/>
              </a:rPr>
              <a:t>The state determines eligibility. Official state claims are free. SmartCredit does not guarantee approval.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customer states cover ~70% of the SmartCredit base. Four of the top five (FL, TX, GA, NY) need a state agreement before we can ingest at scale.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65,400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MANUAL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Registered FL rep path (atty/CPA/PI, Ch. 717). No cacheable bulk dataset confirmed.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61,414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Request-based dataset; enable only after written caching/redisplay approval.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419856"/>
            <a:ext cx="109728" cy="3291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44,222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updated Thursdays — prototype loaded 81M rows 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29,566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+ background checks → weekly delimited file (&gt;1 GB)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22,137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quarterly. Excludes amounts and tax IDs.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16,242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 Assisted e-file via iCash.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14,404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clean bulk feed confirmed; annual public PDFs exist.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12,290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11,856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10,534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14476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Top-10 states = 288,065 customers (~70% of base, pending base-size confirmation).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640080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CA is the only top-10 state with a confirmed public bulk feed. Sprint 2 begins TX + NY data requests and GA CDR registration; bulk availability depends on state approval, terms, and legal sign-off.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LIVE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We matched 30,862 active CA customers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Method: exact name match (FIRST LAST or LAST FIRST) — same matching logic the prototype uses, run via the indexed equality path. The state determines actual eligibility per record.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21,864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customers with at least one possible match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70.8%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the 30,862 active CA base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4.4M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matched property records across all tiers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$324M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Number of records each customer's name returned. Fewer records = more distinctive name = more likely match.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82896"/>
            <a:ext cx="868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Records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8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882896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$/customer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4882896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Confidence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138927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1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3,266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$239K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513892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0" y="5138927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440679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2–5 records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5,788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4028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$1.21M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3240" y="544067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$209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3360" y="5440679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742431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6–20 records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4,393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4028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$3.50M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63240" y="5742431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$797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5742431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Mixed — review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6044183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20+ records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732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8,417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4028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$319M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63240" y="6044183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$37,898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3360" y="6044183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Common-name collisions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MATCHES BY TIER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Tier 04 ($500+) carries 53% of the value despite 2% of records.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6364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Tier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95160" y="4882896"/>
            <a:ext cx="11887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Range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0" y="4882896"/>
            <a:ext cx="9601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89720" y="4882896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Records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41280" y="488289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value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1792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6364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Tier 01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95160" y="5138927"/>
            <a:ext cx="1188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$0–$9.99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0" y="5138927"/>
            <a:ext cx="960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19,476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89720" y="5138927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2.28M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41280" y="5138927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$5.8M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1792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6364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Tier 02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95160" y="5440679"/>
            <a:ext cx="1188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$10–$99.99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229600" y="5440679"/>
            <a:ext cx="960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17,927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89720" y="5440679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1.62M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241280" y="5440679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$57.9M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21792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6364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Tier 03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95160" y="5742431"/>
            <a:ext cx="1188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$100–$499.99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0" y="5742431"/>
            <a:ext cx="960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12,384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89720" y="5742431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425,201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241280" y="5742431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$87.5M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21792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26364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Tier 04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95160" y="6044183"/>
            <a:ext cx="1188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$500+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0" y="6044183"/>
            <a:ext cx="960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7,569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189720" y="6044183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97,787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241280" y="6044183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$173.1M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Even discounting common-name false positives, ~9,000 customers in the high-confidence bucket map to ~$1.5M of unclaimed property in CA alone.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support online claim initiation, but some claims still require document upload, notarization, mailed forms, or manual review. v1 is assisted e-file. Mail packets via our ActionLetters service when states require physical paperwork. Filing on the member's behalf is a state-by-state regulatory unlock —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We prep the packet · user submits via state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Claim ID + status entered by member or updated manually until state APIs exist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Ships Sprint 1 · every state with online filing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60" y="260604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ActionLetters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Member; we generate the packet + mailing instructions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If ActionLetters mails directly, legal must confirm it isn't representative filing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States requiring notarized physical paperwork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Available now · same rail as credit-dispute mailers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260604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(CDR) · FL (Ch. 717) · OH (Finder) · MI (locator)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Fee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caps reps at 30% · we charge 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Sprint 4+ once first state approves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Members never pay. We never take a cut. Free reduces finder-fee risk — but representative filing still requires state-by-state approval, registration, and legal sign-off.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Free for members. State-approved where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Verified-identity matching, member consent, official state filing channels — and a clear list of things we will not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864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Open Sans"/>
              </a:rPr>
              <a:t>WHAT WE WILL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01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Use official state files or state-approved data access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587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Get explicit member consent before matching and claim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3159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Route members to official state claim portals for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731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Track claim ID + status inside SmartCredit (manual entry)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30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File on members' behalf only where registered or 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87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Source-by-source data-use permissions; legal review per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2606040"/>
            <a:ext cx="5486400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11D48"/>
                </a:solidFill>
                <a:latin typeface="Open Sans"/>
              </a:rPr>
              <a:t>WHAT WE WILL NOT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401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Scrape state portals or MissingMoney.com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8587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Guarantee a claim belongs to the 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3159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Charge a success fee or take a cut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7731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Submit claims without fresh user authorization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303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Re-use credit-report-derived data without legal sign-off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687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Store sensitive claim documents unless required and approved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44652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Every state ingestion has a legal review gate. Every claim has a fresh consent. Every data source has documented terms.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9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76272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66544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340864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2212848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70048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70048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72491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999232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2871216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28415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28415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93008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383279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657599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Connect SmartCredit's existing identity matcher. Alert only on high-confidence matches (name + address/city/state). Suppress name-only matches.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35295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86783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86783"/>
            <a:ext cx="164592" cy="60350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151375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0416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+ ActionLetters fallback shipped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315968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confirms a match. We prep packet → official state portal. Mail packet enabled only where legal approves the workflow.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4187951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645151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645151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809743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4700015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974336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Request written permission for caching, matching, redisplay, retention, commercial use. File GA CDR; open TX, NY,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55480" y="4846319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03519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03519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468111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5358383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 to top-5 states (as approved)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8760" y="5632703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TX + NY added pending data-request approval; GA pending CDR registration + legal sign-off. Member-driven submit via state portals.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55480" y="55046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961887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961887"/>
            <a:ext cx="164592" cy="603503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126479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6016751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6291071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First approved representative workflow. Show "we filed for you" only in states where SmartCredit (or partner) is authorized.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55480" y="6163055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·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647688"/>
            <a:ext cx="11247120" cy="1828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675120"/>
            <a:ext cx="10972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